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89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3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6" autoAdjust="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77" y="21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815353-5E7F-4C1B-88B6-CA6528D20494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DDA54-0DEF-4F39-B38D-BB2E4B5B7A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147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F71D1-8B45-4424-9AB1-AE7B22B1B76B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C4950-CC70-4455-B575-8CBD0C8F84AF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727721" y="6356349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B4244-C99C-4259-A842-D0A23076D82A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997DA-80DE-4A37-8B73-E1FEEC7BFD78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6DD5F-71D2-4DC8-9414-FCB753AE335A}" type="datetime1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6B8B-A953-4E78-B369-0C7BD1B98C01}" type="datetime1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B7570-0E9D-45FF-A9C2-4494A66763DE}" type="datetime1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652958" y="6356349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6481A-414C-4842-B32F-75A8C6868F30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DC546-54D5-4258-B1B0-5299DB9F0806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EC723-2C17-4BFA-913D-CAAC70914B3E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D887A-A898-423D-A81C-ACB5C164C4A9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7E404-4AC7-457C-8FEF-47FE97DB61D4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8732520" y="731520"/>
            <a:ext cx="2148840" cy="2148840"/>
          </a:xfrm>
          <a:prstGeom prst="ellipse">
            <a:avLst/>
          </a:prstGeom>
          <a:solidFill>
            <a:srgbClr val="2F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75520" y="2011680"/>
            <a:ext cx="1508760" cy="1508760"/>
          </a:xfrm>
          <a:prstGeom prst="ellipse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183879" y="2971800"/>
            <a:ext cx="1005840" cy="1005840"/>
          </a:xfrm>
          <a:prstGeom prst="ellipse">
            <a:avLst/>
          </a:prstGeom>
          <a:solidFill>
            <a:srgbClr val="D3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70408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9ED3CF"/>
                </a:solidFill>
                <a:latin typeface="Aptos"/>
              </a:rPr>
              <a:t>WINTRUST AI CAPABILITY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7132320" cy="10972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MC-IV: GenAI in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676656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200" b="0" dirty="0">
                <a:solidFill>
                  <a:srgbClr val="E0E9F1"/>
                </a:solidFill>
                <a:latin typeface="Aptos"/>
              </a:rPr>
              <a:t>Introduction to agentic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685800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Aptos"/>
              </a:rPr>
              <a:t>Common Masterclass  |  Data + Enterprise 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6858000" cy="27084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0" dirty="0">
                <a:solidFill>
                  <a:srgbClr val="BECDDB"/>
                </a:solidFill>
                <a:latin typeface="Aptos"/>
              </a:rPr>
              <a:t>•  Copilot Chat </a:t>
            </a:r>
            <a:r>
              <a:rPr lang="en-IN" sz="1400" dirty="0">
                <a:solidFill>
                  <a:srgbClr val="BECDDB"/>
                </a:solidFill>
                <a:latin typeface="Aptos"/>
              </a:rPr>
              <a:t>• GitHub Copilot </a:t>
            </a:r>
            <a:r>
              <a:rPr sz="1400" b="0" dirty="0">
                <a:solidFill>
                  <a:srgbClr val="BECDDB"/>
                </a:solidFill>
                <a:latin typeface="Aptos"/>
              </a:rPr>
              <a:t>•  No agents created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73152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900" b="1">
                <a:solidFill>
                  <a:srgbClr val="9ED3CF"/>
                </a:solidFill>
                <a:latin typeface="Aptos"/>
              </a:rPr>
              <a:t>TRAINING SIMULATION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AF0384-8F93-C904-9783-9937028E756E}"/>
              </a:ext>
            </a:extLst>
          </p:cNvPr>
          <p:cNvSpPr txBox="1"/>
          <p:nvPr/>
        </p:nvSpPr>
        <p:spPr>
          <a:xfrm>
            <a:off x="777240" y="3456432"/>
            <a:ext cx="61401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6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AI-assisted </a:t>
            </a:r>
            <a:r>
              <a:rPr lang="en-IN" sz="1600" dirty="0">
                <a:solidFill>
                  <a:schemeClr val="bg1"/>
                </a:solidFill>
                <a:latin typeface="Aptos" panose="020B0004020202020204" pitchFamily="34" charset="0"/>
              </a:rPr>
              <a:t>tasks</a:t>
            </a:r>
            <a:r>
              <a:rPr lang="en-IN" sz="16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 controlled, goal-directed workflows</a:t>
            </a:r>
            <a:r>
              <a:rPr lang="en-IN" sz="1600" dirty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IN" sz="105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33CBC0C-7B74-9991-0BFF-AF2AC3D38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33239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en-IN" b="1" dirty="0"/>
              <a:t>Why agentic AI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A masterclass in architecture decisions, not agent construction.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15600" cy="3684085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Traditional GenAI often responds to a prompt.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Agentic systems can use a goal to determine and coordinate a sequence of steps.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Aptos" panose="020B00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A chatbot answers a question.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Aptos" panose="020B00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A workflow executes predefined steps.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Aptos" panose="020B00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An agentic system can select or adapt steps based on context, observations, and intermediate results.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Aptos" panose="020B00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Greater autonomy introduces additional control requirements.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Aptos" panose="020B00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More autonomy is not automatically more intelligence or more business value.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56A06C-6471-9841-AA8F-9DF568307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Three operating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A solution can combine all three; an LLM call alone does not make a system agentic.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3520440" cy="342900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64008" cy="342900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847088"/>
            <a:ext cx="324612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1. GenAI assistance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249424"/>
            <a:ext cx="3246120" cy="28254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42E38"/>
                </a:solidFill>
                <a:latin typeface="Aptos"/>
              </a:rPr>
              <a:t>Prompt → response → human decides</a:t>
            </a:r>
            <a:br/>
            <a:br/>
            <a:r>
              <a:rPr sz="1200" b="0">
                <a:solidFill>
                  <a:srgbClr val="242E38"/>
                </a:solidFill>
                <a:latin typeface="Aptos"/>
              </a:rPr>
              <a:t>Example: summarize an incident and list plausible causes.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37360"/>
            <a:ext cx="3520440" cy="342900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737360"/>
            <a:ext cx="64008" cy="3429000"/>
          </a:xfrm>
          <a:prstGeom prst="rect">
            <a:avLst/>
          </a:prstGeom>
          <a:solidFill>
            <a:srgbClr val="2F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847088"/>
            <a:ext cx="324612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2. Deterministic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249424"/>
            <a:ext cx="3246120" cy="28254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42E38"/>
                </a:solidFill>
                <a:latin typeface="Aptos"/>
              </a:rPr>
              <a:t>Predefined rules → predefined steps → recorded result</a:t>
            </a:r>
            <a:br/>
            <a:br/>
            <a:r>
              <a:rPr sz="1200" b="0">
                <a:solidFill>
                  <a:srgbClr val="242E38"/>
                </a:solidFill>
                <a:latin typeface="Aptos"/>
              </a:rPr>
              <a:t>Example: escalate a ticket when an approved SLA rule is met.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737360"/>
            <a:ext cx="3520440" cy="342900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737360"/>
            <a:ext cx="64008" cy="3429000"/>
          </a:xfrm>
          <a:prstGeom prst="rect">
            <a:avLst/>
          </a:prstGeom>
          <a:solidFill>
            <a:srgbClr val="D3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5592" y="1847088"/>
            <a:ext cx="324612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3. Agentic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2249424"/>
            <a:ext cx="3246120" cy="28254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42E38"/>
                </a:solidFill>
                <a:latin typeface="Aptos"/>
              </a:rPr>
              <a:t>Goal → observe → choose next step → use tools → evaluate</a:t>
            </a:r>
            <a:br/>
            <a:br/>
            <a:r>
              <a:rPr sz="1200" b="0">
                <a:solidFill>
                  <a:srgbClr val="242E38"/>
                </a:solidFill>
                <a:latin typeface="Aptos"/>
              </a:rPr>
              <a:t>Example: select a permitted diagnostic based on prior findings.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72E90FD-B214-4876-DE32-5652857CD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What makes a system agentic?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Use these characteristics as an evaluation framework, not a rigid checklist.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1572768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64008" cy="1572768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32004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500" b="1">
                <a:solidFill>
                  <a:srgbClr val="192E4B"/>
                </a:solidFill>
                <a:latin typeface="Aptos"/>
              </a:rPr>
              <a:t>Goal-directed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57984"/>
            <a:ext cx="3200400" cy="9692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42E38"/>
                </a:solidFill>
                <a:latin typeface="Aptos"/>
              </a:rPr>
              <a:t>Works toward a defined outcome.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645920"/>
            <a:ext cx="3474720" cy="1572768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1645920"/>
            <a:ext cx="64008" cy="1572768"/>
          </a:xfrm>
          <a:prstGeom prst="rect">
            <a:avLst/>
          </a:prstGeom>
          <a:solidFill>
            <a:srgbClr val="2F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90872" y="1755648"/>
            <a:ext cx="32004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500" b="1">
                <a:solidFill>
                  <a:srgbClr val="192E4B"/>
                </a:solidFill>
                <a:latin typeface="Aptos"/>
              </a:rPr>
              <a:t>State-aware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157984"/>
            <a:ext cx="3200400" cy="9692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42E38"/>
                </a:solidFill>
                <a:latin typeface="Aptos"/>
              </a:rPr>
              <a:t>Maintains context and intermediate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645920"/>
            <a:ext cx="3474720" cy="1572768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1645920"/>
            <a:ext cx="64008" cy="1572768"/>
          </a:xfrm>
          <a:prstGeom prst="rect">
            <a:avLst/>
          </a:prstGeom>
          <a:solidFill>
            <a:srgbClr val="D3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85632" y="1755648"/>
            <a:ext cx="32004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500" b="1">
                <a:solidFill>
                  <a:srgbClr val="192E4B"/>
                </a:solidFill>
                <a:latin typeface="Aptos"/>
              </a:rPr>
              <a:t>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157984"/>
            <a:ext cx="3200400" cy="9692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42E38"/>
                </a:solidFill>
                <a:latin typeface="Aptos"/>
              </a:rPr>
              <a:t>Selects or revises a sequence of 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11880"/>
            <a:ext cx="3474720" cy="1572768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611880"/>
            <a:ext cx="64008" cy="1572768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721608"/>
            <a:ext cx="32004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500" b="1">
                <a:solidFill>
                  <a:srgbClr val="192E4B"/>
                </a:solidFill>
                <a:latin typeface="Aptos"/>
              </a:rPr>
              <a:t>Tool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123944"/>
            <a:ext cx="3200400" cy="9692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42E38"/>
                </a:solidFill>
                <a:latin typeface="Aptos"/>
              </a:rPr>
              <a:t>Invokes permitted capabilities.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611880"/>
            <a:ext cx="3474720" cy="1572768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26280" y="3611880"/>
            <a:ext cx="64008" cy="1572768"/>
          </a:xfrm>
          <a:prstGeom prst="rect">
            <a:avLst/>
          </a:prstGeom>
          <a:solidFill>
            <a:srgbClr val="2F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90872" y="3721608"/>
            <a:ext cx="32004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500" b="1">
                <a:solidFill>
                  <a:srgbClr val="192E4B"/>
                </a:solidFill>
                <a:latin typeface="Aptos"/>
              </a:rPr>
              <a:t>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4123944"/>
            <a:ext cx="3200400" cy="9692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42E38"/>
                </a:solidFill>
                <a:latin typeface="Aptos"/>
              </a:rPr>
              <a:t>Evaluates results and chooses what next.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611880"/>
            <a:ext cx="3474720" cy="1572768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321040" y="3611880"/>
            <a:ext cx="64008" cy="1572768"/>
          </a:xfrm>
          <a:prstGeom prst="rect">
            <a:avLst/>
          </a:prstGeom>
          <a:solidFill>
            <a:srgbClr val="B1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85632" y="3721608"/>
            <a:ext cx="32004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500" b="1">
                <a:solidFill>
                  <a:srgbClr val="192E4B"/>
                </a:solidFill>
                <a:latin typeface="Aptos"/>
              </a:rPr>
              <a:t>Bounded autonomy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4123944"/>
            <a:ext cx="3200400" cy="9692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42E38"/>
                </a:solidFill>
                <a:latin typeface="Aptos"/>
              </a:rPr>
              <a:t>Operates within permissions and stop rules.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945FCAF4-B251-6BAB-C12A-F538615C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The agentic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Continue, stop, ask for approval, or report completion based on results and limits.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2057400" cy="150876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240280"/>
            <a:ext cx="64008" cy="150876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2350008"/>
            <a:ext cx="178308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1">
                <a:solidFill>
                  <a:srgbClr val="192E4B"/>
                </a:solidFill>
                <a:latin typeface="Aptos"/>
              </a:rPr>
              <a:t>1. Goal and</a:t>
            </a:r>
            <a:br/>
            <a:r>
              <a:rPr sz="1400" b="1">
                <a:solidFill>
                  <a:srgbClr val="192E4B"/>
                </a:solidFill>
                <a:latin typeface="Aptos"/>
              </a:rPr>
              <a:t>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743200"/>
            <a:ext cx="256032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100" b="1">
                <a:solidFill>
                  <a:srgbClr val="1B8482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2928" y="2240280"/>
            <a:ext cx="2057400" cy="150876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52928" y="2240280"/>
            <a:ext cx="64008" cy="1508760"/>
          </a:xfrm>
          <a:prstGeom prst="rect">
            <a:avLst/>
          </a:prstGeom>
          <a:solidFill>
            <a:srgbClr val="2F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17520" y="2350008"/>
            <a:ext cx="178308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1">
                <a:solidFill>
                  <a:srgbClr val="192E4B"/>
                </a:solidFill>
                <a:latin typeface="Aptos"/>
              </a:rPr>
              <a:t>2. Observe current</a:t>
            </a:r>
            <a:br/>
            <a:r>
              <a:rPr sz="1400" b="1">
                <a:solidFill>
                  <a:srgbClr val="192E4B"/>
                </a:solidFill>
                <a:latin typeface="Aptos"/>
              </a:rP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7" y="2743200"/>
            <a:ext cx="256032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100" b="1">
                <a:solidFill>
                  <a:srgbClr val="1B8482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2936" y="2240280"/>
            <a:ext cx="2057400" cy="150876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202936" y="2240280"/>
            <a:ext cx="64008" cy="1508760"/>
          </a:xfrm>
          <a:prstGeom prst="rect">
            <a:avLst/>
          </a:prstGeom>
          <a:solidFill>
            <a:srgbClr val="2F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67527" y="2350008"/>
            <a:ext cx="178308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1">
                <a:solidFill>
                  <a:srgbClr val="192E4B"/>
                </a:solidFill>
                <a:latin typeface="Aptos"/>
              </a:rPr>
              <a:t>3. Choose next</a:t>
            </a:r>
            <a:br/>
            <a:r>
              <a:rPr sz="1400" b="1">
                <a:solidFill>
                  <a:srgbClr val="192E4B"/>
                </a:solidFill>
                <a:latin typeface="Aptos"/>
              </a:rPr>
              <a:t>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0336" y="2743200"/>
            <a:ext cx="256032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100" b="1">
                <a:solidFill>
                  <a:srgbClr val="1B8482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52944" y="2240280"/>
            <a:ext cx="2057400" cy="150876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552944" y="2240280"/>
            <a:ext cx="64008" cy="1508760"/>
          </a:xfrm>
          <a:prstGeom prst="rect">
            <a:avLst/>
          </a:prstGeom>
          <a:solidFill>
            <a:srgbClr val="2F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17536" y="2350008"/>
            <a:ext cx="178308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1">
                <a:solidFill>
                  <a:srgbClr val="192E4B"/>
                </a:solidFill>
                <a:latin typeface="Aptos"/>
              </a:rPr>
              <a:t>4. Use approved tool</a:t>
            </a:r>
            <a:br/>
            <a:r>
              <a:rPr sz="1400" b="1">
                <a:solidFill>
                  <a:srgbClr val="192E4B"/>
                </a:solidFill>
                <a:latin typeface="Aptos"/>
              </a:rPr>
              <a:t>or request 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0343" y="2743200"/>
            <a:ext cx="256032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100" b="1">
                <a:solidFill>
                  <a:srgbClr val="1B8482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02952" y="2240280"/>
            <a:ext cx="2057400" cy="150876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902952" y="2240280"/>
            <a:ext cx="64008" cy="150876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67544" y="2350008"/>
            <a:ext cx="178308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1">
                <a:solidFill>
                  <a:srgbClr val="192E4B"/>
                </a:solidFill>
                <a:latin typeface="Aptos"/>
              </a:rPr>
              <a:t>5. Evaluate the</a:t>
            </a:r>
            <a:br/>
            <a:r>
              <a:rPr sz="1400" b="1">
                <a:solidFill>
                  <a:srgbClr val="192E4B"/>
                </a:solidFill>
                <a:latin typeface="Aptos"/>
              </a:rPr>
              <a:t>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700" b="1">
                <a:solidFill>
                  <a:srgbClr val="192E4B"/>
                </a:solidFill>
                <a:latin typeface="Aptos"/>
              </a:rPr>
              <a:t>Stop when the goal is met, evidence is insufficient, a limit is reached, or human judgment is required.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77D1C303-42D1-02CE-DEB6-377AD0A5C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Core agentic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Patterns describe control and coordination; the label alone does not guarantee autonomy.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57800" cy="114300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64008" cy="114300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09928"/>
            <a:ext cx="498348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500" b="1">
                <a:solidFill>
                  <a:srgbClr val="192E4B"/>
                </a:solidFill>
                <a:latin typeface="Aptos"/>
              </a:rPr>
              <a:t>Tool-using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12264"/>
            <a:ext cx="4983480" cy="5394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>
                <a:solidFill>
                  <a:srgbClr val="242E38"/>
                </a:solidFill>
                <a:latin typeface="Aptos"/>
              </a:rPr>
              <a:t>Selects from permitted tools to retrieve information or perform a task.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00200"/>
            <a:ext cx="5257800" cy="114300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1600200"/>
            <a:ext cx="64008" cy="1143000"/>
          </a:xfrm>
          <a:prstGeom prst="rect">
            <a:avLst/>
          </a:prstGeom>
          <a:solidFill>
            <a:srgbClr val="2F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1709928"/>
            <a:ext cx="498348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500" b="1">
                <a:solidFill>
                  <a:srgbClr val="192E4B"/>
                </a:solidFill>
                <a:latin typeface="Aptos"/>
              </a:rPr>
              <a:t>Planner-executor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112264"/>
            <a:ext cx="4983480" cy="5394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>
                <a:solidFill>
                  <a:srgbClr val="242E38"/>
                </a:solidFill>
                <a:latin typeface="Aptos"/>
              </a:rPr>
              <a:t>Plans steps, carries them out, and checks intermediate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90088"/>
            <a:ext cx="5257800" cy="114300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2990088"/>
            <a:ext cx="64008" cy="114300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099816"/>
            <a:ext cx="498348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500" b="1">
                <a:solidFill>
                  <a:srgbClr val="192E4B"/>
                </a:solidFill>
                <a:latin typeface="Aptos"/>
              </a:rPr>
              <a:t>Router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502152"/>
            <a:ext cx="4983480" cy="5394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>
                <a:solidFill>
                  <a:srgbClr val="242E38"/>
                </a:solidFill>
                <a:latin typeface="Aptos"/>
              </a:rPr>
              <a:t>Directs a request to an appropriate workflow, specialist, or tool.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990088"/>
            <a:ext cx="5257800" cy="114300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2990088"/>
            <a:ext cx="64008" cy="1143000"/>
          </a:xfrm>
          <a:prstGeom prst="rect">
            <a:avLst/>
          </a:prstGeom>
          <a:solidFill>
            <a:srgbClr val="2F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9672" y="3099816"/>
            <a:ext cx="498348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500" b="1">
                <a:solidFill>
                  <a:srgbClr val="192E4B"/>
                </a:solidFill>
                <a:latin typeface="Aptos"/>
              </a:rPr>
              <a:t>Manager-worker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502152"/>
            <a:ext cx="4983480" cy="5394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>
                <a:solidFill>
                  <a:srgbClr val="242E38"/>
                </a:solidFill>
                <a:latin typeface="Aptos"/>
              </a:rPr>
              <a:t>Coordinates bounded tasks delegated to specialists.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79976"/>
            <a:ext cx="5257800" cy="114300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4379976"/>
            <a:ext cx="64008" cy="114300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4489704"/>
            <a:ext cx="498348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500" b="1">
                <a:solidFill>
                  <a:srgbClr val="192E4B"/>
                </a:solidFill>
                <a:latin typeface="Aptos"/>
              </a:rPr>
              <a:t>Multi-agent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892040"/>
            <a:ext cx="4983480" cy="5394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>
                <a:solidFill>
                  <a:srgbClr val="242E38"/>
                </a:solidFill>
                <a:latin typeface="Aptos"/>
              </a:rPr>
              <a:t>Multiple components contribute different capabilities or perspectives.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4379976"/>
            <a:ext cx="5257800" cy="114300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55080" y="4379976"/>
            <a:ext cx="64008" cy="1143000"/>
          </a:xfrm>
          <a:prstGeom prst="rect">
            <a:avLst/>
          </a:prstGeom>
          <a:solidFill>
            <a:srgbClr val="2F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9672" y="4489704"/>
            <a:ext cx="498348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500" b="1">
                <a:solidFill>
                  <a:srgbClr val="192E4B"/>
                </a:solidFill>
                <a:latin typeface="Aptos"/>
              </a:rPr>
              <a:t>Human-in-the-loop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4892040"/>
            <a:ext cx="4983480" cy="5394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>
                <a:solidFill>
                  <a:srgbClr val="242E38"/>
                </a:solidFill>
                <a:latin typeface="Aptos"/>
              </a:rPr>
              <a:t>Pauses for human input, review, or authorization.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5C3B3285-1EA9-CCEC-3A8D-004A5787A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Single-agent vs multi-agent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Start with the simplest architecture that meets the business need.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5120640" cy="333756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737360"/>
            <a:ext cx="64008" cy="333756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847088"/>
            <a:ext cx="484632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Single-agent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249424"/>
            <a:ext cx="4846320" cy="273405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242E38"/>
                </a:solidFill>
                <a:latin typeface="Aptos"/>
              </a:rPr>
              <a:t>• One decision-making component</a:t>
            </a:r>
            <a:br/>
            <a:r>
              <a:rPr sz="1300" b="0">
                <a:solidFill>
                  <a:srgbClr val="242E38"/>
                </a:solidFill>
                <a:latin typeface="Aptos"/>
              </a:rPr>
              <a:t>• Uses tools and context</a:t>
            </a:r>
            <a:br/>
            <a:r>
              <a:rPr sz="1300" b="0">
                <a:solidFill>
                  <a:srgbClr val="242E38"/>
                </a:solidFill>
                <a:latin typeface="Aptos"/>
              </a:rPr>
              <a:t>• Easier to trace and govern</a:t>
            </a:r>
            <a:br/>
            <a:r>
              <a:rPr sz="1300" b="0">
                <a:solidFill>
                  <a:srgbClr val="242E38"/>
                </a:solidFill>
                <a:latin typeface="Aptos"/>
              </a:rPr>
              <a:t>• Often enough for a bounded task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120640" cy="333756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737360"/>
            <a:ext cx="64008" cy="3337560"/>
          </a:xfrm>
          <a:prstGeom prst="rect">
            <a:avLst/>
          </a:prstGeom>
          <a:solidFill>
            <a:srgbClr val="2F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1" y="1847088"/>
            <a:ext cx="484632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Multi-agent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249424"/>
            <a:ext cx="4846320" cy="273405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242E38"/>
                </a:solidFill>
                <a:latin typeface="Aptos"/>
              </a:rPr>
              <a:t>• Multiple specialised components coordinate</a:t>
            </a:r>
            <a:br/>
            <a:r>
              <a:rPr sz="1300" b="0">
                <a:solidFill>
                  <a:srgbClr val="242E38"/>
                </a:solidFill>
                <a:latin typeface="Aptos"/>
              </a:rPr>
              <a:t>• Can separate research, analysis, review, synthesis</a:t>
            </a:r>
            <a:br/>
            <a:r>
              <a:rPr sz="1300" b="0">
                <a:solidFill>
                  <a:srgbClr val="242E38"/>
                </a:solidFill>
                <a:latin typeface="Aptos"/>
              </a:rPr>
              <a:t>• Adds coordination overhead and inconsistency risks</a:t>
            </a:r>
            <a:br/>
            <a:r>
              <a:rPr sz="1300" b="0">
                <a:solidFill>
                  <a:srgbClr val="242E38"/>
                </a:solidFill>
                <a:latin typeface="Aptos"/>
              </a:rPr>
              <a:t>• Requires a larger testing surface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40680"/>
            <a:ext cx="1033272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600" b="1">
                <a:solidFill>
                  <a:srgbClr val="192E4B"/>
                </a:solidFill>
                <a:latin typeface="Aptos"/>
              </a:rPr>
              <a:t>Use multiple agents only when separation of responsibilities creates measurable value.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9A107BE-E2AC-C066-5226-6BDDB6B29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Where autonomy creates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Controls must cover the whole process, not just the initial prompt.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32720" cy="44805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42E38"/>
                </a:solidFill>
                <a:latin typeface="Aptos"/>
              </a:rPr>
              <a:t>•  Tool permissions and least privilege.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42E38"/>
                </a:solidFill>
                <a:latin typeface="Aptos"/>
              </a:rPr>
              <a:t>•  Validation of tool inputs and outputs.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42E38"/>
                </a:solidFill>
                <a:latin typeface="Aptos"/>
              </a:rPr>
              <a:t>•  Limits on iterations, cost, and execution time.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42E38"/>
                </a:solidFill>
                <a:latin typeface="Aptos"/>
              </a:rPr>
              <a:t>•  Human approval for high-impact actions.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42E38"/>
                </a:solidFill>
                <a:latin typeface="Aptos"/>
              </a:rPr>
              <a:t>•  Traceability of decisions and tool calls.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42E38"/>
                </a:solidFill>
                <a:latin typeface="Aptos"/>
              </a:rPr>
              <a:t>•  Safe handling of untrusted instructions and retrieved content.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42E38"/>
                </a:solidFill>
                <a:latin typeface="Aptos"/>
              </a:rPr>
              <a:t>•  Recovery and rollback plans for state-changing actions.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F639004-AAA0-6741-4197-5AF67782E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DEMO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 dirty="0">
                <a:solidFill>
                  <a:srgbClr val="192E4B"/>
                </a:solidFill>
                <a:latin typeface="Aptos"/>
              </a:rPr>
              <a:t>From Copilot response to agentic decision-making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Copilot Chat analyses supplied text only; no operational tools are invoked.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3474720" cy="329184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737360"/>
            <a:ext cx="64008" cy="329184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847088"/>
            <a:ext cx="32004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249424"/>
            <a:ext cx="3200400" cy="268833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242E38"/>
                </a:solidFill>
                <a:latin typeface="Aptos"/>
              </a:rPr>
              <a:t>Summarize the incident and separate facts from hypotheses.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474720" cy="329184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737360"/>
            <a:ext cx="64008" cy="3291840"/>
          </a:xfrm>
          <a:prstGeom prst="rect">
            <a:avLst/>
          </a:prstGeom>
          <a:solidFill>
            <a:srgbClr val="2F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847088"/>
            <a:ext cx="32004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249424"/>
            <a:ext cx="3200400" cy="268833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242E38"/>
                </a:solidFill>
                <a:latin typeface="Aptos"/>
              </a:rPr>
              <a:t>Recommend the next three investigative steps and explain why.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737360"/>
            <a:ext cx="3474720" cy="329184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79" y="1737360"/>
            <a:ext cx="64008" cy="3291840"/>
          </a:xfrm>
          <a:prstGeom prst="rect">
            <a:avLst/>
          </a:prstGeom>
          <a:solidFill>
            <a:srgbClr val="D3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19871" y="1847088"/>
            <a:ext cx="32004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1" y="2249424"/>
            <a:ext cx="3200400" cy="268833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242E38"/>
                </a:solidFill>
                <a:latin typeface="Aptos"/>
              </a:rPr>
              <a:t>Identify evidence, approval gates, and how next steps might adapt.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E52F99A-D3BD-2784-CDB0-CCB926768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DEMO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Complex incident: INC-5837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Fictional production scenario; root cause is unconfirmed.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66160" cy="443484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64008" cy="4434840"/>
          </a:xfrm>
          <a:prstGeom prst="rect">
            <a:avLst/>
          </a:prstGeom>
          <a:solidFill>
            <a:srgbClr val="B1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709928"/>
            <a:ext cx="329184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Business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112264"/>
            <a:ext cx="3291840" cy="383133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242E38"/>
                </a:solidFill>
                <a:latin typeface="Aptos"/>
              </a:rPr>
              <a:t>• Payment API success: 99.95% → 96.8%</a:t>
            </a:r>
            <a:br/>
            <a:r>
              <a:rPr sz="1300" b="0">
                <a:solidFill>
                  <a:srgbClr val="242E38"/>
                </a:solidFill>
                <a:latin typeface="Aptos"/>
              </a:rPr>
              <a:t>• p95 latency: 350 ms → 2.4 s</a:t>
            </a:r>
            <a:br/>
            <a:r>
              <a:rPr sz="1300" b="0">
                <a:solidFill>
                  <a:srgbClr val="242E38"/>
                </a:solidFill>
                <a:latin typeface="Aptos"/>
              </a:rPr>
              <a:t>• 1,240 requests retried</a:t>
            </a:r>
            <a:br/>
            <a:r>
              <a:rPr sz="1300" b="0">
                <a:solidFill>
                  <a:srgbClr val="242E38"/>
                </a:solidFill>
                <a:latin typeface="Aptos"/>
              </a:rPr>
              <a:t>• Duplicate charges, if any, unknown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00200"/>
            <a:ext cx="3566160" cy="443484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1600200"/>
            <a:ext cx="64008" cy="4434840"/>
          </a:xfrm>
          <a:prstGeom prst="rect">
            <a:avLst/>
          </a:prstGeom>
          <a:solidFill>
            <a:srgbClr val="2F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59" y="1709928"/>
            <a:ext cx="329184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Technical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112264"/>
            <a:ext cx="3291840" cy="383133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42E38"/>
                </a:solidFill>
                <a:latin typeface="Aptos"/>
              </a:rPr>
              <a:t>• DB CPU peaked at 94%; pool 97%</a:t>
            </a:r>
            <a:br/>
            <a:r>
              <a:rPr sz="1200" b="0">
                <a:solidFill>
                  <a:srgbClr val="242E38"/>
                </a:solidFill>
                <a:latin typeface="Aptos"/>
              </a:rPr>
              <a:t>• Queue: 800 → 12,600 messages</a:t>
            </a:r>
            <a:br/>
            <a:r>
              <a:rPr sz="1200" b="0">
                <a:solidFill>
                  <a:srgbClr val="242E38"/>
                </a:solidFill>
                <a:latin typeface="Aptos"/>
              </a:rPr>
              <a:t>• Reconciliation batch began 6 min before first alert</a:t>
            </a:r>
            <a:br/>
            <a:r>
              <a:rPr sz="1200" b="0">
                <a:solidFill>
                  <a:srgbClr val="242E38"/>
                </a:solidFill>
                <a:latin typeface="Aptos"/>
              </a:rPr>
              <a:t>• New API release deployed 18 min before alert</a:t>
            </a:r>
            <a:br/>
            <a:r>
              <a:rPr sz="1200" b="0">
                <a:solidFill>
                  <a:srgbClr val="242E38"/>
                </a:solidFill>
                <a:latin typeface="Aptos"/>
              </a:rPr>
              <a:t>• Provider timeouts: 0.2% → 4.5%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1600200"/>
            <a:ext cx="3566160" cy="443484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91856" y="1600200"/>
            <a:ext cx="64008" cy="4434840"/>
          </a:xfrm>
          <a:prstGeom prst="rect">
            <a:avLst/>
          </a:prstGeom>
          <a:solidFill>
            <a:srgbClr val="D3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6448" y="1709928"/>
            <a:ext cx="329184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Evidence gaps and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112264"/>
            <a:ext cx="3291840" cy="383133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>
                <a:solidFill>
                  <a:srgbClr val="242E38"/>
                </a:solidFill>
                <a:latin typeface="Aptos"/>
              </a:rPr>
              <a:t>• No distributed trace or query-plan analysis</a:t>
            </a:r>
            <a:br/>
            <a:r>
              <a:rPr sz="1100" b="0">
                <a:solidFill>
                  <a:srgbClr val="242E38"/>
                </a:solidFill>
                <a:latin typeface="Aptos"/>
              </a:rPr>
              <a:t>• No release comparison or queue-age analysis</a:t>
            </a:r>
            <a:br/>
            <a:r>
              <a:rPr sz="1100" b="0">
                <a:solidFill>
                  <a:srgbClr val="242E38"/>
                </a:solidFill>
                <a:latin typeface="Aptos"/>
              </a:rPr>
              <a:t>• Payment reconciliation incomplete</a:t>
            </a:r>
            <a:br/>
            <a:r>
              <a:rPr sz="1100" b="0">
                <a:solidFill>
                  <a:srgbClr val="242E38"/>
                </a:solidFill>
                <a:latin typeface="Aptos"/>
              </a:rPr>
              <a:t>• No approved rollback decision</a:t>
            </a:r>
            <a:br/>
            <a:r>
              <a:rPr sz="1100" b="0">
                <a:solidFill>
                  <a:srgbClr val="242E38"/>
                </a:solidFill>
                <a:latin typeface="Aptos"/>
              </a:rPr>
              <a:t>• Do not replay payments, restart, or roll back without authorization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8C82A5A-2342-3FC2-F3CB-0A9980EE0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DEMO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4708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 dirty="0">
                <a:solidFill>
                  <a:srgbClr val="192E4B"/>
                </a:solidFill>
                <a:latin typeface="Aptos"/>
              </a:rPr>
              <a:t>Copilot sequence: summarize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Keep the same incident context in the Copilot Chat conversation.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268712" cy="443484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64008" cy="443484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09928"/>
            <a:ext cx="502920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 dirty="0">
                <a:solidFill>
                  <a:srgbClr val="192E4B"/>
                </a:solidFill>
                <a:latin typeface="Aptos"/>
              </a:rPr>
              <a:t>Prompt </a:t>
            </a:r>
            <a:r>
              <a:rPr lang="en-US" sz="1600" b="1" dirty="0">
                <a:solidFill>
                  <a:srgbClr val="192E4B"/>
                </a:solidFill>
                <a:latin typeface="Aptos"/>
              </a:rPr>
              <a:t>1</a:t>
            </a:r>
            <a:r>
              <a:rPr sz="1600" b="1" dirty="0">
                <a:solidFill>
                  <a:srgbClr val="192E4B"/>
                </a:solidFill>
                <a:latin typeface="Aptos"/>
              </a:rPr>
              <a:t>: Summarize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12264"/>
            <a:ext cx="9737572" cy="285616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en-IN" sz="1600" dirty="0">
                <a:latin typeface="Aptos" panose="020B0004020202020204" pitchFamily="34" charset="0"/>
              </a:rPr>
              <a:t>Summarize incident INC-5837 for an incident commander.</a:t>
            </a:r>
          </a:p>
          <a:p>
            <a:r>
              <a:rPr lang="en-IN" sz="1600" dirty="0">
                <a:latin typeface="Aptos" panose="020B0004020202020204" pitchFamily="34" charset="0"/>
              </a:rPr>
              <a:t> </a:t>
            </a:r>
          </a:p>
          <a:p>
            <a:r>
              <a:rPr lang="en-IN" sz="1600" dirty="0">
                <a:latin typeface="Aptos" panose="020B0004020202020204" pitchFamily="34" charset="0"/>
              </a:rPr>
              <a:t>Organize the summary into:</a:t>
            </a:r>
          </a:p>
          <a:p>
            <a:pPr lvl="0"/>
            <a:r>
              <a:rPr lang="en-IN" sz="1600" dirty="0">
                <a:latin typeface="Aptos" panose="020B0004020202020204" pitchFamily="34" charset="0"/>
              </a:rPr>
              <a:t>Confirmed observations</a:t>
            </a:r>
          </a:p>
          <a:p>
            <a:pPr lvl="0"/>
            <a:r>
              <a:rPr lang="en-IN" sz="1600" dirty="0">
                <a:latin typeface="Aptos" panose="020B0004020202020204" pitchFamily="34" charset="0"/>
              </a:rPr>
              <a:t>Business impact</a:t>
            </a:r>
          </a:p>
          <a:p>
            <a:pPr lvl="0"/>
            <a:r>
              <a:rPr lang="en-IN" sz="1600" dirty="0">
                <a:latin typeface="Aptos" panose="020B0004020202020204" pitchFamily="34" charset="0"/>
              </a:rPr>
              <a:t>Plausible hypotheses</a:t>
            </a:r>
          </a:p>
          <a:p>
            <a:pPr lvl="0"/>
            <a:r>
              <a:rPr lang="en-IN" sz="1600" dirty="0">
                <a:latin typeface="Aptos" panose="020B0004020202020204" pitchFamily="34" charset="0"/>
              </a:rPr>
              <a:t>Critical unknowns</a:t>
            </a:r>
          </a:p>
          <a:p>
            <a:pPr lvl="0"/>
            <a:r>
              <a:rPr lang="en-IN" sz="1600" dirty="0">
                <a:latin typeface="Aptos" panose="020B0004020202020204" pitchFamily="34" charset="0"/>
              </a:rPr>
              <a:t>Immediate risks requiring attention</a:t>
            </a:r>
          </a:p>
          <a:p>
            <a:r>
              <a:rPr lang="en-IN" sz="1600" dirty="0">
                <a:latin typeface="Aptos" panose="020B0004020202020204" pitchFamily="34" charset="0"/>
              </a:rPr>
              <a:t> </a:t>
            </a:r>
          </a:p>
          <a:p>
            <a:r>
              <a:rPr lang="en-IN" sz="1600" dirty="0">
                <a:latin typeface="Aptos" panose="020B0004020202020204" pitchFamily="34" charset="0"/>
              </a:rPr>
              <a:t>Do not declare a root cause. Do not recommend executing a production change. Use only the supplied incident information.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41E276E-42B3-1750-1B42-367202017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0E40D-92E5-11E3-1D02-9F725ED51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40E832-C7EE-B6A6-114D-1C33622EC39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9A10FC-A86A-EDB7-960D-18E467052612}"/>
              </a:ext>
            </a:extLst>
          </p:cNvPr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DEMO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95BB37-B4D0-AA72-0FEE-AD6FC57F0714}"/>
              </a:ext>
            </a:extLst>
          </p:cNvPr>
          <p:cNvSpPr txBox="1"/>
          <p:nvPr/>
        </p:nvSpPr>
        <p:spPr>
          <a:xfrm>
            <a:off x="594360" y="521207"/>
            <a:ext cx="10972800" cy="4708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 dirty="0">
                <a:solidFill>
                  <a:srgbClr val="192E4B"/>
                </a:solidFill>
                <a:latin typeface="Aptos"/>
              </a:rPr>
              <a:t>Copilot sequence: then recommend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1D910B-B9A7-C6AC-7D45-96FE1062B06C}"/>
              </a:ext>
            </a:extLst>
          </p:cNvPr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Keep the same incident context in the Copilot Chat conversation.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74C82-B2E3-CD55-3FAE-4C8DE651F065}"/>
              </a:ext>
            </a:extLst>
          </p:cNvPr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840A8D68-A89D-2B50-6508-7A8F745E9CDE}"/>
              </a:ext>
            </a:extLst>
          </p:cNvPr>
          <p:cNvSpPr/>
          <p:nvPr/>
        </p:nvSpPr>
        <p:spPr>
          <a:xfrm>
            <a:off x="731520" y="1600200"/>
            <a:ext cx="10268712" cy="443484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D2B0C4-DCA1-25D1-4485-CDA4B671AA22}"/>
              </a:ext>
            </a:extLst>
          </p:cNvPr>
          <p:cNvSpPr/>
          <p:nvPr/>
        </p:nvSpPr>
        <p:spPr>
          <a:xfrm>
            <a:off x="731520" y="1600200"/>
            <a:ext cx="64008" cy="443484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3EAB44-48C5-9B1B-F40C-AD203E82FA11}"/>
              </a:ext>
            </a:extLst>
          </p:cNvPr>
          <p:cNvSpPr txBox="1"/>
          <p:nvPr/>
        </p:nvSpPr>
        <p:spPr>
          <a:xfrm>
            <a:off x="896112" y="1709928"/>
            <a:ext cx="502920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 dirty="0">
                <a:solidFill>
                  <a:srgbClr val="192E4B"/>
                </a:solidFill>
                <a:latin typeface="Aptos"/>
              </a:rPr>
              <a:t>Prompt </a:t>
            </a:r>
            <a:r>
              <a:rPr lang="en-US" sz="1600" b="1" dirty="0">
                <a:solidFill>
                  <a:srgbClr val="192E4B"/>
                </a:solidFill>
                <a:latin typeface="Aptos"/>
              </a:rPr>
              <a:t>2</a:t>
            </a:r>
            <a:r>
              <a:rPr sz="1600" b="1" dirty="0">
                <a:solidFill>
                  <a:srgbClr val="192E4B"/>
                </a:solidFill>
                <a:latin typeface="Aptos"/>
              </a:rPr>
              <a:t>: </a:t>
            </a:r>
            <a:r>
              <a:rPr lang="en-US" sz="1600" b="1" dirty="0">
                <a:solidFill>
                  <a:srgbClr val="192E4B"/>
                </a:solidFill>
                <a:latin typeface="Aptos"/>
              </a:rPr>
              <a:t>Recommend</a:t>
            </a:r>
            <a:endParaRPr sz="1600" b="1" dirty="0">
              <a:solidFill>
                <a:srgbClr val="192E4B"/>
              </a:solidFill>
              <a:latin typeface="Apto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BD4079-8307-5910-DF96-CF5AD7E4F7CB}"/>
              </a:ext>
            </a:extLst>
          </p:cNvPr>
          <p:cNvSpPr txBox="1"/>
          <p:nvPr/>
        </p:nvSpPr>
        <p:spPr>
          <a:xfrm>
            <a:off x="896112" y="2112264"/>
            <a:ext cx="9737572" cy="276383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en-IN" sz="1600" dirty="0">
                <a:latin typeface="Aptos" panose="020B0004020202020204" pitchFamily="34" charset="0"/>
              </a:rPr>
              <a:t>Based only on the incident information, recommend the three highest-priority next steps for the incident commander.</a:t>
            </a:r>
          </a:p>
          <a:p>
            <a:r>
              <a:rPr lang="en-IN" sz="1600" dirty="0">
                <a:latin typeface="Aptos" panose="020B0004020202020204" pitchFamily="34" charset="0"/>
              </a:rPr>
              <a:t> </a:t>
            </a:r>
          </a:p>
          <a:p>
            <a:r>
              <a:rPr lang="en-IN" sz="1600" dirty="0">
                <a:latin typeface="Aptos" panose="020B0004020202020204" pitchFamily="34" charset="0"/>
              </a:rPr>
              <a:t>For each step, state:</a:t>
            </a:r>
          </a:p>
          <a:p>
            <a:pPr lvl="0"/>
            <a:r>
              <a:rPr lang="en-IN" sz="1600" dirty="0">
                <a:latin typeface="Aptos" panose="020B0004020202020204" pitchFamily="34" charset="0"/>
              </a:rPr>
              <a:t>Why it matters</a:t>
            </a:r>
          </a:p>
          <a:p>
            <a:pPr lvl="0"/>
            <a:r>
              <a:rPr lang="en-IN" sz="1600" dirty="0">
                <a:latin typeface="Aptos" panose="020B0004020202020204" pitchFamily="34" charset="0"/>
              </a:rPr>
              <a:t>What evidence it should obtain</a:t>
            </a:r>
          </a:p>
          <a:p>
            <a:pPr lvl="0"/>
            <a:r>
              <a:rPr lang="en-IN" sz="1600" dirty="0">
                <a:latin typeface="Aptos" panose="020B0004020202020204" pitchFamily="34" charset="0"/>
              </a:rPr>
              <a:t>Whether it is read-only or changes system state</a:t>
            </a:r>
          </a:p>
          <a:p>
            <a:pPr lvl="0"/>
            <a:r>
              <a:rPr lang="en-IN" sz="1600" dirty="0">
                <a:latin typeface="Aptos" panose="020B0004020202020204" pitchFamily="34" charset="0"/>
              </a:rPr>
              <a:t>What decision it would help the incident commander make</a:t>
            </a:r>
          </a:p>
          <a:p>
            <a:r>
              <a:rPr lang="en-IN" sz="1600" dirty="0">
                <a:latin typeface="Aptos" panose="020B0004020202020204" pitchFamily="34" charset="0"/>
              </a:rPr>
              <a:t> </a:t>
            </a:r>
          </a:p>
          <a:p>
            <a:r>
              <a:rPr lang="en-IN" sz="1600" dirty="0">
                <a:latin typeface="Aptos" panose="020B0004020202020204" pitchFamily="34" charset="0"/>
              </a:rPr>
              <a:t>Prioritize customer and payment integrity, evidence gathering, and service stability. Do not invent available tools, operational procedures, or approval authority. Do not present a hypothesis as a confirmed cause.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29596C1-EDE6-BEEF-43CD-0A62C07A5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527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DEMO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 dirty="0">
                <a:solidFill>
                  <a:srgbClr val="192E4B"/>
                </a:solidFill>
                <a:latin typeface="Aptos"/>
              </a:rPr>
              <a:t>Copilot sequence: verify before acting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Verification requires evidence, independent checks, and decision authority.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515600" cy="420624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64008" cy="420624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755648"/>
            <a:ext cx="10241280" cy="3170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700" b="1" dirty="0">
                <a:solidFill>
                  <a:srgbClr val="192E4B"/>
                </a:solidFill>
                <a:latin typeface="Aptos"/>
              </a:rPr>
              <a:t>Prompt </a:t>
            </a:r>
            <a:r>
              <a:rPr lang="en-US" sz="1700" b="1" dirty="0">
                <a:solidFill>
                  <a:srgbClr val="192E4B"/>
                </a:solidFill>
                <a:latin typeface="Aptos"/>
              </a:rPr>
              <a:t>3</a:t>
            </a:r>
            <a:r>
              <a:rPr sz="1700" b="1" dirty="0">
                <a:solidFill>
                  <a:srgbClr val="192E4B"/>
                </a:solidFill>
                <a:latin typeface="Aptos"/>
              </a:rPr>
              <a:t>: Verification and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157984"/>
            <a:ext cx="10241280" cy="254839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en-IN" sz="1600" dirty="0">
                <a:latin typeface="Aptos" panose="020B0004020202020204" pitchFamily="34" charset="0"/>
              </a:rPr>
              <a:t>For each recommended step, identify the information and checks required before anyone acts on its results.</a:t>
            </a:r>
          </a:p>
          <a:p>
            <a:r>
              <a:rPr lang="en-IN" sz="1600" dirty="0">
                <a:latin typeface="Aptos" panose="020B0004020202020204" pitchFamily="34" charset="0"/>
              </a:rPr>
              <a:t> </a:t>
            </a:r>
          </a:p>
          <a:p>
            <a:r>
              <a:rPr lang="en-IN" sz="1600" dirty="0">
                <a:latin typeface="Aptos" panose="020B0004020202020204" pitchFamily="34" charset="0"/>
              </a:rPr>
              <a:t>Distinguish:</a:t>
            </a:r>
          </a:p>
          <a:p>
            <a:pPr lvl="0"/>
            <a:r>
              <a:rPr lang="en-IN" sz="1600" dirty="0">
                <a:latin typeface="Aptos" panose="020B0004020202020204" pitchFamily="34" charset="0"/>
              </a:rPr>
              <a:t>Information that can be collected using read-only diagnostics.</a:t>
            </a:r>
          </a:p>
          <a:p>
            <a:pPr lvl="0"/>
            <a:r>
              <a:rPr lang="en-IN" sz="1600" dirty="0">
                <a:latin typeface="Aptos" panose="020B0004020202020204" pitchFamily="34" charset="0"/>
              </a:rPr>
              <a:t>Evidence needed to confirm or reject each major hypothesis.</a:t>
            </a:r>
          </a:p>
          <a:p>
            <a:pPr lvl="0"/>
            <a:r>
              <a:rPr lang="en-IN" sz="1600" dirty="0">
                <a:latin typeface="Aptos" panose="020B0004020202020204" pitchFamily="34" charset="0"/>
              </a:rPr>
              <a:t>Actions that could affect payment integrity, service availability, or customer outcomes.</a:t>
            </a:r>
          </a:p>
          <a:p>
            <a:pPr lvl="0"/>
            <a:r>
              <a:rPr lang="en-IN" sz="1600" dirty="0">
                <a:latin typeface="Aptos" panose="020B0004020202020204" pitchFamily="34" charset="0"/>
              </a:rPr>
              <a:t>Actions requiring explicit human approval.</a:t>
            </a:r>
          </a:p>
          <a:p>
            <a:pPr lvl="0"/>
            <a:r>
              <a:rPr lang="en-IN" sz="1600" dirty="0">
                <a:latin typeface="Aptos" panose="020B0004020202020204" pitchFamily="34" charset="0"/>
              </a:rPr>
              <a:t>Conditions under which the team should stop and escalate rather than proceed.</a:t>
            </a:r>
          </a:p>
          <a:p>
            <a:r>
              <a:rPr lang="en-IN" sz="1600" dirty="0">
                <a:latin typeface="Aptos" panose="020B0004020202020204" pitchFamily="34" charset="0"/>
              </a:rPr>
              <a:t> </a:t>
            </a:r>
          </a:p>
          <a:p>
            <a:r>
              <a:rPr lang="en-IN" sz="1600" dirty="0">
                <a:latin typeface="Aptos" panose="020B0004020202020204" pitchFamily="34" charset="0"/>
              </a:rPr>
              <a:t>Do not invent </a:t>
            </a:r>
            <a:r>
              <a:rPr lang="en-IN" sz="1600" dirty="0" err="1">
                <a:latin typeface="Aptos" panose="020B0004020202020204" pitchFamily="34" charset="0"/>
              </a:rPr>
              <a:t>WinTrust</a:t>
            </a:r>
            <a:r>
              <a:rPr lang="en-IN" sz="1600" dirty="0">
                <a:latin typeface="Aptos" panose="020B0004020202020204" pitchFamily="34" charset="0"/>
              </a:rPr>
              <a:t> procedures, thresholds, or authorization roles.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10332720" cy="2554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lang="en-US" sz="1300" b="1" dirty="0">
                <a:solidFill>
                  <a:srgbClr val="192E4B"/>
                </a:solidFill>
                <a:latin typeface="Aptos"/>
              </a:rPr>
              <a:t>C</a:t>
            </a:r>
            <a:r>
              <a:rPr sz="1300" b="1" dirty="0">
                <a:solidFill>
                  <a:srgbClr val="192E4B"/>
                </a:solidFill>
                <a:latin typeface="Aptos"/>
              </a:rPr>
              <a:t>heck: </a:t>
            </a:r>
            <a:r>
              <a:rPr lang="en-US" sz="1300" b="1" dirty="0">
                <a:solidFill>
                  <a:srgbClr val="192E4B"/>
                </a:solidFill>
                <a:latin typeface="Aptos"/>
              </a:rPr>
              <a:t> D</a:t>
            </a:r>
            <a:r>
              <a:rPr sz="1300" b="1" dirty="0">
                <a:solidFill>
                  <a:srgbClr val="192E4B"/>
                </a:solidFill>
                <a:latin typeface="Aptos"/>
              </a:rPr>
              <a:t>oes Copilot distinguish facts from hypotheses and avoid claiming the cause is known?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3D01AB3-6F5C-5BBD-EAEB-DE21B2C86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DEMO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Conceptual bridge: dynamic action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Ask how a hypothetical system might choose a next diagnostic step. Do not build or invoke an agent.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960" cy="429768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64008" cy="4297680"/>
          </a:xfrm>
          <a:prstGeom prst="rect">
            <a:avLst/>
          </a:prstGeom>
          <a:solidFill>
            <a:srgbClr val="2F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98348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en-US" sz="1600" b="1" dirty="0">
                <a:solidFill>
                  <a:srgbClr val="192E4B"/>
                </a:solidFill>
                <a:latin typeface="Aptos"/>
              </a:rPr>
              <a:t>Prompt 4: </a:t>
            </a:r>
            <a:r>
              <a:rPr sz="1600" b="1" dirty="0">
                <a:solidFill>
                  <a:srgbClr val="192E4B"/>
                </a:solidFill>
                <a:latin typeface="Aptos"/>
              </a:rPr>
              <a:t>Possible findings</a:t>
            </a:r>
            <a:r>
              <a:rPr lang="en-US" sz="1600" b="1" dirty="0">
                <a:solidFill>
                  <a:srgbClr val="192E4B"/>
                </a:solidFill>
                <a:latin typeface="Aptos"/>
              </a:rPr>
              <a:t> and Adaptive reasoning</a:t>
            </a:r>
            <a:endParaRPr sz="1600" b="1" dirty="0">
              <a:solidFill>
                <a:srgbClr val="192E4B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" y="2157984"/>
            <a:ext cx="10213848" cy="273305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 dirty="0">
                <a:solidFill>
                  <a:srgbClr val="242E38"/>
                </a:solidFill>
                <a:latin typeface="Aptos"/>
              </a:rPr>
              <a:t>A. Errors mainly on the new release</a:t>
            </a:r>
            <a:br>
              <a:rPr dirty="0"/>
            </a:br>
            <a:r>
              <a:rPr sz="1300" b="0" dirty="0">
                <a:solidFill>
                  <a:srgbClr val="242E38"/>
                </a:solidFill>
                <a:latin typeface="Aptos"/>
              </a:rPr>
              <a:t>B. Errors correlate with provider timeouts</a:t>
            </a:r>
            <a:br>
              <a:rPr dirty="0"/>
            </a:br>
            <a:r>
              <a:rPr sz="1300" b="0" dirty="0">
                <a:solidFill>
                  <a:srgbClr val="242E38"/>
                </a:solidFill>
                <a:latin typeface="Aptos"/>
              </a:rPr>
              <a:t>C. Queue depth keeps rising while consumers are healthy</a:t>
            </a:r>
            <a:br>
              <a:rPr dirty="0"/>
            </a:br>
            <a:r>
              <a:rPr sz="1300" b="0" dirty="0">
                <a:solidFill>
                  <a:srgbClr val="242E38"/>
                </a:solidFill>
                <a:latin typeface="Aptos"/>
              </a:rPr>
              <a:t>D. Reconciliation reveals possible duplicate or unresolved transactions</a:t>
            </a:r>
            <a:br>
              <a:rPr dirty="0"/>
            </a:br>
            <a:br>
              <a:rPr dirty="0"/>
            </a:br>
            <a:r>
              <a:rPr sz="1300" b="0" dirty="0">
                <a:solidFill>
                  <a:srgbClr val="242E38"/>
                </a:solidFill>
                <a:latin typeface="Aptos"/>
              </a:rPr>
              <a:t>These are hypothetical, not confirmed findings.</a:t>
            </a:r>
            <a:endParaRPr lang="en-US" sz="1300" b="0" dirty="0">
              <a:solidFill>
                <a:srgbClr val="242E38"/>
              </a:solidFill>
              <a:latin typeface="Aptos"/>
            </a:endParaRPr>
          </a:p>
          <a:p>
            <a:endParaRPr lang="en-IN" sz="1300" dirty="0">
              <a:solidFill>
                <a:srgbClr val="242E38"/>
              </a:solidFill>
              <a:latin typeface="Aptos"/>
            </a:endParaRPr>
          </a:p>
          <a:p>
            <a:r>
              <a:rPr lang="en-IN" sz="1300" dirty="0">
                <a:latin typeface="Aptos" panose="020B0004020202020204" pitchFamily="34" charset="0"/>
              </a:rPr>
              <a:t>For each finding, identify: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00" dirty="0">
                <a:latin typeface="Aptos" panose="020B0004020202020204" pitchFamily="34" charset="0"/>
              </a:rPr>
              <a:t>The next investigation direction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00" dirty="0">
                <a:latin typeface="Aptos" panose="020B0004020202020204" pitchFamily="34" charset="0"/>
              </a:rPr>
              <a:t>The evidence still required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00" dirty="0">
                <a:latin typeface="Aptos" panose="020B0004020202020204" pitchFamily="34" charset="0"/>
              </a:rPr>
              <a:t>Any actions that must remain human-controlled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00" dirty="0">
                <a:latin typeface="Aptos" panose="020B0004020202020204" pitchFamily="34" charset="0"/>
              </a:rPr>
              <a:t>A condition for stopping or escalating</a:t>
            </a:r>
          </a:p>
          <a:p>
            <a:endParaRPr sz="1300" b="0" dirty="0">
              <a:solidFill>
                <a:srgbClr val="242E38"/>
              </a:solidFill>
              <a:latin typeface="Aptos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13492DA-BFEA-76E7-E86C-8C42B1530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DEMO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What changed across the four steps?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Dynamic selection is an agentic concept, not autonomous 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9270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192E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192E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Limitation</a:t>
                      </a:r>
                    </a:p>
                  </a:txBody>
                  <a:tcPr>
                    <a:solidFill>
                      <a:srgbClr val="192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2E38"/>
                          </a:solidFill>
                        </a:rPr>
                        <a:t>Summarize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2E38"/>
                          </a:solidFill>
                        </a:rPr>
                        <a:t>Organizes incident context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2E38"/>
                          </a:solidFill>
                        </a:rPr>
                        <a:t>Does not establish cause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2E38"/>
                          </a:solidFill>
                        </a:rPr>
                        <a:t>Recommend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2E38"/>
                          </a:solidFill>
                        </a:rPr>
                        <a:t>Prioritizes possible 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2E38"/>
                          </a:solidFill>
                        </a:rPr>
                        <a:t>Recommendations may be wrong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2E38"/>
                          </a:solidFill>
                        </a:rPr>
                        <a:t>Verify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2E38"/>
                          </a:solidFill>
                        </a:rPr>
                        <a:t>Identifies evidence and controls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2E38"/>
                          </a:solidFill>
                        </a:rPr>
                        <a:t>Does not obtain missing evidence by itself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2E38"/>
                          </a:solidFill>
                        </a:rPr>
                        <a:t>Select dynamically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2E38"/>
                          </a:solidFill>
                        </a:rPr>
                        <a:t>Explains how next step may depend on findings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42E38"/>
                          </a:solidFill>
                        </a:rPr>
                        <a:t>No autonomous execution in this 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300" b="1">
                <a:solidFill>
                  <a:srgbClr val="192E4B"/>
                </a:solidFill>
                <a:latin typeface="Aptos"/>
              </a:rPr>
              <a:t>The move from answering to dynamically selecting and executing actions is an important agentic distinction.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E9E1DE-55F6-89E4-A852-7569D6DD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Deterministic vs dynamic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A well-designed enterprise solution may combine both.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520440" cy="425196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64008" cy="425196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755648"/>
            <a:ext cx="324612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Keep deterministic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57984"/>
            <a:ext cx="3246120" cy="364845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242E38"/>
                </a:solidFill>
                <a:latin typeface="Aptos"/>
              </a:rPr>
              <a:t>• SLA and threshold checks</a:t>
            </a:r>
            <a:br/>
            <a:r>
              <a:rPr sz="1300" b="0">
                <a:solidFill>
                  <a:srgbClr val="242E38"/>
                </a:solidFill>
                <a:latin typeface="Aptos"/>
              </a:rPr>
              <a:t>• Schema/type validation</a:t>
            </a:r>
            <a:br/>
            <a:r>
              <a:rPr sz="1300" b="0">
                <a:solidFill>
                  <a:srgbClr val="242E38"/>
                </a:solidFill>
                <a:latin typeface="Aptos"/>
              </a:rPr>
              <a:t>• Approved routing and access rules</a:t>
            </a:r>
            <a:br/>
            <a:r>
              <a:rPr sz="1300" b="0">
                <a:solidFill>
                  <a:srgbClr val="242E38"/>
                </a:solidFill>
                <a:latin typeface="Aptos"/>
              </a:rPr>
              <a:t>• Mandatory approval gates</a:t>
            </a:r>
            <a:br/>
            <a:r>
              <a:rPr sz="1300" b="0">
                <a:solidFill>
                  <a:srgbClr val="242E38"/>
                </a:solidFill>
                <a:latin typeface="Aptos"/>
              </a:rPr>
              <a:t>• Reconciliation arithmetic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520440" cy="425196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645920"/>
            <a:ext cx="64008" cy="4251960"/>
          </a:xfrm>
          <a:prstGeom prst="rect">
            <a:avLst/>
          </a:prstGeom>
          <a:solidFill>
            <a:srgbClr val="2F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755648"/>
            <a:ext cx="324612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Use GenAI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157984"/>
            <a:ext cx="3246120" cy="364845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42E38"/>
                </a:solidFill>
                <a:latin typeface="Aptos"/>
              </a:rPr>
              <a:t>• Summarizing evidence</a:t>
            </a:r>
            <a:br/>
            <a:r>
              <a:rPr sz="1200" b="0">
                <a:solidFill>
                  <a:srgbClr val="242E38"/>
                </a:solidFill>
                <a:latin typeface="Aptos"/>
              </a:rPr>
              <a:t>• Explaining possible causes</a:t>
            </a:r>
            <a:br/>
            <a:r>
              <a:rPr sz="1200" b="0">
                <a:solidFill>
                  <a:srgbClr val="242E38"/>
                </a:solidFill>
                <a:latin typeface="Aptos"/>
              </a:rPr>
              <a:t>• Comparing approaches</a:t>
            </a:r>
            <a:br/>
            <a:r>
              <a:rPr sz="1200" b="0">
                <a:solidFill>
                  <a:srgbClr val="242E38"/>
                </a:solidFill>
                <a:latin typeface="Aptos"/>
              </a:rPr>
              <a:t>• Drafting investigation plans</a:t>
            </a:r>
            <a:br/>
            <a:r>
              <a:rPr sz="1200" b="0">
                <a:solidFill>
                  <a:srgbClr val="242E38"/>
                </a:solidFill>
                <a:latin typeface="Aptos"/>
              </a:rPr>
              <a:t>• Interpreting unstructured evidence, subject to verification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645920"/>
            <a:ext cx="3520440" cy="425196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645920"/>
            <a:ext cx="64008" cy="4251960"/>
          </a:xfrm>
          <a:prstGeom prst="rect">
            <a:avLst/>
          </a:prstGeom>
          <a:solidFill>
            <a:srgbClr val="D3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5592" y="1755648"/>
            <a:ext cx="324612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Consider agentic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2157984"/>
            <a:ext cx="3246120" cy="364845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42E38"/>
                </a:solidFill>
                <a:latin typeface="Aptos"/>
              </a:rPr>
              <a:t>• Next step depends on findings</a:t>
            </a:r>
            <a:br/>
            <a:r>
              <a:rPr sz="1200" b="0">
                <a:solidFill>
                  <a:srgbClr val="242E38"/>
                </a:solidFill>
                <a:latin typeface="Aptos"/>
              </a:rPr>
              <a:t>• Multiple permitted tools/sources exist</a:t>
            </a:r>
            <a:br/>
            <a:r>
              <a:rPr sz="1200" b="0">
                <a:solidFill>
                  <a:srgbClr val="242E38"/>
                </a:solidFill>
                <a:latin typeface="Aptos"/>
              </a:rPr>
              <a:t>• Results can be evaluated</a:t>
            </a:r>
            <a:br/>
            <a:r>
              <a:rPr sz="1200" b="0">
                <a:solidFill>
                  <a:srgbClr val="242E38"/>
                </a:solidFill>
                <a:latin typeface="Aptos"/>
              </a:rPr>
              <a:t>• Safe stop conditions exist</a:t>
            </a:r>
            <a:br/>
            <a:r>
              <a:rPr sz="1200" b="0">
                <a:solidFill>
                  <a:srgbClr val="242E38"/>
                </a:solidFill>
                <a:latin typeface="Aptos"/>
              </a:rPr>
              <a:t>• Adaptive value outweighs complexity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0FDACEE-0A35-DA2B-EC10-68AC5F609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Human oversight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The human retains authority where risk, business rules, or consequences require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520440" cy="342900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64008" cy="342900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92807"/>
            <a:ext cx="324612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Human in the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95144"/>
            <a:ext cx="3246120" cy="28254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0">
                <a:solidFill>
                  <a:srgbClr val="242E38"/>
                </a:solidFill>
                <a:latin typeface="Aptos"/>
              </a:rPr>
              <a:t>System pauses for human input or approval before proceeding.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520440" cy="342900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783080"/>
            <a:ext cx="64008" cy="3429000"/>
          </a:xfrm>
          <a:prstGeom prst="rect">
            <a:avLst/>
          </a:prstGeom>
          <a:solidFill>
            <a:srgbClr val="2F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892807"/>
            <a:ext cx="324612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Human on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295144"/>
            <a:ext cx="3246120" cy="28254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0">
                <a:solidFill>
                  <a:srgbClr val="242E38"/>
                </a:solidFill>
                <a:latin typeface="Aptos"/>
              </a:rPr>
              <a:t>Human supervises execution and can intervene.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783080"/>
            <a:ext cx="3520440" cy="342900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79" y="1783080"/>
            <a:ext cx="64008" cy="3429000"/>
          </a:xfrm>
          <a:prstGeom prst="rect">
            <a:avLst/>
          </a:prstGeom>
          <a:solidFill>
            <a:srgbClr val="D3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19871" y="1892807"/>
            <a:ext cx="324612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Human in command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1" y="2295144"/>
            <a:ext cx="3246120" cy="28254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242E38"/>
                </a:solidFill>
                <a:latin typeface="Aptos"/>
              </a:rPr>
              <a:t>Human retains authority over goals, permissions, boundaries, and accountability.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700" b="1">
                <a:solidFill>
                  <a:srgbClr val="B14242"/>
                </a:solidFill>
                <a:latin typeface="Aptos"/>
              </a:rPr>
              <a:t>An AI recommendation does not authorize a production change.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221FCD6-4C12-7527-DB3A-5783F9AC8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Agentic readiness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If decisions are known in advance, a deterministic workflow is often better.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42E38"/>
                </a:solidFill>
                <a:latin typeface="Aptos"/>
              </a:rPr>
              <a:t>•  Is the goal clear and measurable?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42E38"/>
                </a:solidFill>
                <a:latin typeface="Aptos"/>
              </a:rPr>
              <a:t>•  Does the workflow genuinely require adaptive decisions?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42E38"/>
                </a:solidFill>
                <a:latin typeface="Aptos"/>
              </a:rPr>
              <a:t>•  Are tools and permissions bounded?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42E38"/>
                </a:solidFill>
                <a:latin typeface="Aptos"/>
              </a:rPr>
              <a:t>•  Can outputs and actions be verified?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42E38"/>
                </a:solidFill>
                <a:latin typeface="Aptos"/>
              </a:rPr>
              <a:t>•  Are stop conditions and escalation paths defined?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42E38"/>
                </a:solidFill>
                <a:latin typeface="Aptos"/>
              </a:rPr>
              <a:t>•  Are human approvals explicit?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42E38"/>
                </a:solidFill>
                <a:latin typeface="Aptos"/>
              </a:rPr>
              <a:t>•  Can decisions and tool calls be audited?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42E38"/>
                </a:solidFill>
                <a:latin typeface="Aptos"/>
              </a:rPr>
              <a:t>•  Is autonomy worth the cost, latency, complexity, and risk?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1AFE7C0-7E07-014C-67C4-412D15879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DEMO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Deterministic workflow vs agentic behaviour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GitHub Copilot in VS Code. Static review only; do not build an agent.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5074920" cy="342900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64008" cy="342900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892807"/>
            <a:ext cx="48006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What the script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295144"/>
            <a:ext cx="4800600" cy="28254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242E38"/>
                </a:solidFill>
                <a:latin typeface="Aptos"/>
              </a:rPr>
              <a:t>• Applies fixed threshold rules</a:t>
            </a:r>
            <a:br/>
            <a:r>
              <a:rPr sz="1300" b="0">
                <a:solidFill>
                  <a:srgbClr val="242E38"/>
                </a:solidFill>
                <a:latin typeface="Aptos"/>
              </a:rPr>
              <a:t>• Produces a fixed review sequence</a:t>
            </a:r>
            <a:br/>
            <a:r>
              <a:rPr sz="1300" b="0">
                <a:solidFill>
                  <a:srgbClr val="242E38"/>
                </a:solidFill>
                <a:latin typeface="Aptos"/>
              </a:rPr>
              <a:t>• Returns findings and a proposed plan</a:t>
            </a:r>
            <a:br/>
            <a:r>
              <a:rPr sz="1300" b="0">
                <a:solidFill>
                  <a:srgbClr val="242E38"/>
                </a:solidFill>
                <a:latin typeface="Aptos"/>
              </a:rPr>
              <a:t>• Does not connect to monitoring systems or execute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5074920" cy="342900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783080"/>
            <a:ext cx="64008" cy="3429000"/>
          </a:xfrm>
          <a:prstGeom prst="rect">
            <a:avLst/>
          </a:prstGeom>
          <a:solidFill>
            <a:srgbClr val="2F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892807"/>
            <a:ext cx="480060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 dirty="0">
                <a:solidFill>
                  <a:srgbClr val="192E4B"/>
                </a:solidFill>
                <a:latin typeface="Aptos"/>
              </a:rPr>
              <a:t>What </a:t>
            </a:r>
            <a:r>
              <a:rPr lang="en-US" sz="1600" b="1" dirty="0">
                <a:solidFill>
                  <a:srgbClr val="192E4B"/>
                </a:solidFill>
                <a:latin typeface="Aptos"/>
              </a:rPr>
              <a:t>to</a:t>
            </a:r>
            <a:r>
              <a:rPr sz="1600" b="1" dirty="0">
                <a:solidFill>
                  <a:srgbClr val="192E4B"/>
                </a:solidFill>
                <a:latin typeface="Aptos"/>
              </a:rPr>
              <a:t> investigate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295144"/>
            <a:ext cx="4800600" cy="28254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242E38"/>
                </a:solidFill>
                <a:latin typeface="Aptos"/>
              </a:rPr>
              <a:t>• Which steps are deterministic?</a:t>
            </a:r>
            <a:br/>
            <a:r>
              <a:rPr sz="1300" b="0">
                <a:solidFill>
                  <a:srgbClr val="242E38"/>
                </a:solidFill>
                <a:latin typeface="Aptos"/>
              </a:rPr>
              <a:t>• Which decisions are fixed?</a:t>
            </a:r>
            <a:br/>
            <a:r>
              <a:rPr sz="1300" b="0">
                <a:solidFill>
                  <a:srgbClr val="242E38"/>
                </a:solidFill>
                <a:latin typeface="Aptos"/>
              </a:rPr>
              <a:t>• Where could evidence change the next step?</a:t>
            </a:r>
            <a:br/>
            <a:r>
              <a:rPr sz="1300" b="0">
                <a:solidFill>
                  <a:srgbClr val="242E38"/>
                </a:solidFill>
                <a:latin typeface="Aptos"/>
              </a:rPr>
              <a:t>• What controls would be required for more autonomy?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84E3847-8336-3B58-9AC8-814E50F19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DEMO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Workflow script: incident_review_workflow.py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Synthetic input only; illustrative thresholds are not approved operational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89920" cy="452628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10332720" cy="45181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0" dirty="0">
                <a:solidFill>
                  <a:srgbClr val="242E38"/>
                </a:solidFill>
                <a:latin typeface="Consolas"/>
              </a:rPr>
              <a:t>def </a:t>
            </a:r>
            <a:r>
              <a:rPr sz="1000" b="0" dirty="0" err="1">
                <a:solidFill>
                  <a:srgbClr val="242E38"/>
                </a:solidFill>
                <a:latin typeface="Consolas"/>
              </a:rPr>
              <a:t>review_incident</a:t>
            </a:r>
            <a:r>
              <a:rPr sz="1000" b="0" dirty="0">
                <a:solidFill>
                  <a:srgbClr val="242E38"/>
                </a:solidFill>
                <a:latin typeface="Consolas"/>
              </a:rPr>
              <a:t>(incident):</a:t>
            </a: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findings = []</a:t>
            </a:r>
            <a:br>
              <a:rPr sz="1000" dirty="0"/>
            </a:b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# Deterministic rules</a:t>
            </a: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if incident["</a:t>
            </a:r>
            <a:r>
              <a:rPr sz="1000" b="0" dirty="0" err="1">
                <a:solidFill>
                  <a:srgbClr val="242E38"/>
                </a:solidFill>
                <a:latin typeface="Consolas"/>
              </a:rPr>
              <a:t>error_rate_pct</a:t>
            </a:r>
            <a:r>
              <a:rPr sz="1000" b="0" dirty="0">
                <a:solidFill>
                  <a:srgbClr val="242E38"/>
                </a:solidFill>
                <a:latin typeface="Consolas"/>
              </a:rPr>
              <a:t>"] &gt;= 5:</a:t>
            </a: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    </a:t>
            </a:r>
            <a:r>
              <a:rPr sz="1000" b="0" dirty="0" err="1">
                <a:solidFill>
                  <a:srgbClr val="242E38"/>
                </a:solidFill>
                <a:latin typeface="Consolas"/>
              </a:rPr>
              <a:t>findings.append</a:t>
            </a:r>
            <a:r>
              <a:rPr sz="1000" b="0" dirty="0">
                <a:solidFill>
                  <a:srgbClr val="242E38"/>
                </a:solidFill>
                <a:latin typeface="Consolas"/>
              </a:rPr>
              <a:t>("HIGH_ERROR_RATE")</a:t>
            </a: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if incident["</a:t>
            </a:r>
            <a:r>
              <a:rPr sz="1000" b="0" dirty="0" err="1">
                <a:solidFill>
                  <a:srgbClr val="242E38"/>
                </a:solidFill>
                <a:latin typeface="Consolas"/>
              </a:rPr>
              <a:t>db_cpu_pct</a:t>
            </a:r>
            <a:r>
              <a:rPr sz="1000" b="0" dirty="0">
                <a:solidFill>
                  <a:srgbClr val="242E38"/>
                </a:solidFill>
                <a:latin typeface="Consolas"/>
              </a:rPr>
              <a:t>"] &gt;= 90:</a:t>
            </a: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    </a:t>
            </a:r>
            <a:r>
              <a:rPr sz="1000" b="0" dirty="0" err="1">
                <a:solidFill>
                  <a:srgbClr val="242E38"/>
                </a:solidFill>
                <a:latin typeface="Consolas"/>
              </a:rPr>
              <a:t>findings.append</a:t>
            </a:r>
            <a:r>
              <a:rPr sz="1000" b="0" dirty="0">
                <a:solidFill>
                  <a:srgbClr val="242E38"/>
                </a:solidFill>
                <a:latin typeface="Consolas"/>
              </a:rPr>
              <a:t>("HIGH_DATABASE_CPU")</a:t>
            </a: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if incident["</a:t>
            </a:r>
            <a:r>
              <a:rPr sz="1000" b="0" dirty="0" err="1">
                <a:solidFill>
                  <a:srgbClr val="242E38"/>
                </a:solidFill>
                <a:latin typeface="Consolas"/>
              </a:rPr>
              <a:t>queue_depth</a:t>
            </a:r>
            <a:r>
              <a:rPr sz="1000" b="0" dirty="0">
                <a:solidFill>
                  <a:srgbClr val="242E38"/>
                </a:solidFill>
                <a:latin typeface="Consolas"/>
              </a:rPr>
              <a:t>"] &gt;= 10000:</a:t>
            </a: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    </a:t>
            </a:r>
            <a:r>
              <a:rPr sz="1000" b="0" dirty="0" err="1">
                <a:solidFill>
                  <a:srgbClr val="242E38"/>
                </a:solidFill>
                <a:latin typeface="Consolas"/>
              </a:rPr>
              <a:t>findings.append</a:t>
            </a:r>
            <a:r>
              <a:rPr sz="1000" b="0" dirty="0">
                <a:solidFill>
                  <a:srgbClr val="242E38"/>
                </a:solidFill>
                <a:latin typeface="Consolas"/>
              </a:rPr>
              <a:t>("HIGH_QUEUE_DEPTH")</a:t>
            </a: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if incident["</a:t>
            </a:r>
            <a:r>
              <a:rPr sz="1000" b="0" dirty="0" err="1">
                <a:solidFill>
                  <a:srgbClr val="242E38"/>
                </a:solidFill>
                <a:latin typeface="Consolas"/>
              </a:rPr>
              <a:t>payment_integrity_confirmed</a:t>
            </a:r>
            <a:r>
              <a:rPr sz="1000" b="0" dirty="0">
                <a:solidFill>
                  <a:srgbClr val="242E38"/>
                </a:solidFill>
                <a:latin typeface="Consolas"/>
              </a:rPr>
              <a:t>"] is False:</a:t>
            </a: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    </a:t>
            </a:r>
            <a:r>
              <a:rPr sz="1000" b="0" dirty="0" err="1">
                <a:solidFill>
                  <a:srgbClr val="242E38"/>
                </a:solidFill>
                <a:latin typeface="Consolas"/>
              </a:rPr>
              <a:t>findings.append</a:t>
            </a:r>
            <a:r>
              <a:rPr sz="1000" b="0" dirty="0">
                <a:solidFill>
                  <a:srgbClr val="242E38"/>
                </a:solidFill>
                <a:latin typeface="Consolas"/>
              </a:rPr>
              <a:t>("PAYMENT_INTEGRITY_UNCONFIRMED")</a:t>
            </a:r>
            <a:br>
              <a:rPr sz="1000" dirty="0"/>
            </a:b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# Fixed workflow: same sequence for every incident</a:t>
            </a: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plan = [</a:t>
            </a: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    "Review incident timeline",</a:t>
            </a: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    "Check application and dependency telemetry",</a:t>
            </a: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    "Review queue health",</a:t>
            </a: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    "Verify payment reconciliation status",</a:t>
            </a: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    "Prepare findings for incident commander",</a:t>
            </a: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]</a:t>
            </a:r>
            <a:br>
              <a:rPr sz="1000" dirty="0"/>
            </a:b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return {</a:t>
            </a: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    "</a:t>
            </a:r>
            <a:r>
              <a:rPr sz="1000" b="0" dirty="0" err="1">
                <a:solidFill>
                  <a:srgbClr val="242E38"/>
                </a:solidFill>
                <a:latin typeface="Consolas"/>
              </a:rPr>
              <a:t>incident_id</a:t>
            </a:r>
            <a:r>
              <a:rPr sz="1000" b="0" dirty="0">
                <a:solidFill>
                  <a:srgbClr val="242E38"/>
                </a:solidFill>
                <a:latin typeface="Consolas"/>
              </a:rPr>
              <a:t>": incident["</a:t>
            </a:r>
            <a:r>
              <a:rPr sz="1000" b="0" dirty="0" err="1">
                <a:solidFill>
                  <a:srgbClr val="242E38"/>
                </a:solidFill>
                <a:latin typeface="Consolas"/>
              </a:rPr>
              <a:t>incident_id</a:t>
            </a:r>
            <a:r>
              <a:rPr sz="1000" b="0" dirty="0">
                <a:solidFill>
                  <a:srgbClr val="242E38"/>
                </a:solidFill>
                <a:latin typeface="Consolas"/>
              </a:rPr>
              <a:t>"],</a:t>
            </a: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    "findings": findings,</a:t>
            </a: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    "</a:t>
            </a:r>
            <a:r>
              <a:rPr sz="1000" b="0" dirty="0" err="1">
                <a:solidFill>
                  <a:srgbClr val="242E38"/>
                </a:solidFill>
                <a:latin typeface="Consolas"/>
              </a:rPr>
              <a:t>review_plan</a:t>
            </a:r>
            <a:r>
              <a:rPr sz="1000" b="0" dirty="0">
                <a:solidFill>
                  <a:srgbClr val="242E38"/>
                </a:solidFill>
                <a:latin typeface="Consolas"/>
              </a:rPr>
              <a:t>": plan,</a:t>
            </a: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    "</a:t>
            </a:r>
            <a:r>
              <a:rPr sz="1000" b="0" dirty="0" err="1">
                <a:solidFill>
                  <a:srgbClr val="242E38"/>
                </a:solidFill>
                <a:latin typeface="Consolas"/>
              </a:rPr>
              <a:t>production_changes_authorized</a:t>
            </a:r>
            <a:r>
              <a:rPr sz="1000" b="0" dirty="0">
                <a:solidFill>
                  <a:srgbClr val="242E38"/>
                </a:solidFill>
                <a:latin typeface="Consolas"/>
              </a:rPr>
              <a:t>": False,</a:t>
            </a:r>
            <a:br>
              <a:rPr sz="1000" dirty="0"/>
            </a:br>
            <a:r>
              <a:rPr sz="1000" b="0" dirty="0">
                <a:solidFill>
                  <a:srgbClr val="242E38"/>
                </a:solidFill>
                <a:latin typeface="Consolas"/>
              </a:rPr>
              <a:t>    }</a:t>
            </a:r>
            <a:br>
              <a:rPr sz="1000" dirty="0"/>
            </a:br>
            <a:endParaRPr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2CB76C-17A7-8CCB-A3AA-598339111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DEMO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GitHub Copilot review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Do not implement the agentic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44200" cy="443484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64008" cy="443484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1046988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700" b="1">
                <a:solidFill>
                  <a:srgbClr val="192E4B"/>
                </a:solidFill>
                <a:latin typeface="Aptos"/>
              </a:rPr>
              <a:t>Prompt for Copilot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57984"/>
            <a:ext cx="10469880" cy="350249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Review incident_review_workflow.py.</a:t>
            </a:r>
          </a:p>
          <a:p>
            <a:r>
              <a:rPr lang="en-IN" sz="1400" dirty="0">
                <a:latin typeface="Aptos" panose="020B0004020202020204" pitchFamily="34" charset="0"/>
              </a:rPr>
              <a:t> </a:t>
            </a:r>
          </a:p>
          <a:p>
            <a:r>
              <a:rPr lang="en-IN" sz="1400" dirty="0">
                <a:latin typeface="Aptos" panose="020B0004020202020204" pitchFamily="34" charset="0"/>
              </a:rPr>
              <a:t>Do not build an agent or add external integrations.</a:t>
            </a:r>
          </a:p>
          <a:p>
            <a:r>
              <a:rPr lang="en-IN" sz="1400" dirty="0">
                <a:latin typeface="Aptos" panose="020B0004020202020204" pitchFamily="34" charset="0"/>
              </a:rPr>
              <a:t> </a:t>
            </a:r>
          </a:p>
          <a:p>
            <a:r>
              <a:rPr lang="en-IN" sz="1400" dirty="0">
                <a:latin typeface="Aptos" panose="020B0004020202020204" pitchFamily="34" charset="0"/>
              </a:rPr>
              <a:t>Explain:</a:t>
            </a:r>
          </a:p>
          <a:p>
            <a:pPr lvl="0"/>
            <a:r>
              <a:rPr lang="en-IN" sz="1400" dirty="0">
                <a:latin typeface="Aptos" panose="020B0004020202020204" pitchFamily="34" charset="0"/>
              </a:rPr>
              <a:t>Which operations are deterministic and why.</a:t>
            </a:r>
          </a:p>
          <a:p>
            <a:pPr lvl="0"/>
            <a:r>
              <a:rPr lang="en-IN" sz="1400" dirty="0">
                <a:latin typeface="Aptos" panose="020B0004020202020204" pitchFamily="34" charset="0"/>
              </a:rPr>
              <a:t>Which decisions are currently fixed regardless of intermediate findings.</a:t>
            </a:r>
          </a:p>
          <a:p>
            <a:pPr lvl="0"/>
            <a:r>
              <a:rPr lang="en-IN" sz="1400" dirty="0">
                <a:latin typeface="Aptos" panose="020B0004020202020204" pitchFamily="34" charset="0"/>
              </a:rPr>
              <a:t>Where a real investigation might need to select its next step based on newly obtained evidence.</a:t>
            </a:r>
          </a:p>
          <a:p>
            <a:pPr lvl="0"/>
            <a:r>
              <a:rPr lang="en-IN" sz="1400" dirty="0">
                <a:latin typeface="Aptos" panose="020B0004020202020204" pitchFamily="34" charset="0"/>
              </a:rPr>
              <a:t>Which decisions could reasonably use GenAI assistance and what evidence would be needed.</a:t>
            </a:r>
          </a:p>
          <a:p>
            <a:pPr lvl="0"/>
            <a:r>
              <a:rPr lang="en-IN" sz="1400" dirty="0">
                <a:latin typeface="Aptos" panose="020B0004020202020204" pitchFamily="34" charset="0"/>
              </a:rPr>
              <a:t>Which actions must remain subject to human approval.</a:t>
            </a:r>
          </a:p>
          <a:p>
            <a:pPr lvl="0"/>
            <a:r>
              <a:rPr lang="en-IN" sz="1400" dirty="0">
                <a:latin typeface="Aptos" panose="020B0004020202020204" pitchFamily="34" charset="0"/>
              </a:rPr>
              <a:t>What controls would be needed before this workflow could safely become more adaptive.</a:t>
            </a:r>
          </a:p>
          <a:p>
            <a:r>
              <a:rPr lang="en-IN" sz="1400" dirty="0">
                <a:latin typeface="Aptos" panose="020B0004020202020204" pitchFamily="34" charset="0"/>
              </a:rPr>
              <a:t> </a:t>
            </a:r>
          </a:p>
          <a:p>
            <a:r>
              <a:rPr lang="en-IN" sz="1400" dirty="0">
                <a:latin typeface="Aptos" panose="020B0004020202020204" pitchFamily="34" charset="0"/>
              </a:rPr>
              <a:t>Propose a comparison between the current deterministic workflow and a hypothetical agentic design. Discuss complexity, auditability, testing, operational risk, and business value.</a:t>
            </a:r>
          </a:p>
          <a:p>
            <a:r>
              <a:rPr lang="en-IN" sz="1400" dirty="0">
                <a:latin typeface="Aptos" panose="020B0004020202020204" pitchFamily="34" charset="0"/>
              </a:rPr>
              <a:t> </a:t>
            </a:r>
          </a:p>
          <a:p>
            <a:r>
              <a:rPr lang="en-IN" sz="1400" dirty="0">
                <a:latin typeface="Aptos" panose="020B0004020202020204" pitchFamily="34" charset="0"/>
              </a:rPr>
              <a:t>Do not invent approved operational thresholds. Do not claim to have run or tested the script. Do not implement the agentic design.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4CDEBD1-D5A7-6F1C-649C-6994FBEA7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DEMO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Debrief: what makes it adaptive?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A dynamic decision is useful only when it improves the outcome.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10424160" cy="438912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42E38"/>
                </a:solidFill>
                <a:latin typeface="Aptos"/>
              </a:rPr>
              <a:t>•  Threshold checks are deterministic.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42E38"/>
                </a:solidFill>
                <a:latin typeface="Aptos"/>
              </a:rPr>
              <a:t>•  The workflow always returns the same sequence of review steps.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42E38"/>
                </a:solidFill>
                <a:latin typeface="Aptos"/>
              </a:rPr>
              <a:t>•  Adaptive investigation might prioritize release comparison, provider analysis, queue investigation, or reconciliation based on evidence.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42E38"/>
                </a:solidFill>
                <a:latin typeface="Aptos"/>
              </a:rPr>
              <a:t>•  Meaningful adaptive decisions require access to validated evidence.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42E38"/>
                </a:solidFill>
                <a:latin typeface="Aptos"/>
              </a:rPr>
              <a:t>•  Production changes remain separate authorization decisions.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42E38"/>
                </a:solidFill>
                <a:latin typeface="Aptos"/>
              </a:rPr>
              <a:t>•  More adaptive logic increases requirements for tool boundaries, observability, tests, stop conditions, and approval controls.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300" b="1">
                <a:solidFill>
                  <a:srgbClr val="192E4B"/>
                </a:solidFill>
                <a:latin typeface="Aptos"/>
              </a:rPr>
              <a:t>Discussion: What measurable benefit would justify replacing parts of this workflow with agentic decision-making?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832F02-5B7E-9549-57CF-4A20C94C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HANDS-ON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Should this be agentic?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Architecture decision exercise. No code or agent implementation.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5074920" cy="352044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737360"/>
            <a:ext cx="64008" cy="352044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847088"/>
            <a:ext cx="48006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Team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249424"/>
            <a:ext cx="4800600" cy="291693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242E38"/>
                </a:solidFill>
                <a:latin typeface="Aptos"/>
              </a:rPr>
              <a:t>Evaluate six business scenarios and recommend an appropriate architecture. Explain what should be deterministic, where GenAI helps, where adaptive decisions might add value, and what must remain human-controlled.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074920" cy="352044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64008" cy="3520440"/>
          </a:xfrm>
          <a:prstGeom prst="rect">
            <a:avLst/>
          </a:prstGeom>
          <a:solidFill>
            <a:srgbClr val="2F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847088"/>
            <a:ext cx="48006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Expected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249424"/>
            <a:ext cx="4800600" cy="291693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242E38"/>
                </a:solidFill>
                <a:latin typeface="Aptos"/>
              </a:rPr>
              <a:t>A one-page decision matrix or short presentation covering business objective, architecture choice, human approval, evidence/verification, audit/safety controls, and trade-off versus a simpler option.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38A1B6-CD43-F8D3-85A7-D9B77EA0AFEF}"/>
              </a:ext>
            </a:extLst>
          </p:cNvPr>
          <p:cNvSpPr txBox="1"/>
          <p:nvPr/>
        </p:nvSpPr>
        <p:spPr>
          <a:xfrm>
            <a:off x="3458908" y="6177772"/>
            <a:ext cx="5518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Open: Session_08_MC_IV_Agentic_Concepts_Lab.md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7D518D3-8304-8224-B6D4-1F4423976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HANDS-ON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Scenario set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Choose a suitable architecture and justify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520440" cy="416052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64008" cy="416052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324612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1. Weekly management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03704"/>
            <a:ext cx="3246120" cy="355701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242E38"/>
                </a:solidFill>
                <a:latin typeface="Aptos"/>
              </a:rPr>
              <a:t>Compile metrics from approved sources, explain significant changes, and prepare a management summary.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520440" cy="416052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691640"/>
            <a:ext cx="64008" cy="4160520"/>
          </a:xfrm>
          <a:prstGeom prst="rect">
            <a:avLst/>
          </a:prstGeom>
          <a:solidFill>
            <a:srgbClr val="2F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801368"/>
            <a:ext cx="324612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2. Ticket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203704"/>
            <a:ext cx="3246120" cy="355701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242E38"/>
                </a:solidFill>
                <a:latin typeface="Aptos"/>
              </a:rPr>
              <a:t>Categorize incoming tickets, identify likely urgency, and route according to approved rules.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691640"/>
            <a:ext cx="3520440" cy="416052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79" y="1691640"/>
            <a:ext cx="64008" cy="4160520"/>
          </a:xfrm>
          <a:prstGeom prst="rect">
            <a:avLst/>
          </a:prstGeom>
          <a:solidFill>
            <a:srgbClr val="D3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19871" y="1801368"/>
            <a:ext cx="324612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3. Complex incident investigation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1" y="2203704"/>
            <a:ext cx="3246120" cy="355701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242E38"/>
                </a:solidFill>
                <a:latin typeface="Aptos"/>
              </a:rPr>
              <a:t>Investigate multiple potentially related symptoms and select the next diagnostic based on evidence.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37F670-3214-1386-F6BD-53FC80798B7C}"/>
              </a:ext>
            </a:extLst>
          </p:cNvPr>
          <p:cNvSpPr txBox="1"/>
          <p:nvPr/>
        </p:nvSpPr>
        <p:spPr>
          <a:xfrm>
            <a:off x="3458908" y="6177772"/>
            <a:ext cx="5518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Open: Session_08_MC_IV_Agentic_Concepts_Lab.md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C271D33-F981-1BCB-8BF5-48EFFBCC7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HANDS-ON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Scenario set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Include human approval and audit requirements in your recommendation.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520440" cy="416052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64008" cy="4160520"/>
          </a:xfrm>
          <a:prstGeom prst="rect">
            <a:avLst/>
          </a:prstGeom>
          <a:solidFill>
            <a:srgbClr val="B1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324612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4. Production configuration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31720"/>
            <a:ext cx="3246120" cy="355701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 dirty="0">
                <a:solidFill>
                  <a:srgbClr val="242E38"/>
                </a:solidFill>
                <a:latin typeface="Aptos"/>
              </a:rPr>
              <a:t>Assess a proposed change, dependencies, risks, validation, and authorization.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520440" cy="416052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691640"/>
            <a:ext cx="64008" cy="416052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801368"/>
            <a:ext cx="324612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5. Data-quality reconciliation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331720"/>
            <a:ext cx="3246120" cy="355701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 dirty="0">
                <a:solidFill>
                  <a:srgbClr val="242E38"/>
                </a:solidFill>
                <a:latin typeface="Aptos"/>
              </a:rPr>
              <a:t>Investigate exceptions against authoritative rules and determine whether corrections are justified.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691640"/>
            <a:ext cx="3520440" cy="416052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79" y="1691640"/>
            <a:ext cx="64008" cy="4160520"/>
          </a:xfrm>
          <a:prstGeom prst="rect">
            <a:avLst/>
          </a:prstGeom>
          <a:solidFill>
            <a:srgbClr val="2F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19871" y="1801368"/>
            <a:ext cx="324612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6. Customer-impacting 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1" y="2331720"/>
            <a:ext cx="3246120" cy="355701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 dirty="0">
                <a:solidFill>
                  <a:srgbClr val="242E38"/>
                </a:solidFill>
                <a:latin typeface="Aptos"/>
              </a:rPr>
              <a:t>Prepare an incident update using verified facts while preserving uncertainty and approval requirements.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21A26B-5AFA-1408-B66F-19E1DB382F87}"/>
              </a:ext>
            </a:extLst>
          </p:cNvPr>
          <p:cNvSpPr txBox="1"/>
          <p:nvPr/>
        </p:nvSpPr>
        <p:spPr>
          <a:xfrm>
            <a:off x="3458908" y="6177772"/>
            <a:ext cx="5518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Open: Session_08_MC_IV_Agentic_Concepts_Lab.md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A8AC85AB-26AC-8F93-5CA4-B96FF75B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HANDS-ON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What each team must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Use the same evaluation method for all six scenarios.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515600" cy="45720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42E38"/>
                </a:solidFill>
                <a:latin typeface="Aptos"/>
              </a:rPr>
              <a:t>•  Describe the current process and desired business outcome.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42E38"/>
                </a:solidFill>
                <a:latin typeface="Aptos"/>
              </a:rPr>
              <a:t>•  Identify tasks suited to deterministic rules.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42E38"/>
                </a:solidFill>
                <a:latin typeface="Aptos"/>
              </a:rPr>
              <a:t>•  Identify where GenAI could summarize, interpret, or recommend.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42E38"/>
                </a:solidFill>
                <a:latin typeface="Aptos"/>
              </a:rPr>
              <a:t>•  Determine whether the next step genuinely depends on intermediate findings.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42E38"/>
                </a:solidFill>
                <a:latin typeface="Aptos"/>
              </a:rPr>
              <a:t>•  Identify potential agentic decisions and the controls they would need.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42E38"/>
                </a:solidFill>
                <a:latin typeface="Aptos"/>
              </a:rPr>
              <a:t>•  Specify human approval points, audit requirements, and safety boundaries.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42E38"/>
                </a:solidFill>
                <a:latin typeface="Aptos"/>
              </a:rPr>
              <a:t>•  Recommend an architecture category and justify it.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42E38"/>
                </a:solidFill>
                <a:latin typeface="Aptos"/>
              </a:rPr>
              <a:t>•  State one reason a more autonomous solution might be unnecessary or risky.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F82B0-09FE-74CD-D99A-67AF82867EFA}"/>
              </a:ext>
            </a:extLst>
          </p:cNvPr>
          <p:cNvSpPr txBox="1"/>
          <p:nvPr/>
        </p:nvSpPr>
        <p:spPr>
          <a:xfrm>
            <a:off x="3458908" y="6177772"/>
            <a:ext cx="5518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Open: Session_08_MC_IV_Agentic_Concepts_Lab.md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C1F1227-092F-A532-B6CD-6E4BF9997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HANDS-ON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Architecture decision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Categories are decision aids, not rigid or mutually exclusive types.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66360" cy="141732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64008" cy="141732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9204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GenAI /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57984"/>
            <a:ext cx="4892040" cy="81381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42E38"/>
                </a:solidFill>
                <a:latin typeface="Aptos"/>
              </a:rPr>
              <a:t>Human benefits from AI-generated analysis, explanations, or drafts.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166360" cy="141732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64008" cy="1417320"/>
          </a:xfrm>
          <a:prstGeom prst="rect">
            <a:avLst/>
          </a:prstGeom>
          <a:solidFill>
            <a:srgbClr val="2F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755648"/>
            <a:ext cx="489204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Deterministic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157984"/>
            <a:ext cx="4892040" cy="81381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42E38"/>
                </a:solidFill>
                <a:latin typeface="Aptos"/>
              </a:rPr>
              <a:t>Steps and decisions can be expressed as predefined rules.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83280"/>
            <a:ext cx="5166360" cy="141732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64008" cy="1417320"/>
          </a:xfrm>
          <a:prstGeom prst="rect">
            <a:avLst/>
          </a:prstGeom>
          <a:solidFill>
            <a:srgbClr val="D3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493008"/>
            <a:ext cx="489204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92E4B"/>
                </a:solidFill>
                <a:latin typeface="Aptos"/>
              </a:rPr>
              <a:t>Agentic candidate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895344"/>
            <a:ext cx="4892040" cy="81381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42E38"/>
                </a:solidFill>
                <a:latin typeface="Aptos"/>
              </a:rPr>
              <a:t>Next steps adapt to intermediate findings and bounded autonomy adds value.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83280"/>
            <a:ext cx="5166360" cy="141732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383280"/>
            <a:ext cx="64008" cy="1417320"/>
          </a:xfrm>
          <a:prstGeom prst="rect">
            <a:avLst/>
          </a:prstGeom>
          <a:solidFill>
            <a:srgbClr val="B1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3493008"/>
            <a:ext cx="489204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500" b="1">
                <a:solidFill>
                  <a:srgbClr val="192E4B"/>
                </a:solidFill>
                <a:latin typeface="Aptos"/>
              </a:rPr>
              <a:t>Agentic + Human 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895344"/>
            <a:ext cx="4892040" cy="81381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242E38"/>
                </a:solidFill>
                <a:latin typeface="Aptos"/>
              </a:rPr>
              <a:t>Adaptive investigation may help, but consequential decisions/actions need authorization.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1">
                <a:solidFill>
                  <a:srgbClr val="192E4B"/>
                </a:solidFill>
                <a:latin typeface="Aptos"/>
              </a:rPr>
              <a:t>A solution may combine GenAI, deterministic workflows, and human approval without requiring an agent.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1831FB-E094-AF64-4EBB-A67E3AE858EA}"/>
              </a:ext>
            </a:extLst>
          </p:cNvPr>
          <p:cNvSpPr txBox="1"/>
          <p:nvPr/>
        </p:nvSpPr>
        <p:spPr>
          <a:xfrm>
            <a:off x="3458908" y="6177772"/>
            <a:ext cx="5518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Open: Session_08_MC_IV_Agentic_Concepts_Lab.md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7C354479-8634-F5A6-FC06-2F28B19D9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HANDS-ON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Required team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One-page decision matrix or short verbal recommendation.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42E38"/>
                </a:solidFill>
                <a:latin typeface="Aptos"/>
              </a:rPr>
              <a:t>•  Business objective: what outcome must be achieved?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42E38"/>
                </a:solidFill>
                <a:latin typeface="Aptos"/>
              </a:rPr>
              <a:t>•  Proposed approach: which architecture category and why?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42E38"/>
                </a:solidFill>
                <a:latin typeface="Aptos"/>
              </a:rPr>
              <a:t>•  Division of responsibility: deterministic logic, GenAI, adaptive decisions.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42E38"/>
                </a:solidFill>
                <a:latin typeface="Aptos"/>
              </a:rPr>
              <a:t>•  Human control: what must be reviewed or approved?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42E38"/>
                </a:solidFill>
                <a:latin typeface="Aptos"/>
              </a:rPr>
              <a:t>•  Evidence and verification: how will correctness be assessed?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42E38"/>
                </a:solidFill>
                <a:latin typeface="Aptos"/>
              </a:rPr>
              <a:t>•  Audit and safety: what must be logged, bounded, or prevented?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42E38"/>
                </a:solidFill>
                <a:latin typeface="Aptos"/>
              </a:rPr>
              <a:t>•  Trade-off: why is this better than a simpler alternative?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863F0F1-F3F0-1C5B-DBDA-B1BDE4F3D1FF}"/>
              </a:ext>
            </a:extLst>
          </p:cNvPr>
          <p:cNvSpPr/>
          <p:nvPr/>
        </p:nvSpPr>
        <p:spPr>
          <a:xfrm>
            <a:off x="5638647" y="5038345"/>
            <a:ext cx="914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06030E-1183-EE01-1687-4BF02247670E}"/>
              </a:ext>
            </a:extLst>
          </p:cNvPr>
          <p:cNvSpPr txBox="1"/>
          <p:nvPr/>
        </p:nvSpPr>
        <p:spPr>
          <a:xfrm>
            <a:off x="3458908" y="6177772"/>
            <a:ext cx="5518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Open: Session_08_MC_IV_Agentic_Concepts_Lab.md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E2B7A51-4E45-7AB5-DE6F-5076BEC2A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Indicative architecture choices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126771"/>
              </p:ext>
            </p:extLst>
          </p:nvPr>
        </p:nvGraphicFramePr>
        <p:xfrm>
          <a:off x="411480" y="1554480"/>
          <a:ext cx="113385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192E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Likely starting point</a:t>
                      </a:r>
                    </a:p>
                  </a:txBody>
                  <a:tcPr>
                    <a:solidFill>
                      <a:srgbClr val="192E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When greater autonomy might help</a:t>
                      </a:r>
                    </a:p>
                  </a:txBody>
                  <a:tcPr>
                    <a:solidFill>
                      <a:srgbClr val="192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E38"/>
                          </a:solidFill>
                        </a:rPr>
                        <a:t>Weekly report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E38"/>
                          </a:solidFill>
                        </a:rPr>
                        <a:t>Deterministic preparation + GenAI synthesis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E38"/>
                          </a:solidFill>
                        </a:rPr>
                        <a:t>Investigate unexpected changes across sources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E38"/>
                          </a:solidFill>
                        </a:rPr>
                        <a:t>Ticket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E38"/>
                          </a:solidFill>
                        </a:rPr>
                        <a:t>Rules + GenAI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E38"/>
                          </a:solidFill>
                        </a:rPr>
                        <a:t>Select follow-up checks for ambiguous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E38"/>
                          </a:solidFill>
                        </a:rPr>
                        <a:t>Complex incident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E38"/>
                          </a:solidFill>
                        </a:rPr>
                        <a:t>GenAI-assisted investigation + controlled diagnostics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E38"/>
                          </a:solidFill>
                        </a:rPr>
                        <a:t>Choose next diagnostic based on prior results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E38"/>
                          </a:solidFill>
                        </a:rPr>
                        <a:t>Configuration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E38"/>
                          </a:solidFill>
                        </a:rPr>
                        <a:t>Deterministic change workflow + 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E38"/>
                          </a:solidFill>
                        </a:rPr>
                        <a:t>Gather evidence and prepare a proposed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E38"/>
                          </a:solidFill>
                        </a:rPr>
                        <a:t>Data-quality reconciliation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E38"/>
                          </a:solidFill>
                        </a:rPr>
                        <a:t>Deterministic validation + GenAI investigation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E38"/>
                          </a:solidFill>
                        </a:rPr>
                        <a:t>Investigate ambiguous exceptions across sources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61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E38"/>
                          </a:solidFill>
                        </a:rPr>
                        <a:t>Customer communication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E38"/>
                          </a:solidFill>
                        </a:rPr>
                        <a:t>GenAI draft + fact checks and 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42E38"/>
                          </a:solidFill>
                        </a:rPr>
                        <a:t>Gather verified updates from multiple 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CCF94BD-1DF4-283A-D519-9317C945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Challenge your architecture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Evaluate the reasoning, not just the label.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241280" cy="438912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42E38"/>
                </a:solidFill>
                <a:latin typeface="Aptos"/>
              </a:rPr>
              <a:t>•  What does the proposed architecture improve?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42E38"/>
                </a:solidFill>
                <a:latin typeface="Aptos"/>
              </a:rPr>
              <a:t>•  Could a simpler workflow achieve the same outcome?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42E38"/>
                </a:solidFill>
                <a:latin typeface="Aptos"/>
              </a:rPr>
              <a:t>•  What if evidence is incomplete or contradictory?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42E38"/>
                </a:solidFill>
                <a:latin typeface="Aptos"/>
              </a:rPr>
              <a:t>•  How does the system know when to stop and escalate?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42E38"/>
                </a:solidFill>
                <a:latin typeface="Aptos"/>
              </a:rPr>
              <a:t>•  What is the maximum autonomy justified by the risk?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42E38"/>
                </a:solidFill>
                <a:latin typeface="Aptos"/>
              </a:rPr>
              <a:t>•  What evidence is needed before approving a pilot?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AA1C2E9-1353-66EE-ECAB-5BA27104D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Five principles for enterprise agentic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5B6B7A"/>
                </a:solidFill>
                <a:latin typeface="Aptos"/>
              </a:rPr>
              <a:t>Design for measurable value, bounded autonomy, and reliable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10515600" cy="658368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508760"/>
            <a:ext cx="64008" cy="658368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618488"/>
            <a:ext cx="1024128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192E4B"/>
                </a:solidFill>
                <a:latin typeface="Aptos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207" y="1919079"/>
            <a:ext cx="1024128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 dirty="0">
                <a:solidFill>
                  <a:srgbClr val="242E38"/>
                </a:solidFill>
                <a:latin typeface="Aptos"/>
              </a:rPr>
              <a:t>Start with the business outcome, not the agent.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40864"/>
            <a:ext cx="10515600" cy="658368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2340864"/>
            <a:ext cx="64008" cy="658368"/>
          </a:xfrm>
          <a:prstGeom prst="rect">
            <a:avLst/>
          </a:prstGeom>
          <a:solidFill>
            <a:srgbClr val="2F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2450592"/>
            <a:ext cx="1024128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192E4B"/>
                </a:solidFill>
                <a:latin typeface="Aptos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751183"/>
            <a:ext cx="1024128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 dirty="0">
                <a:solidFill>
                  <a:srgbClr val="242E38"/>
                </a:solidFill>
                <a:latin typeface="Aptos"/>
              </a:rPr>
              <a:t>Use deterministic logic wherever rules are clear and repeatable.</a:t>
            </a:r>
            <a:endParaRPr lang="en-US" sz="1200" b="0" dirty="0">
              <a:solidFill>
                <a:srgbClr val="242E38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" y="3172968"/>
            <a:ext cx="10515600" cy="658368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3172968"/>
            <a:ext cx="64008" cy="658368"/>
          </a:xfrm>
          <a:prstGeom prst="rect">
            <a:avLst/>
          </a:prstGeom>
          <a:solidFill>
            <a:srgbClr val="D3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3282696"/>
            <a:ext cx="1024128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192E4B"/>
                </a:solidFill>
                <a:latin typeface="Aptos"/>
              </a:rPr>
              <a:t>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5207" y="3583287"/>
            <a:ext cx="1024128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 dirty="0">
                <a:solidFill>
                  <a:srgbClr val="242E38"/>
                </a:solidFill>
                <a:latin typeface="Aptos"/>
              </a:rPr>
              <a:t>Use adaptive decision-making only where it creates measurable value.</a:t>
            </a:r>
            <a:endParaRPr lang="en-US" sz="1200" b="0" dirty="0">
              <a:solidFill>
                <a:srgbClr val="242E38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22960" y="4005072"/>
            <a:ext cx="10515600" cy="658368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4005072"/>
            <a:ext cx="64008" cy="658368"/>
          </a:xfrm>
          <a:prstGeom prst="rect">
            <a:avLst/>
          </a:prstGeom>
          <a:solidFill>
            <a:srgbClr val="B1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4114800"/>
            <a:ext cx="1024128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192E4B"/>
                </a:solidFill>
                <a:latin typeface="Aptos"/>
              </a:rPr>
              <a:t>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207" y="4415391"/>
            <a:ext cx="1024128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 dirty="0">
                <a:solidFill>
                  <a:srgbClr val="242E38"/>
                </a:solidFill>
                <a:latin typeface="Aptos"/>
              </a:rPr>
              <a:t>Keep permissions, stopping conditions, and human approvals explicit.</a:t>
            </a:r>
            <a:endParaRPr lang="en-US" sz="1200" b="0" dirty="0">
              <a:solidFill>
                <a:srgbClr val="242E38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22960" y="4837176"/>
            <a:ext cx="10515600" cy="658368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60" y="4837176"/>
            <a:ext cx="64008" cy="658368"/>
          </a:xfrm>
          <a:prstGeom prst="rect">
            <a:avLst/>
          </a:prstGeom>
          <a:solidFill>
            <a:srgbClr val="417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4946904"/>
            <a:ext cx="1024128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192E4B"/>
                </a:solidFill>
                <a:latin typeface="Aptos"/>
              </a:rPr>
              <a:t>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5247495"/>
            <a:ext cx="1024128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 dirty="0">
                <a:solidFill>
                  <a:srgbClr val="242E38"/>
                </a:solidFill>
                <a:latin typeface="Aptos"/>
              </a:rPr>
              <a:t>Verify outcomes and maintain traceability across the complete workflow.</a:t>
            </a:r>
            <a:endParaRPr lang="en-US" sz="1200" b="0" dirty="0">
              <a:solidFill>
                <a:srgbClr val="242E38"/>
              </a:solidFill>
              <a:latin typeface="Aptos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007ADB2E-66C3-EDBC-1485-B0696925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1B8482"/>
                </a:solidFill>
                <a:latin typeface="Aptos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7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700" b="1">
                <a:solidFill>
                  <a:srgbClr val="192E4B"/>
                </a:solidFill>
                <a:latin typeface="Aptos"/>
              </a:rPr>
              <a:t>Knowledge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>
                <a:solidFill>
                  <a:srgbClr val="5B6B7A"/>
                </a:solidFill>
                <a:latin typeface="Aptos"/>
              </a:rPr>
              <a:t>WINTRUST  |  MC-IV: GENAI IN AGENTS  |  TRAINING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10698480" cy="73152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508760"/>
            <a:ext cx="64008" cy="73152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618488"/>
            <a:ext cx="10424159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192E4B"/>
                </a:solidFill>
                <a:latin typeface="Aptos"/>
              </a:rPr>
              <a:t>Is every workflow that calls an LLM an agent?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20824"/>
            <a:ext cx="10424159" cy="12801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0">
                <a:solidFill>
                  <a:srgbClr val="242E38"/>
                </a:solidFill>
                <a:latin typeface="Aptos"/>
              </a:rPr>
              <a:t>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68296"/>
            <a:ext cx="10698480" cy="73152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368296"/>
            <a:ext cx="64008" cy="73152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2478024"/>
            <a:ext cx="10424159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192E4B"/>
                </a:solidFill>
                <a:latin typeface="Aptos"/>
              </a:rPr>
              <a:t>Why might a deterministic workflow be preferable?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880360"/>
            <a:ext cx="10424159" cy="12801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0">
                <a:solidFill>
                  <a:srgbClr val="242E38"/>
                </a:solidFill>
                <a:latin typeface="Aptos"/>
              </a:rPr>
              <a:t>Predictability, testability, lower complexity, and easier governance.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227832"/>
            <a:ext cx="10698480" cy="73152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3227832"/>
            <a:ext cx="64008" cy="73152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337560"/>
            <a:ext cx="10424159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192E4B"/>
                </a:solidFill>
                <a:latin typeface="Aptos"/>
              </a:rPr>
              <a:t>Why is complex incident investigation a potential agentic use case?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3739896"/>
            <a:ext cx="10424159" cy="12801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0">
                <a:solidFill>
                  <a:srgbClr val="242E38"/>
                </a:solidFill>
                <a:latin typeface="Aptos"/>
              </a:rPr>
              <a:t>The next diagnostic may depend on intermediate findings.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87368"/>
            <a:ext cx="10698480" cy="73152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4087368"/>
            <a:ext cx="64008" cy="73152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4197096"/>
            <a:ext cx="10424159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192E4B"/>
                </a:solidFill>
                <a:latin typeface="Aptos"/>
              </a:rPr>
              <a:t>Does an agentic recommendation authorize a production change?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599431"/>
            <a:ext cx="10424159" cy="12801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0">
                <a:solidFill>
                  <a:srgbClr val="242E38"/>
                </a:solidFill>
                <a:latin typeface="Aptos"/>
              </a:rPr>
              <a:t>No. Authorization is a separate control.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946904"/>
            <a:ext cx="10698480" cy="731520"/>
          </a:xfrm>
          <a:prstGeom prst="roundRect">
            <a:avLst/>
          </a:prstGeom>
          <a:solidFill>
            <a:srgbClr val="EFF4F8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" y="4946904"/>
            <a:ext cx="64008" cy="731520"/>
          </a:xfrm>
          <a:prstGeom prst="rect">
            <a:avLst/>
          </a:prstGeom>
          <a:solidFill>
            <a:srgbClr val="1B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" y="5056632"/>
            <a:ext cx="10424159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192E4B"/>
                </a:solidFill>
                <a:latin typeface="Aptos"/>
              </a:rPr>
              <a:t>What is needed before increasing autonomy?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5458968"/>
            <a:ext cx="10424159" cy="12801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0">
                <a:solidFill>
                  <a:srgbClr val="242E38"/>
                </a:solidFill>
                <a:latin typeface="Aptos"/>
              </a:rPr>
              <a:t>Bounded permissions, reliable evidence, validation, stop conditions, auditability, and oversight.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BAF9D8E-47AC-E343-B9A4-E2A5C80A4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8" grpId="0"/>
      <p:bldP spid="22" grpId="0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>
                <a:solidFill>
                  <a:srgbClr val="9ED3CF"/>
                </a:solidFill>
                <a:latin typeface="Aptos"/>
              </a:rPr>
              <a:t>MC-IV: GENAI IN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241280" cy="9144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ptos"/>
              </a:rPr>
              <a:t>Choose autonomy deliberately.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34640"/>
            <a:ext cx="9875520" cy="128650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000" b="0" dirty="0">
                <a:solidFill>
                  <a:srgbClr val="E0E9F1"/>
                </a:solidFill>
                <a:latin typeface="Aptos"/>
              </a:rPr>
              <a:t>GenAI can explain and recommend. </a:t>
            </a:r>
            <a:endParaRPr lang="en-US" sz="2000" b="0" dirty="0">
              <a:solidFill>
                <a:srgbClr val="E0E9F1"/>
              </a:solidFill>
              <a:latin typeface="Aptos"/>
            </a:endParaRPr>
          </a:p>
          <a:p>
            <a:r>
              <a:rPr sz="2000" b="0" dirty="0">
                <a:solidFill>
                  <a:srgbClr val="E0E9F1"/>
                </a:solidFill>
                <a:latin typeface="Aptos"/>
              </a:rPr>
              <a:t>Deterministic workflows execute known rules. </a:t>
            </a:r>
            <a:endParaRPr lang="en-US" sz="2000" b="0" dirty="0">
              <a:solidFill>
                <a:srgbClr val="E0E9F1"/>
              </a:solidFill>
              <a:latin typeface="Aptos"/>
            </a:endParaRPr>
          </a:p>
          <a:p>
            <a:r>
              <a:rPr sz="2000" b="0" dirty="0">
                <a:solidFill>
                  <a:srgbClr val="E0E9F1"/>
                </a:solidFill>
                <a:latin typeface="Aptos"/>
              </a:rPr>
              <a:t>Agentic systems adapt their next steps. </a:t>
            </a:r>
            <a:endParaRPr lang="en-US" sz="2000" b="0" dirty="0">
              <a:solidFill>
                <a:srgbClr val="E0E9F1"/>
              </a:solidFill>
              <a:latin typeface="Aptos"/>
            </a:endParaRPr>
          </a:p>
          <a:p>
            <a:r>
              <a:rPr sz="2000" b="0" dirty="0">
                <a:solidFill>
                  <a:srgbClr val="E0E9F1"/>
                </a:solidFill>
                <a:latin typeface="Aptos"/>
              </a:rPr>
              <a:t>Human approval remains essential wherever risk and authority require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120640"/>
            <a:ext cx="987552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700" b="1">
                <a:solidFill>
                  <a:srgbClr val="9ED3CF"/>
                </a:solidFill>
                <a:latin typeface="Aptos"/>
              </a:rPr>
              <a:t>Ask whether adaptive autonomy creates enough business value to justify its added complexity and risk.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263640"/>
            <a:ext cx="73152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900" b="1">
                <a:solidFill>
                  <a:srgbClr val="BECDDB"/>
                </a:solidFill>
                <a:latin typeface="Aptos"/>
              </a:rPr>
              <a:t>TRAINING SIMULATION  |  NO AGENTS CREATED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14F040-6EFB-F761-23C9-0CDFC6271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B2743-E7EB-4EDA-99DD-3E50EDFDA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282855" cy="1143000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D88BF-4C64-684A-E31B-A38E0D0E7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282855" cy="4525963"/>
          </a:xfr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F566B-04ED-66BE-E4F7-9D5692A3B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32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3591</Words>
  <Application>Microsoft Office PowerPoint</Application>
  <PresentationFormat>Widescreen</PresentationFormat>
  <Paragraphs>449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Ajay Singala</dc:creator>
  <cp:keywords/>
  <dc:description>generated using python-pptx</dc:description>
  <cp:lastModifiedBy>Ajay Singala</cp:lastModifiedBy>
  <cp:revision>26</cp:revision>
  <dcterms:created xsi:type="dcterms:W3CDTF">2013-01-27T09:14:16Z</dcterms:created>
  <dcterms:modified xsi:type="dcterms:W3CDTF">2026-10-14T10:52:25Z</dcterms:modified>
  <cp:category/>
</cp:coreProperties>
</file>