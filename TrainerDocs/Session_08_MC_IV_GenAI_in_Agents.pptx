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8" r:id="rId3"/>
    <p:sldId id="294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89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95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6" autoAdjust="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3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815353-5E7F-4C1B-88B6-CA6528D20494}" type="datetimeFigureOut">
              <a:rPr lang="en-IN" smtClean="0"/>
              <a:t>18-10-2026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DDA54-0DEF-4F39-B38D-BB2E4B5B7A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2147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F71D1-8B45-4424-9AB1-AE7B22B1B76B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C4950-CC70-4455-B575-8CBD0C8F84AF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727721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B4244-C99C-4259-A842-D0A23076D82A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997DA-80DE-4A37-8B73-E1FEEC7BFD78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6DD5F-71D2-4DC8-9414-FCB753AE335A}" type="datetime1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C6B8B-A953-4E78-B369-0C7BD1B98C01}" type="datetime1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B7570-0E9D-45FF-A9C2-4494A66763DE}" type="datetime1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52958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6481A-414C-4842-B32F-75A8C6868F30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DC546-54D5-4258-B1B0-5299DB9F0806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EC723-2C17-4BFA-913D-CAAC70914B3E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D887A-A898-423D-A81C-ACB5C164C4A9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67E404-4AC7-457C-8FEF-47FE97DB61D4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2E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8732520" y="731520"/>
            <a:ext cx="2148840" cy="2148840"/>
          </a:xfrm>
          <a:prstGeom prst="ellipse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75520" y="2011680"/>
            <a:ext cx="1508760" cy="1508760"/>
          </a:xfrm>
          <a:prstGeom prst="ellipse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183879" y="2971800"/>
            <a:ext cx="1005840" cy="1005840"/>
          </a:xfrm>
          <a:prstGeom prst="ellipse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097280"/>
            <a:ext cx="70408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9ED3CF"/>
                </a:solidFill>
                <a:latin typeface="Aptos"/>
              </a:rPr>
              <a:t>WINTRUST AI CAPABILITY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7132320" cy="10972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Aptos"/>
              </a:rPr>
              <a:t>MC-IV: GenAI in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676656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200" b="0" dirty="0">
                <a:solidFill>
                  <a:srgbClr val="E0E9F1"/>
                </a:solidFill>
                <a:latin typeface="Aptos"/>
              </a:rPr>
              <a:t>Introduction to agentic patterns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6858000" cy="594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ptos"/>
              </a:rPr>
              <a:t>Common Masterclass  |  Data + Enterprise 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685800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0" dirty="0">
                <a:solidFill>
                  <a:srgbClr val="BECDDB"/>
                </a:solidFill>
                <a:latin typeface="Aptos"/>
              </a:rPr>
              <a:t>•  Copilot Chat </a:t>
            </a:r>
            <a:r>
              <a:rPr lang="en-IN" sz="1400" dirty="0">
                <a:solidFill>
                  <a:srgbClr val="BECDDB"/>
                </a:solidFill>
                <a:latin typeface="Aptos"/>
              </a:rPr>
              <a:t>• GitHub Copilot </a:t>
            </a:r>
            <a:r>
              <a:rPr sz="1400" b="0" dirty="0">
                <a:solidFill>
                  <a:srgbClr val="BECDDB"/>
                </a:solidFill>
                <a:latin typeface="Aptos"/>
              </a:rPr>
              <a:t>•  No agents created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73152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900" b="1">
                <a:solidFill>
                  <a:srgbClr val="9ED3CF"/>
                </a:solidFill>
                <a:latin typeface="Aptos"/>
              </a:rPr>
              <a:t>TRAINING SIMULATION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AF0384-8F93-C904-9783-9937028E756E}"/>
              </a:ext>
            </a:extLst>
          </p:cNvPr>
          <p:cNvSpPr txBox="1"/>
          <p:nvPr/>
        </p:nvSpPr>
        <p:spPr>
          <a:xfrm>
            <a:off x="777240" y="3456432"/>
            <a:ext cx="61401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6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From AI-assisted </a:t>
            </a:r>
            <a:r>
              <a:rPr lang="en-IN" sz="1600" dirty="0">
                <a:solidFill>
                  <a:schemeClr val="bg1"/>
                </a:solidFill>
                <a:latin typeface="Aptos" panose="020B0004020202020204" pitchFamily="34" charset="0"/>
              </a:rPr>
              <a:t>tasks</a:t>
            </a:r>
            <a:r>
              <a:rPr lang="en-IN" sz="16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to controlled, goal-directed workflows</a:t>
            </a:r>
            <a:r>
              <a:rPr lang="en-IN" sz="1600" dirty="0">
                <a:solidFill>
                  <a:schemeClr val="bg1"/>
                </a:solidFill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IN" sz="1050" dirty="0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33CBC0C-7B74-9991-0BFF-AF2AC3D3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rPr lang="en-US" dirty="0"/>
              <a:t>Recap Last Session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Apply data-minimization principles when using GenAI.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Recognize prompt injection and untrusted content.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Evaluate AI-generated recommendations for risk and evidence.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Identify when verification or human approval is required.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Apply a practical checklist before using AI output.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295423-9011-2EEA-B58A-E1D0A2BF4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2FAA4-A5C3-54FE-D26E-D75C37168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997D42-A806-FA7F-B2EC-475EAE776129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rPr lang="en-US" dirty="0"/>
              <a:t>Learning Objectives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843C24-007A-683C-A3CE-4819D22CA11D}"/>
              </a:ext>
            </a:extLst>
          </p:cNvPr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58CCDC-A416-5BEE-D87F-7C7C44BE542F}"/>
              </a:ext>
            </a:extLst>
          </p:cNvPr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11CFB6-DDED-53F6-7321-C3A517D17D70}"/>
              </a:ext>
            </a:extLst>
          </p:cNvPr>
          <p:cNvSpPr txBox="1"/>
          <p:nvPr/>
        </p:nvSpPr>
        <p:spPr>
          <a:xfrm>
            <a:off x="731520" y="1417320"/>
            <a:ext cx="10789920" cy="25853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Distinguish a conventional GenAI interaction, a deterministic workflow, and an agentic system.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Explain the key agentic patterns: tool use, planning, orchestration, state, and human-in-the-loop control.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when dynamic decision-making adds value and when deterministic automation is preferable.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Evaluate agentic use cases for risk, autonomy, verification, auditability, and human approval.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Recommend an appropriate architecture for Data and Enterprise Ops scenarios without building an agent.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3599DD-9E20-EF25-3A88-5C6664E9E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445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33239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IN" b="1" dirty="0"/>
              <a:t>Why agentic AI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A masterclass in architecture decisions, not agent 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3684085"/>
          </a:xfrm>
          <a:prstGeom prst="rect">
            <a:avLst/>
          </a:prstGeom>
          <a:noFill/>
        </p:spPr>
        <p:txBody>
          <a:bodyPr wrap="square" lIns="73152" tIns="36576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Traditional GenAI often responds to a prompt.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Agentic systems can use a goal to determine and coordinate a sequence of steps.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 chatbot answers a question.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 workflow executes predefined steps.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An agentic system can select or adapt steps based on context, observations, and intermediate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Greater autonomy introduces additional control requirements.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More autonomy is not automatically more intelligence or more business value.</a:t>
            </a:r>
            <a:endParaRPr lang="en-IN" dirty="0">
              <a:latin typeface="Aptos" panose="020B000402020202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56A06C-6471-9841-AA8F-9DF568307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Three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A solution can combine all three; an LLM call alone does not make a system agentic.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352044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37360"/>
            <a:ext cx="64008" cy="342900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84708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1. GenAI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249424"/>
            <a:ext cx="324612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Prompt → response → human decides</a:t>
            </a:r>
            <a:br/>
            <a:br/>
            <a:r>
              <a:rPr sz="1200" b="0">
                <a:solidFill>
                  <a:srgbClr val="242E38"/>
                </a:solidFill>
                <a:latin typeface="Aptos"/>
              </a:rPr>
              <a:t>Example: summarize an incident and list plausible causes.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64008" cy="342900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84708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2. Deterministic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49424"/>
            <a:ext cx="324612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Predefined rules → predefined steps → recorded result</a:t>
            </a:r>
            <a:br/>
            <a:br/>
            <a:r>
              <a:rPr sz="1200" b="0">
                <a:solidFill>
                  <a:srgbClr val="242E38"/>
                </a:solidFill>
                <a:latin typeface="Aptos"/>
              </a:rPr>
              <a:t>Example: escalate a ticket when an approved SLA rule is met.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737360"/>
            <a:ext cx="352044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1000" y="1737360"/>
            <a:ext cx="64008" cy="3429000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65592" y="184708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3. Agentic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249424"/>
            <a:ext cx="324612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Goal → observe → choose next step → use tools → evaluate</a:t>
            </a:r>
            <a:br/>
            <a:br/>
            <a:r>
              <a:rPr sz="1200" b="0">
                <a:solidFill>
                  <a:srgbClr val="242E38"/>
                </a:solidFill>
                <a:latin typeface="Aptos"/>
              </a:rPr>
              <a:t>Example: select a permitted diagnostic based on prior findings.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72E90FD-B214-4876-DE32-5652857CD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What makes a system agentic?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Use these characteristics as an evaluation framework, not a rigid checklist.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74720" cy="15727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64008" cy="1572768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Goal-directed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3200400" cy="9692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Works toward a defined outcome.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45920"/>
            <a:ext cx="3474720" cy="15727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80" y="1645920"/>
            <a:ext cx="64008" cy="1572768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0872" y="175564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State-aware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157984"/>
            <a:ext cx="3200400" cy="9692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Maintains context and intermediate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3474720" cy="15727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40" y="1645920"/>
            <a:ext cx="64008" cy="1572768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85632" y="175564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2157984"/>
            <a:ext cx="3200400" cy="9692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Selects or revises a sequence of steps.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611880"/>
            <a:ext cx="3474720" cy="15727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611880"/>
            <a:ext cx="64008" cy="1572768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72160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Tool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123944"/>
            <a:ext cx="3200400" cy="9692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Invokes permitted capabilities.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611880"/>
            <a:ext cx="3474720" cy="15727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26280" y="3611880"/>
            <a:ext cx="64008" cy="1572768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90872" y="372160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4123944"/>
            <a:ext cx="3200400" cy="9692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Evaluates results and chooses what next.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3611880"/>
            <a:ext cx="3474720" cy="15727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321040" y="3611880"/>
            <a:ext cx="64008" cy="1572768"/>
          </a:xfrm>
          <a:prstGeom prst="rect">
            <a:avLst/>
          </a:prstGeom>
          <a:solidFill>
            <a:srgbClr val="B1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72160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Bounded autonomy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123944"/>
            <a:ext cx="3200400" cy="9692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Operates within permissions and stop rules.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945FCAF4-B251-6BAB-C12A-F538615CC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The agentic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Continue, stop, ask for approval, or report completion based on results and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40280"/>
            <a:ext cx="2057400" cy="15087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64008" cy="150876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2350008"/>
            <a:ext cx="17830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1">
                <a:solidFill>
                  <a:srgbClr val="192E4B"/>
                </a:solidFill>
                <a:latin typeface="Aptos"/>
              </a:rPr>
              <a:t>1. Goal and</a:t>
            </a:r>
            <a:br/>
            <a:r>
              <a:rPr sz="1400" b="1">
                <a:solidFill>
                  <a:srgbClr val="192E4B"/>
                </a:solidFill>
                <a:latin typeface="Aptos"/>
              </a:rPr>
              <a:t>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743200"/>
            <a:ext cx="25603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100" b="1">
                <a:solidFill>
                  <a:srgbClr val="1B8482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2240280"/>
            <a:ext cx="2057400" cy="15087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52928" y="2240280"/>
            <a:ext cx="64008" cy="150876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17520" y="2350008"/>
            <a:ext cx="17830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1">
                <a:solidFill>
                  <a:srgbClr val="192E4B"/>
                </a:solidFill>
                <a:latin typeface="Aptos"/>
              </a:rPr>
              <a:t>2. Observe current</a:t>
            </a:r>
            <a:br/>
            <a:r>
              <a:rPr sz="1400" b="1">
                <a:solidFill>
                  <a:srgbClr val="192E4B"/>
                </a:solidFill>
                <a:latin typeface="Aptos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7" y="2743200"/>
            <a:ext cx="25603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100" b="1">
                <a:solidFill>
                  <a:srgbClr val="1B8482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2936" y="2240280"/>
            <a:ext cx="2057400" cy="15087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02936" y="2240280"/>
            <a:ext cx="64008" cy="150876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7" y="2350008"/>
            <a:ext cx="17830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1">
                <a:solidFill>
                  <a:srgbClr val="192E4B"/>
                </a:solidFill>
                <a:latin typeface="Aptos"/>
              </a:rPr>
              <a:t>3. Choose next</a:t>
            </a:r>
            <a:br/>
            <a:r>
              <a:rPr sz="1400" b="1">
                <a:solidFill>
                  <a:srgbClr val="192E4B"/>
                </a:solidFill>
                <a:latin typeface="Aptos"/>
              </a:rPr>
              <a:t>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0336" y="2743200"/>
            <a:ext cx="25603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100" b="1">
                <a:solidFill>
                  <a:srgbClr val="1B8482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52944" y="2240280"/>
            <a:ext cx="2057400" cy="15087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552944" y="2240280"/>
            <a:ext cx="64008" cy="150876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17536" y="2350008"/>
            <a:ext cx="17830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1">
                <a:solidFill>
                  <a:srgbClr val="192E4B"/>
                </a:solidFill>
                <a:latin typeface="Aptos"/>
              </a:rPr>
              <a:t>4. Use approved tool</a:t>
            </a:r>
            <a:br/>
            <a:r>
              <a:rPr sz="1400" b="1">
                <a:solidFill>
                  <a:srgbClr val="192E4B"/>
                </a:solidFill>
                <a:latin typeface="Aptos"/>
              </a:rPr>
              <a:t>or request 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3" y="2743200"/>
            <a:ext cx="25603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100" b="1">
                <a:solidFill>
                  <a:srgbClr val="1B8482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2952" y="2240280"/>
            <a:ext cx="2057400" cy="15087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902952" y="2240280"/>
            <a:ext cx="64008" cy="150876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67544" y="2350008"/>
            <a:ext cx="17830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1">
                <a:solidFill>
                  <a:srgbClr val="192E4B"/>
                </a:solidFill>
                <a:latin typeface="Aptos"/>
              </a:rPr>
              <a:t>5. Evaluate the</a:t>
            </a:r>
            <a:br/>
            <a:r>
              <a:rPr sz="1400" b="1">
                <a:solidFill>
                  <a:srgbClr val="192E4B"/>
                </a:solidFill>
                <a:latin typeface="Aptos"/>
              </a:rPr>
              <a:t>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700" b="1">
                <a:solidFill>
                  <a:srgbClr val="192E4B"/>
                </a:solidFill>
                <a:latin typeface="Aptos"/>
              </a:rPr>
              <a:t>Stop when the goal is met, evidence is insufficient, a limit is reached, or human judgment is required.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77D1C303-42D1-02CE-DEB6-377AD0A5C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Core agentic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Patterns describe control and coordination; the label alone does not guarantee autonomy.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257800" cy="1143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00200"/>
            <a:ext cx="64008" cy="114300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09928"/>
            <a:ext cx="49834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Tool-using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12264"/>
            <a:ext cx="4983480" cy="539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100" b="0">
                <a:solidFill>
                  <a:srgbClr val="242E38"/>
                </a:solidFill>
                <a:latin typeface="Aptos"/>
              </a:rPr>
              <a:t>Selects from permitted tools to retrieve information or perform a task.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1143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1600200"/>
            <a:ext cx="64008" cy="114300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709928"/>
            <a:ext cx="49834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Planner-executor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12264"/>
            <a:ext cx="4983480" cy="539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100" b="0">
                <a:solidFill>
                  <a:srgbClr val="242E38"/>
                </a:solidFill>
                <a:latin typeface="Aptos"/>
              </a:rPr>
              <a:t>Plans steps, carries them out, and checks intermediate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0088"/>
            <a:ext cx="5257800" cy="1143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2990088"/>
            <a:ext cx="64008" cy="114300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3099816"/>
            <a:ext cx="49834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502152"/>
            <a:ext cx="4983480" cy="539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100" b="0">
                <a:solidFill>
                  <a:srgbClr val="242E38"/>
                </a:solidFill>
                <a:latin typeface="Aptos"/>
              </a:rPr>
              <a:t>Directs a request to an appropriate workflow, specialist, or tool.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990088"/>
            <a:ext cx="5257800" cy="1143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990088"/>
            <a:ext cx="64008" cy="114300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3099816"/>
            <a:ext cx="49834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Manager-worker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3502152"/>
            <a:ext cx="4983480" cy="539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100" b="0">
                <a:solidFill>
                  <a:srgbClr val="242E38"/>
                </a:solidFill>
                <a:latin typeface="Aptos"/>
              </a:rPr>
              <a:t>Coordinates bounded tasks delegated to specialists.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379976"/>
            <a:ext cx="5257800" cy="1143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4379976"/>
            <a:ext cx="64008" cy="114300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4489704"/>
            <a:ext cx="49834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Multi-agent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892040"/>
            <a:ext cx="4983480" cy="539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100" b="0">
                <a:solidFill>
                  <a:srgbClr val="242E38"/>
                </a:solidFill>
                <a:latin typeface="Aptos"/>
              </a:rPr>
              <a:t>Multiple components contribute different capabilities or perspectives.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379976"/>
            <a:ext cx="5257800" cy="1143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55080" y="4379976"/>
            <a:ext cx="64008" cy="114300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9672" y="4489704"/>
            <a:ext cx="49834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Human-in-the-loop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4892040"/>
            <a:ext cx="4983480" cy="539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100" b="0">
                <a:solidFill>
                  <a:srgbClr val="242E38"/>
                </a:solidFill>
                <a:latin typeface="Aptos"/>
              </a:rPr>
              <a:t>Pauses for human input, review, or authorization.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5C3B3285-1EA9-CCEC-3A8D-004A5787A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Single-agent vs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Start with the simplest architecture that meets the business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5120640" cy="33375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737360"/>
            <a:ext cx="64008" cy="333756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847088"/>
            <a:ext cx="48463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Single-agent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49424"/>
            <a:ext cx="4846320" cy="27340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• One decision-making component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Uses tools and context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Easier to trace and govern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Often enough for a bounded task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120640" cy="33375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64008" cy="333756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1" y="1847088"/>
            <a:ext cx="48463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Multi-agent pattern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1" y="2249424"/>
            <a:ext cx="4846320" cy="27340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• Multiple specialised components coordinate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Can separate research, analysis, review, synthesis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Adds coordination overhead and inconsistency risks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Requires a larger testing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40680"/>
            <a:ext cx="10332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600" b="1">
                <a:solidFill>
                  <a:srgbClr val="192E4B"/>
                </a:solidFill>
                <a:latin typeface="Aptos"/>
              </a:rPr>
              <a:t>Use multiple agents only when separation of responsibilities creates measurable value.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9A107BE-E2AC-C066-5226-6BDDB6B29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Where autonomy creates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Controls must cover the whole process, not just the initial prompt.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480560"/>
          </a:xfrm>
          <a:prstGeom prst="rect">
            <a:avLst/>
          </a:prstGeom>
          <a:noFill/>
        </p:spPr>
        <p:txBody>
          <a:bodyPr wrap="square" lIns="73152" tIns="36576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Tool permissions and least privilege.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Validation of tool inputs and outputs.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Limits on iterations, cost, and execution time.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Human approval for high-impact actions.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Traceability of decisions and tool calls.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Safe handling of untrusted instructions and retrieved content.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Recovery and rollback plans for state-changing actions.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639004-AAA0-6741-4197-5AF67782E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 dirty="0">
                <a:solidFill>
                  <a:srgbClr val="192E4B"/>
                </a:solidFill>
                <a:latin typeface="Aptos"/>
              </a:rPr>
              <a:t>From Copilot response to agentic decision-making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Copilot Chat analyses supplied text only; no operational tools are invoked.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474720" cy="3291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737360"/>
            <a:ext cx="64008" cy="329184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84708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49424"/>
            <a:ext cx="3200400" cy="2688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Summarize the incident and separate facts from hypotheses.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474720" cy="3291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37360"/>
            <a:ext cx="64008" cy="329184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84708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249424"/>
            <a:ext cx="3200400" cy="2688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Recommend the next three investigative steps and explain why.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737360"/>
            <a:ext cx="3474720" cy="3291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79" y="1737360"/>
            <a:ext cx="64008" cy="3291840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19871" y="1847088"/>
            <a:ext cx="32004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1" y="2249424"/>
            <a:ext cx="3200400" cy="2688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Identify evidence, approval gates, and how next steps might adapt.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E52F99A-D3BD-2784-CDB0-CCB92676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Complex incident: INC-5837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Fictional production scenario; root cause is unconfirmed.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66160" cy="4434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64008" cy="4434840"/>
          </a:xfrm>
          <a:prstGeom prst="rect">
            <a:avLst/>
          </a:prstGeom>
          <a:solidFill>
            <a:srgbClr val="B1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709928"/>
            <a:ext cx="32918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Business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112264"/>
            <a:ext cx="3291840" cy="383133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• Payment API success: 99.95% → 96.8%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p95 latency: 350 ms → 2.4 s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1,240 requests retried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Duplicate charges, if any, unknown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4434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15968" y="1600200"/>
            <a:ext cx="64008" cy="443484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59" y="1709928"/>
            <a:ext cx="32918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Technical signals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112264"/>
            <a:ext cx="3291840" cy="383133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• DB CPU peaked at 94%; pool 97%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Queue: 800 → 12,600 messages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Reconciliation batch began 6 min before first alert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New API release deployed 18 min before alert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Provider timeouts: 0.2% → 4.5%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1600200"/>
            <a:ext cx="3566160" cy="4434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91856" y="1600200"/>
            <a:ext cx="64008" cy="4434840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56448" y="1709928"/>
            <a:ext cx="32918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Evidence gaps and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112264"/>
            <a:ext cx="3291840" cy="383133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100" b="0">
                <a:solidFill>
                  <a:srgbClr val="242E38"/>
                </a:solidFill>
                <a:latin typeface="Aptos"/>
              </a:rPr>
              <a:t>• No distributed trace or query-plan analysis</a:t>
            </a:r>
            <a:br/>
            <a:r>
              <a:rPr sz="1100" b="0">
                <a:solidFill>
                  <a:srgbClr val="242E38"/>
                </a:solidFill>
                <a:latin typeface="Aptos"/>
              </a:rPr>
              <a:t>• No release comparison or queue-age analysis</a:t>
            </a:r>
            <a:br/>
            <a:r>
              <a:rPr sz="1100" b="0">
                <a:solidFill>
                  <a:srgbClr val="242E38"/>
                </a:solidFill>
                <a:latin typeface="Aptos"/>
              </a:rPr>
              <a:t>• Payment reconciliation incomplete</a:t>
            </a:r>
            <a:br/>
            <a:r>
              <a:rPr sz="1100" b="0">
                <a:solidFill>
                  <a:srgbClr val="242E38"/>
                </a:solidFill>
                <a:latin typeface="Aptos"/>
              </a:rPr>
              <a:t>• No approved rollback decision</a:t>
            </a:r>
            <a:br/>
            <a:r>
              <a:rPr sz="1100" b="0">
                <a:solidFill>
                  <a:srgbClr val="242E38"/>
                </a:solidFill>
                <a:latin typeface="Aptos"/>
              </a:rPr>
              <a:t>• Do not replay payments, restart, or roll back without authorization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8C82A5A-2342-3FC2-F3CB-0A9980EE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4708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 dirty="0">
                <a:solidFill>
                  <a:srgbClr val="192E4B"/>
                </a:solidFill>
                <a:latin typeface="Aptos"/>
              </a:rPr>
              <a:t>Copilot sequence: summarize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Keep the same incident context in the Copilot Chat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268712" cy="4434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00200"/>
            <a:ext cx="64008" cy="443484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09928"/>
            <a:ext cx="502920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 dirty="0">
                <a:solidFill>
                  <a:srgbClr val="192E4B"/>
                </a:solidFill>
                <a:latin typeface="Aptos"/>
              </a:rPr>
              <a:t>Prompt </a:t>
            </a:r>
            <a:r>
              <a:rPr lang="en-US" sz="1600" b="1" dirty="0">
                <a:solidFill>
                  <a:srgbClr val="192E4B"/>
                </a:solidFill>
                <a:latin typeface="Aptos"/>
              </a:rPr>
              <a:t>1</a:t>
            </a:r>
            <a:r>
              <a:rPr sz="1600" b="1" dirty="0">
                <a:solidFill>
                  <a:srgbClr val="192E4B"/>
                </a:solidFill>
                <a:latin typeface="Aptos"/>
              </a:rPr>
              <a:t>: Summarize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12264"/>
            <a:ext cx="9737572" cy="285616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IN" sz="1600" dirty="0">
                <a:latin typeface="Aptos" panose="020B0004020202020204" pitchFamily="34" charset="0"/>
              </a:rPr>
              <a:t>Summarize incident INC-5837 for an incident commander.</a:t>
            </a:r>
          </a:p>
          <a:p>
            <a:r>
              <a:rPr lang="en-IN" sz="1600" dirty="0">
                <a:latin typeface="Aptos" panose="020B0004020202020204" pitchFamily="34" charset="0"/>
              </a:rPr>
              <a:t> </a:t>
            </a:r>
          </a:p>
          <a:p>
            <a:r>
              <a:rPr lang="en-IN" sz="1600" dirty="0">
                <a:latin typeface="Aptos" panose="020B0004020202020204" pitchFamily="34" charset="0"/>
              </a:rPr>
              <a:t>Organize the summary into: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Confirmed observations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Business impact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Plausible hypotheses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Critical unknowns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Immediate risks requiring attention</a:t>
            </a:r>
          </a:p>
          <a:p>
            <a:r>
              <a:rPr lang="en-IN" sz="1600" dirty="0">
                <a:latin typeface="Aptos" panose="020B0004020202020204" pitchFamily="34" charset="0"/>
              </a:rPr>
              <a:t> </a:t>
            </a:r>
          </a:p>
          <a:p>
            <a:r>
              <a:rPr lang="en-IN" sz="1600" dirty="0">
                <a:latin typeface="Aptos" panose="020B0004020202020204" pitchFamily="34" charset="0"/>
              </a:rPr>
              <a:t>Do not declare a root cause. Do not recommend executing a production change. Use only the supplied incident information.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41E276E-42B3-1750-1B42-36720201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0E40D-92E5-11E3-1D02-9F725ED51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40E832-C7EE-B6A6-114D-1C33622EC39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A10FC-A86A-EDB7-960D-18E467052612}"/>
              </a:ext>
            </a:extLst>
          </p:cNvPr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95BB37-B4D0-AA72-0FEE-AD6FC57F0714}"/>
              </a:ext>
            </a:extLst>
          </p:cNvPr>
          <p:cNvSpPr txBox="1"/>
          <p:nvPr/>
        </p:nvSpPr>
        <p:spPr>
          <a:xfrm>
            <a:off x="594360" y="521207"/>
            <a:ext cx="10972800" cy="4708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 dirty="0">
                <a:solidFill>
                  <a:srgbClr val="192E4B"/>
                </a:solidFill>
                <a:latin typeface="Aptos"/>
              </a:rPr>
              <a:t>Copilot sequence: then recommend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1D910B-B9A7-C6AC-7D45-96FE1062B06C}"/>
              </a:ext>
            </a:extLst>
          </p:cNvPr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Keep the same incident context in the Copilot Chat conversation.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74C82-B2E3-CD55-3FAE-4C8DE651F065}"/>
              </a:ext>
            </a:extLst>
          </p:cNvPr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16" name="Rounded Rectangle 6">
            <a:extLst>
              <a:ext uri="{FF2B5EF4-FFF2-40B4-BE49-F238E27FC236}">
                <a16:creationId xmlns:a16="http://schemas.microsoft.com/office/drawing/2014/main" id="{840A8D68-A89D-2B50-6508-7A8F745E9CDE}"/>
              </a:ext>
            </a:extLst>
          </p:cNvPr>
          <p:cNvSpPr/>
          <p:nvPr/>
        </p:nvSpPr>
        <p:spPr>
          <a:xfrm>
            <a:off x="731520" y="1600200"/>
            <a:ext cx="10268712" cy="4434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D2B0C4-DCA1-25D1-4485-CDA4B671AA22}"/>
              </a:ext>
            </a:extLst>
          </p:cNvPr>
          <p:cNvSpPr/>
          <p:nvPr/>
        </p:nvSpPr>
        <p:spPr>
          <a:xfrm>
            <a:off x="731520" y="1600200"/>
            <a:ext cx="64008" cy="443484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3EAB44-48C5-9B1B-F40C-AD203E82FA11}"/>
              </a:ext>
            </a:extLst>
          </p:cNvPr>
          <p:cNvSpPr txBox="1"/>
          <p:nvPr/>
        </p:nvSpPr>
        <p:spPr>
          <a:xfrm>
            <a:off x="896112" y="1709928"/>
            <a:ext cx="502920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 dirty="0">
                <a:solidFill>
                  <a:srgbClr val="192E4B"/>
                </a:solidFill>
                <a:latin typeface="Aptos"/>
              </a:rPr>
              <a:t>Prompt </a:t>
            </a:r>
            <a:r>
              <a:rPr lang="en-US" sz="1600" b="1" dirty="0">
                <a:solidFill>
                  <a:srgbClr val="192E4B"/>
                </a:solidFill>
                <a:latin typeface="Aptos"/>
              </a:rPr>
              <a:t>2</a:t>
            </a:r>
            <a:r>
              <a:rPr sz="1600" b="1" dirty="0">
                <a:solidFill>
                  <a:srgbClr val="192E4B"/>
                </a:solidFill>
                <a:latin typeface="Aptos"/>
              </a:rPr>
              <a:t>: </a:t>
            </a:r>
            <a:r>
              <a:rPr lang="en-US" sz="1600" b="1" dirty="0">
                <a:solidFill>
                  <a:srgbClr val="192E4B"/>
                </a:solidFill>
                <a:latin typeface="Aptos"/>
              </a:rPr>
              <a:t>Recommend</a:t>
            </a:r>
            <a:endParaRPr sz="1600" b="1" dirty="0">
              <a:solidFill>
                <a:srgbClr val="192E4B"/>
              </a:solidFill>
              <a:latin typeface="Apto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BD4079-8307-5910-DF96-CF5AD7E4F7CB}"/>
              </a:ext>
            </a:extLst>
          </p:cNvPr>
          <p:cNvSpPr txBox="1"/>
          <p:nvPr/>
        </p:nvSpPr>
        <p:spPr>
          <a:xfrm>
            <a:off x="896112" y="2112264"/>
            <a:ext cx="9737572" cy="276383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IN" sz="1600" dirty="0">
                <a:latin typeface="Aptos" panose="020B0004020202020204" pitchFamily="34" charset="0"/>
              </a:rPr>
              <a:t>Based only on the incident information, recommend the three highest-priority next steps for the incident commander.</a:t>
            </a:r>
          </a:p>
          <a:p>
            <a:r>
              <a:rPr lang="en-IN" sz="1600" dirty="0">
                <a:latin typeface="Aptos" panose="020B0004020202020204" pitchFamily="34" charset="0"/>
              </a:rPr>
              <a:t> </a:t>
            </a:r>
          </a:p>
          <a:p>
            <a:r>
              <a:rPr lang="en-IN" sz="1600" dirty="0">
                <a:latin typeface="Aptos" panose="020B0004020202020204" pitchFamily="34" charset="0"/>
              </a:rPr>
              <a:t>For each step, state: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Why it matters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What evidence it should obtain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Whether it is read-only or changes system state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What decision it would help the incident commander make</a:t>
            </a:r>
          </a:p>
          <a:p>
            <a:r>
              <a:rPr lang="en-IN" sz="1600" dirty="0">
                <a:latin typeface="Aptos" panose="020B0004020202020204" pitchFamily="34" charset="0"/>
              </a:rPr>
              <a:t> </a:t>
            </a:r>
          </a:p>
          <a:p>
            <a:r>
              <a:rPr lang="en-IN" sz="1600" dirty="0">
                <a:latin typeface="Aptos" panose="020B0004020202020204" pitchFamily="34" charset="0"/>
              </a:rPr>
              <a:t>Prioritize customer and payment integrity, evidence gathering, and service stability. Do not invent available tools, operational procedures, or approval authority. Do not present a hypothesis as a confirmed cause.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529596C1-EDE6-BEEF-43CD-0A62C07A5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52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 dirty="0">
                <a:solidFill>
                  <a:srgbClr val="192E4B"/>
                </a:solidFill>
                <a:latin typeface="Aptos"/>
              </a:rPr>
              <a:t>Copilot sequence: verify before acting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Verification requires evidence, independent checks, and decision authority.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42062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64008" cy="420624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55648"/>
            <a:ext cx="10241280" cy="31701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700" b="1" dirty="0">
                <a:solidFill>
                  <a:srgbClr val="192E4B"/>
                </a:solidFill>
                <a:latin typeface="Aptos"/>
              </a:rPr>
              <a:t>Prompt </a:t>
            </a:r>
            <a:r>
              <a:rPr lang="en-US" sz="1700" b="1" dirty="0">
                <a:solidFill>
                  <a:srgbClr val="192E4B"/>
                </a:solidFill>
                <a:latin typeface="Aptos"/>
              </a:rPr>
              <a:t>3</a:t>
            </a:r>
            <a:r>
              <a:rPr sz="1700" b="1" dirty="0">
                <a:solidFill>
                  <a:srgbClr val="192E4B"/>
                </a:solidFill>
                <a:latin typeface="Aptos"/>
              </a:rPr>
              <a:t>: Verification and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157984"/>
            <a:ext cx="10241280" cy="254839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IN" sz="1600" dirty="0">
                <a:latin typeface="Aptos" panose="020B0004020202020204" pitchFamily="34" charset="0"/>
              </a:rPr>
              <a:t>For each recommended step, identify the information and checks required before anyone acts on its results.</a:t>
            </a:r>
          </a:p>
          <a:p>
            <a:r>
              <a:rPr lang="en-IN" sz="1600" dirty="0">
                <a:latin typeface="Aptos" panose="020B0004020202020204" pitchFamily="34" charset="0"/>
              </a:rPr>
              <a:t> </a:t>
            </a:r>
          </a:p>
          <a:p>
            <a:r>
              <a:rPr lang="en-IN" sz="1600" dirty="0">
                <a:latin typeface="Aptos" panose="020B0004020202020204" pitchFamily="34" charset="0"/>
              </a:rPr>
              <a:t>Distinguish: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Information that can be collected using read-only diagnostics.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Evidence needed to confirm or reject each major hypothesis.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Actions that could affect payment integrity, service availability, or customer outcomes.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Actions requiring explicit human approval.</a:t>
            </a:r>
          </a:p>
          <a:p>
            <a:pPr lvl="0"/>
            <a:r>
              <a:rPr lang="en-IN" sz="1600" dirty="0">
                <a:latin typeface="Aptos" panose="020B0004020202020204" pitchFamily="34" charset="0"/>
              </a:rPr>
              <a:t>Conditions under which the team should stop and escalate rather than proceed.</a:t>
            </a:r>
          </a:p>
          <a:p>
            <a:r>
              <a:rPr lang="en-IN" sz="1600" dirty="0">
                <a:latin typeface="Aptos" panose="020B0004020202020204" pitchFamily="34" charset="0"/>
              </a:rPr>
              <a:t> </a:t>
            </a:r>
          </a:p>
          <a:p>
            <a:r>
              <a:rPr lang="en-IN" sz="1600" dirty="0">
                <a:latin typeface="Aptos" panose="020B0004020202020204" pitchFamily="34" charset="0"/>
              </a:rPr>
              <a:t>Do not invent </a:t>
            </a:r>
            <a:r>
              <a:rPr lang="en-IN" sz="1600" dirty="0" err="1">
                <a:latin typeface="Aptos" panose="020B0004020202020204" pitchFamily="34" charset="0"/>
              </a:rPr>
              <a:t>WinTrust</a:t>
            </a:r>
            <a:r>
              <a:rPr lang="en-IN" sz="1600" dirty="0">
                <a:latin typeface="Aptos" panose="020B0004020202020204" pitchFamily="34" charset="0"/>
              </a:rPr>
              <a:t> procedures, thresholds, or authorization roles.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32120"/>
            <a:ext cx="10332720" cy="2554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lang="en-US" sz="1300" b="1" dirty="0">
                <a:solidFill>
                  <a:srgbClr val="192E4B"/>
                </a:solidFill>
                <a:latin typeface="Aptos"/>
              </a:rPr>
              <a:t>C</a:t>
            </a:r>
            <a:r>
              <a:rPr sz="1300" b="1" dirty="0">
                <a:solidFill>
                  <a:srgbClr val="192E4B"/>
                </a:solidFill>
                <a:latin typeface="Aptos"/>
              </a:rPr>
              <a:t>heck: </a:t>
            </a:r>
            <a:r>
              <a:rPr lang="en-US" sz="1300" b="1" dirty="0">
                <a:solidFill>
                  <a:srgbClr val="192E4B"/>
                </a:solidFill>
                <a:latin typeface="Aptos"/>
              </a:rPr>
              <a:t> D</a:t>
            </a:r>
            <a:r>
              <a:rPr sz="1300" b="1" dirty="0">
                <a:solidFill>
                  <a:srgbClr val="192E4B"/>
                </a:solidFill>
                <a:latin typeface="Aptos"/>
              </a:rPr>
              <a:t>oes Copilot distinguish facts from hypotheses and avoid claiming the cause is known?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3D01AB3-6F5C-5BBD-EAEB-DE21B2C86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Conceptual bridge: dynamic action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Ask how a hypothetical system might choose a next diagnostic step. Do not build or invoke an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960" cy="429768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64008" cy="429768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98348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US" sz="1600" b="1" dirty="0">
                <a:solidFill>
                  <a:srgbClr val="192E4B"/>
                </a:solidFill>
                <a:latin typeface="Aptos"/>
              </a:rPr>
              <a:t>Prompt 4: </a:t>
            </a:r>
            <a:r>
              <a:rPr sz="1600" b="1" dirty="0">
                <a:solidFill>
                  <a:srgbClr val="192E4B"/>
                </a:solidFill>
                <a:latin typeface="Aptos"/>
              </a:rPr>
              <a:t>Possible findings</a:t>
            </a:r>
            <a:r>
              <a:rPr lang="en-US" sz="1600" b="1" dirty="0">
                <a:solidFill>
                  <a:srgbClr val="192E4B"/>
                </a:solidFill>
                <a:latin typeface="Aptos"/>
              </a:rPr>
              <a:t> and Adaptive reasoning</a:t>
            </a:r>
            <a:endParaRPr sz="1600" b="1" dirty="0">
              <a:solidFill>
                <a:srgbClr val="192E4B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10213848" cy="27330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 dirty="0">
                <a:solidFill>
                  <a:srgbClr val="242E38"/>
                </a:solidFill>
                <a:latin typeface="Aptos"/>
              </a:rPr>
              <a:t>A. Errors mainly on the new release</a:t>
            </a:r>
            <a:br>
              <a:rPr dirty="0"/>
            </a:br>
            <a:r>
              <a:rPr sz="1300" b="0" dirty="0">
                <a:solidFill>
                  <a:srgbClr val="242E38"/>
                </a:solidFill>
                <a:latin typeface="Aptos"/>
              </a:rPr>
              <a:t>B. Errors correlate with provider timeouts</a:t>
            </a:r>
            <a:br>
              <a:rPr dirty="0"/>
            </a:br>
            <a:r>
              <a:rPr sz="1300" b="0" dirty="0">
                <a:solidFill>
                  <a:srgbClr val="242E38"/>
                </a:solidFill>
                <a:latin typeface="Aptos"/>
              </a:rPr>
              <a:t>C. Queue depth keeps rising while consumers are healthy</a:t>
            </a:r>
            <a:br>
              <a:rPr dirty="0"/>
            </a:br>
            <a:r>
              <a:rPr sz="1300" b="0" dirty="0">
                <a:solidFill>
                  <a:srgbClr val="242E38"/>
                </a:solidFill>
                <a:latin typeface="Aptos"/>
              </a:rPr>
              <a:t>D. Reconciliation reveals possible duplicate or unresolved transactions</a:t>
            </a:r>
            <a:br>
              <a:rPr dirty="0"/>
            </a:br>
            <a:br>
              <a:rPr dirty="0"/>
            </a:br>
            <a:r>
              <a:rPr sz="1300" b="0" dirty="0">
                <a:solidFill>
                  <a:srgbClr val="242E38"/>
                </a:solidFill>
                <a:latin typeface="Aptos"/>
              </a:rPr>
              <a:t>These are hypothetical, not confirmed findings.</a:t>
            </a:r>
            <a:endParaRPr lang="en-US" sz="1300" b="0" dirty="0">
              <a:solidFill>
                <a:srgbClr val="242E38"/>
              </a:solidFill>
              <a:latin typeface="Aptos"/>
            </a:endParaRPr>
          </a:p>
          <a:p>
            <a:endParaRPr lang="en-IN" sz="1300" dirty="0">
              <a:solidFill>
                <a:srgbClr val="242E38"/>
              </a:solidFill>
              <a:latin typeface="Aptos"/>
            </a:endParaRPr>
          </a:p>
          <a:p>
            <a:r>
              <a:rPr lang="en-IN" sz="1300" dirty="0">
                <a:latin typeface="Aptos" panose="020B0004020202020204" pitchFamily="34" charset="0"/>
              </a:rPr>
              <a:t>For each finding, identify: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latin typeface="Aptos" panose="020B0004020202020204" pitchFamily="34" charset="0"/>
              </a:rPr>
              <a:t>The next investigation direction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latin typeface="Aptos" panose="020B0004020202020204" pitchFamily="34" charset="0"/>
              </a:rPr>
              <a:t>The evidence still required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latin typeface="Aptos" panose="020B0004020202020204" pitchFamily="34" charset="0"/>
              </a:rPr>
              <a:t>Any actions that must remain human-controlled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latin typeface="Aptos" panose="020B0004020202020204" pitchFamily="34" charset="0"/>
              </a:rPr>
              <a:t>A condition for stopping or escalating</a:t>
            </a:r>
          </a:p>
          <a:p>
            <a:endParaRPr sz="1300" b="0" dirty="0">
              <a:solidFill>
                <a:srgbClr val="242E38"/>
              </a:solidFill>
              <a:latin typeface="Aptos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13492DA-BFEA-76E7-E86C-8C42B1530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What changed across the four steps?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Dynamic selection is an agentic concept, not autonomous execution.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92E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192E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Limitation</a:t>
                      </a:r>
                    </a:p>
                  </a:txBody>
                  <a:tcPr>
                    <a:solidFill>
                      <a:srgbClr val="192E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Summarize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Organizes incident context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Does not establish cause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Recommend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Prioritizes possible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Recommendations may be wrong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Verify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Identifies evidence and controls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Does not obtain missing evidence by itself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Select dynamically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Explains how next step may depend on findings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2E38"/>
                          </a:solidFill>
                        </a:rPr>
                        <a:t>No autonomous execution in this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192E4B"/>
                </a:solidFill>
                <a:latin typeface="Aptos"/>
              </a:rPr>
              <a:t>The move from answering to dynamically selecting and executing actions is an important agentic distinction.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E9E1DE-55F6-89E4-A852-7569D6DDE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Deterministic vs dynamic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A well-designed enterprise solution may combine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3520440" cy="42519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645920"/>
            <a:ext cx="64008" cy="425196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75564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Keep deterministic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57984"/>
            <a:ext cx="3246120" cy="36484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• SLA and threshold checks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Schema/type validation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Approved routing and access rules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Mandatory approval gates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Reconciliation arithmetic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64008" cy="425196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75564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Use GenAI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157984"/>
            <a:ext cx="3246120" cy="36484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• Summarizing evidence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Explaining possible causes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Comparing approaches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Drafting investigation plans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Interpreting unstructured evidence, subject to verification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645920"/>
            <a:ext cx="3520440" cy="425196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1000" y="1645920"/>
            <a:ext cx="64008" cy="4251960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65592" y="175564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Consider agentic 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157984"/>
            <a:ext cx="3246120" cy="36484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• Next step depends on findings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Multiple permitted tools/sources exist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Results can be evaluated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Safe stop conditions exist</a:t>
            </a:r>
            <a:br/>
            <a:r>
              <a:rPr sz="1200" b="0">
                <a:solidFill>
                  <a:srgbClr val="242E38"/>
                </a:solidFill>
                <a:latin typeface="Aptos"/>
              </a:rPr>
              <a:t>• Adaptive value outweighs complexity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30FDACEE-0A35-DA2B-EC10-68AC5F609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Human oversight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The human retains authority where risk, business rules, or consequences require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52044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64008" cy="342900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892807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Human in the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95144"/>
            <a:ext cx="324612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0">
                <a:solidFill>
                  <a:srgbClr val="242E38"/>
                </a:solidFill>
                <a:latin typeface="Aptos"/>
              </a:rPr>
              <a:t>System pauses for human input or approval before proceeding.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2044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783080"/>
            <a:ext cx="64008" cy="342900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892807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Human on the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95144"/>
            <a:ext cx="324612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400" b="0">
                <a:solidFill>
                  <a:srgbClr val="242E38"/>
                </a:solidFill>
                <a:latin typeface="Aptos"/>
              </a:rPr>
              <a:t>Human supervises execution and can intervene.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783080"/>
            <a:ext cx="352044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79" y="1783080"/>
            <a:ext cx="64008" cy="3429000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19871" y="1892807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Human in command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1" y="2295144"/>
            <a:ext cx="324612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Human retains authority over goals, permissions, boundaries, and accountability.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700" b="1">
                <a:solidFill>
                  <a:srgbClr val="B14242"/>
                </a:solidFill>
                <a:latin typeface="Aptos"/>
              </a:rPr>
              <a:t>An AI recommendation does not authorize a production change.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221FCD6-4C12-7527-DB3A-5783F9AC8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Agentic readiness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If decisions are known in advance, a deterministic workflow is often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 lIns="73152" tIns="36576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Is the goal clear and measurable?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Does the workflow genuinely require adaptive decisions?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Are tools and permissions bounded?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Can outputs and actions be verified?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Are stop conditions and escalation paths defined?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Are human approvals explicit?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Can decisions and tool calls be audited?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Is autonomy worth the cost, latency, complexity, and risk?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FE7C0-7E07-014C-67C4-412D15879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Deterministic workflow vs agentic behaviour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GitHub Copilot in VS Code. Static review only; do not build an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507492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64008" cy="342900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892807"/>
            <a:ext cx="48006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What the script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95144"/>
            <a:ext cx="480060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• Applies fixed threshold rules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Produces a fixed review sequence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Returns findings and a proposed plan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Does not connect to monitoring systems or execute actions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074920" cy="342900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64008" cy="342900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1892807"/>
            <a:ext cx="480060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 dirty="0">
                <a:solidFill>
                  <a:srgbClr val="192E4B"/>
                </a:solidFill>
                <a:latin typeface="Aptos"/>
              </a:rPr>
              <a:t>What </a:t>
            </a:r>
            <a:r>
              <a:rPr lang="en-US" sz="1600" b="1" dirty="0">
                <a:solidFill>
                  <a:srgbClr val="192E4B"/>
                </a:solidFill>
                <a:latin typeface="Aptos"/>
              </a:rPr>
              <a:t>to</a:t>
            </a:r>
            <a:r>
              <a:rPr sz="1600" b="1" dirty="0">
                <a:solidFill>
                  <a:srgbClr val="192E4B"/>
                </a:solidFill>
                <a:latin typeface="Aptos"/>
              </a:rPr>
              <a:t>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295144"/>
            <a:ext cx="4800600" cy="28254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• Which steps are deterministic?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Which decisions are fixed?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Where could evidence change the next step?</a:t>
            </a:r>
            <a:br/>
            <a:r>
              <a:rPr sz="1300" b="0">
                <a:solidFill>
                  <a:srgbClr val="242E38"/>
                </a:solidFill>
                <a:latin typeface="Aptos"/>
              </a:rPr>
              <a:t>• What controls would be required for more autonomy?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84E3847-8336-3B58-9AC8-814E50F19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Workflow script: incident_review_workflow.py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Synthetic input only; illustrative thresholds are not approved operational values.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789920" cy="452628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332720" cy="4518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0" dirty="0">
                <a:solidFill>
                  <a:srgbClr val="242E38"/>
                </a:solidFill>
                <a:latin typeface="Consolas"/>
              </a:rPr>
              <a:t>def 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review_incident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(incident):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findings = []</a:t>
            </a:r>
            <a:br>
              <a:rPr sz="1000" dirty="0"/>
            </a:b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# Deterministic rules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if incident["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error_rate_pct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"] &gt;= 5: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findings.append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("HIGH_ERROR_RATE")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if incident["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db_cpu_pct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"] &gt;= 90: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findings.append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("HIGH_DATABASE_CPU")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if incident["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queue_depth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"] &gt;= 10000: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findings.append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("HIGH_QUEUE_DEPTH")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if incident["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payment_integrity_confirmed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"] is False: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findings.append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("PAYMENT_INTEGRITY_UNCONFIRMED")</a:t>
            </a:r>
            <a:br>
              <a:rPr sz="1000" dirty="0"/>
            </a:b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# Fixed workflow: same sequence for every incident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plan = [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"Review incident timeline",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"Check application and dependency telemetry",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"Review queue health",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"Verify payment reconciliation status",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"Prepare findings for incident commander",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]</a:t>
            </a:r>
            <a:br>
              <a:rPr sz="1000" dirty="0"/>
            </a:b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return {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incident_id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": incident["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incident_id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"],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"findings": findings,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review_plan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": plan,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    "</a:t>
            </a:r>
            <a:r>
              <a:rPr sz="1000" b="0" dirty="0" err="1">
                <a:solidFill>
                  <a:srgbClr val="242E38"/>
                </a:solidFill>
                <a:latin typeface="Consolas"/>
              </a:rPr>
              <a:t>production_changes_authorized</a:t>
            </a:r>
            <a:r>
              <a:rPr sz="1000" b="0" dirty="0">
                <a:solidFill>
                  <a:srgbClr val="242E38"/>
                </a:solidFill>
                <a:latin typeface="Consolas"/>
              </a:rPr>
              <a:t>": False,</a:t>
            </a:r>
            <a:br>
              <a:rPr sz="1000" dirty="0"/>
            </a:br>
            <a:r>
              <a:rPr sz="1000" b="0" dirty="0">
                <a:solidFill>
                  <a:srgbClr val="242E38"/>
                </a:solidFill>
                <a:latin typeface="Consolas"/>
              </a:rPr>
              <a:t>    }</a:t>
            </a:r>
            <a:br>
              <a:rPr sz="1000" dirty="0"/>
            </a:br>
            <a:endParaRPr sz="1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2CB76C-17A7-8CCB-A3AA-598339111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GitHub Copilot review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Do not implement the agentic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44200" cy="44348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64008" cy="443484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104698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700" b="1">
                <a:solidFill>
                  <a:srgbClr val="192E4B"/>
                </a:solidFill>
                <a:latin typeface="Aptos"/>
              </a:rPr>
              <a:t>Prompt for Copilot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10469880" cy="350249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IN" sz="1400" dirty="0">
                <a:latin typeface="Aptos" panose="020B0004020202020204" pitchFamily="34" charset="0"/>
              </a:rPr>
              <a:t>Review incident_review_workflow.py.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Do not build an agent or add external integrations.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Explain:</a:t>
            </a:r>
          </a:p>
          <a:p>
            <a:pPr lvl="0"/>
            <a:r>
              <a:rPr lang="en-IN" sz="1400" dirty="0">
                <a:latin typeface="Aptos" panose="020B0004020202020204" pitchFamily="34" charset="0"/>
              </a:rPr>
              <a:t>Which operations are deterministic and why.</a:t>
            </a:r>
          </a:p>
          <a:p>
            <a:pPr lvl="0"/>
            <a:r>
              <a:rPr lang="en-IN" sz="1400" dirty="0">
                <a:latin typeface="Aptos" panose="020B0004020202020204" pitchFamily="34" charset="0"/>
              </a:rPr>
              <a:t>Which decisions are currently fixed regardless of intermediate findings.</a:t>
            </a:r>
          </a:p>
          <a:p>
            <a:pPr lvl="0"/>
            <a:r>
              <a:rPr lang="en-IN" sz="1400" dirty="0">
                <a:latin typeface="Aptos" panose="020B0004020202020204" pitchFamily="34" charset="0"/>
              </a:rPr>
              <a:t>Where a real investigation might need to select its next step based on newly obtained evidence.</a:t>
            </a:r>
          </a:p>
          <a:p>
            <a:pPr lvl="0"/>
            <a:r>
              <a:rPr lang="en-IN" sz="1400" dirty="0">
                <a:latin typeface="Aptos" panose="020B0004020202020204" pitchFamily="34" charset="0"/>
              </a:rPr>
              <a:t>Which decisions could reasonably use GenAI assistance and what evidence would be needed.</a:t>
            </a:r>
          </a:p>
          <a:p>
            <a:pPr lvl="0"/>
            <a:r>
              <a:rPr lang="en-IN" sz="1400" dirty="0">
                <a:latin typeface="Aptos" panose="020B0004020202020204" pitchFamily="34" charset="0"/>
              </a:rPr>
              <a:t>Which actions must remain subject to human approval.</a:t>
            </a:r>
          </a:p>
          <a:p>
            <a:pPr lvl="0"/>
            <a:r>
              <a:rPr lang="en-IN" sz="1400" dirty="0">
                <a:latin typeface="Aptos" panose="020B0004020202020204" pitchFamily="34" charset="0"/>
              </a:rPr>
              <a:t>What controls would be needed before this workflow could safely become more adaptive.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Propose a comparison between the current deterministic workflow and a hypothetical agentic design. Discuss complexity, auditability, testing, operational risk, and business value.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Do not invent approved operational thresholds. Do not claim to have run or tested the script. Do not implement the agentic design.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4CDEBD1-D5A7-6F1C-649C-6994FBEA7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Debrief: what makes it adaptive?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A dynamic decision is useful only when it improves the outcome.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10424160" cy="4389120"/>
          </a:xfrm>
          <a:prstGeom prst="rect">
            <a:avLst/>
          </a:prstGeom>
          <a:noFill/>
        </p:spPr>
        <p:txBody>
          <a:bodyPr wrap="square" lIns="73152" tIns="36576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Threshold checks are deterministic.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The workflow always returns the same sequence of review steps.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Adaptive investigation might prioritize release comparison, provider analysis, queue investigation, or reconciliation based on evidence.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Meaningful adaptive decisions require access to validated evidence.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Production changes remain separate authorization decisions.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More adaptive logic increases requirements for tool boundaries, observability, tests, stop conditions, and approval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192E4B"/>
                </a:solidFill>
                <a:latin typeface="Aptos"/>
              </a:rPr>
              <a:t>Discussion: What measurable benefit would justify replacing parts of this workflow with agentic decision-making?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832F02-5B7E-9549-57CF-4A20C94CD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43294-3C81-3576-DAF2-8A8F8F8BF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B2F545-2AD0-E98A-ABFB-0FA01B779326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rPr lang="en-US" dirty="0"/>
              <a:t>Recap Today’s Objectives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A3CC98-926C-1D7C-DCE0-91BDED5B7488}"/>
              </a:ext>
            </a:extLst>
          </p:cNvPr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2CD4B-776F-FDD6-1A11-14BEE81CFDCA}"/>
              </a:ext>
            </a:extLst>
          </p:cNvPr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779C0F-9D28-6FB9-C67D-BAED0F627580}"/>
              </a:ext>
            </a:extLst>
          </p:cNvPr>
          <p:cNvSpPr txBox="1"/>
          <p:nvPr/>
        </p:nvSpPr>
        <p:spPr>
          <a:xfrm>
            <a:off x="731520" y="1417320"/>
            <a:ext cx="10789920" cy="25853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Distinguish a conventional GenAI interaction, a deterministic workflow, and an agentic system.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Explain the key agentic patterns: tool use, planning, orchestration, state, and human-in-the-loop control.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when dynamic decision-making adds value and when deterministic automation is preferable.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Evaluate agentic use cases for risk, autonomy, verification, auditability, and human approval.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Recommend an appropriate architecture for Data and Enterprise Ops scenarios without building an agent.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4FCFA5-C8AB-6FDE-BDF5-FD934A773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792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Should this be agentic?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Architecture decision exercise. No code or agent implementation.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5074920" cy="35204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737360"/>
            <a:ext cx="64008" cy="352044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847088"/>
            <a:ext cx="48006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Team 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49424"/>
            <a:ext cx="4800600" cy="29169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Evaluate six business scenarios and recommend an appropriate architecture. Explain what should be deterministic, where GenAI helps, where adaptive decisions might add value, and what must remain human-controlled.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5074920" cy="352044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64008" cy="352044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1847088"/>
            <a:ext cx="480060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Expected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249424"/>
            <a:ext cx="4800600" cy="29169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A one-page decision matrix or short presentation covering business objective, architecture choice, human approval, evidence/verification, audit/safety controls, and trade-off versus a simpler option.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38A1B6-CD43-F8D3-85A7-D9B77EA0AFEF}"/>
              </a:ext>
            </a:extLst>
          </p:cNvPr>
          <p:cNvSpPr txBox="1"/>
          <p:nvPr/>
        </p:nvSpPr>
        <p:spPr>
          <a:xfrm>
            <a:off x="3458908" y="6177772"/>
            <a:ext cx="5518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Session_08_MC_IV_Agentic_Concepts_Lab.md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7D518D3-8304-8224-B6D4-1F4423976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Scenario set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Choose a suitable architecture and justify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520440" cy="4160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64008" cy="41605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1. Weekly management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03704"/>
            <a:ext cx="3246120" cy="355701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Compile metrics from approved sources, explain significant changes, and prepare a management summary.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91640"/>
            <a:ext cx="3520440" cy="4160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691640"/>
            <a:ext cx="64008" cy="416052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80136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2. Ticket 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03704"/>
            <a:ext cx="3246120" cy="355701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Categorize incoming tickets, identify likely urgency, and route according to approved rules.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691640"/>
            <a:ext cx="3520440" cy="4160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79" y="1691640"/>
            <a:ext cx="64008" cy="4160520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19871" y="180136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3. Complex incident investigation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1" y="2203704"/>
            <a:ext cx="3246120" cy="355701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>
                <a:solidFill>
                  <a:srgbClr val="242E38"/>
                </a:solidFill>
                <a:latin typeface="Aptos"/>
              </a:rPr>
              <a:t>Investigate multiple potentially related symptoms and select the next diagnostic based on evidence.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37F670-3214-1386-F6BD-53FC80798B7C}"/>
              </a:ext>
            </a:extLst>
          </p:cNvPr>
          <p:cNvSpPr txBox="1"/>
          <p:nvPr/>
        </p:nvSpPr>
        <p:spPr>
          <a:xfrm>
            <a:off x="3458908" y="6177772"/>
            <a:ext cx="5518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Session_08_MC_IV_Agentic_Concepts_Lab.md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7C271D33-F981-1BCB-8BF5-48EFFBCC7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Scenario set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Include human approval and audit requirements in your recommendation.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520440" cy="4160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64008" cy="4160520"/>
          </a:xfrm>
          <a:prstGeom prst="rect">
            <a:avLst/>
          </a:prstGeom>
          <a:solidFill>
            <a:srgbClr val="B1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4. Production configuration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246120" cy="355701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 dirty="0">
                <a:solidFill>
                  <a:srgbClr val="242E38"/>
                </a:solidFill>
                <a:latin typeface="Aptos"/>
              </a:rPr>
              <a:t>Assess a proposed change, dependencies, risks, validation, and authorization.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91640"/>
            <a:ext cx="3520440" cy="4160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691640"/>
            <a:ext cx="64008" cy="41605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80136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5. Data-quality reconciliation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331720"/>
            <a:ext cx="3246120" cy="355701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 dirty="0">
                <a:solidFill>
                  <a:srgbClr val="242E38"/>
                </a:solidFill>
                <a:latin typeface="Aptos"/>
              </a:rPr>
              <a:t>Investigate exceptions against authoritative rules and determine whether corrections are justified.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691640"/>
            <a:ext cx="3520440" cy="4160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79" y="1691640"/>
            <a:ext cx="64008" cy="416052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19871" y="1801368"/>
            <a:ext cx="324612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6. Customer-impacting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1" y="2331720"/>
            <a:ext cx="3246120" cy="355701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0" dirty="0">
                <a:solidFill>
                  <a:srgbClr val="242E38"/>
                </a:solidFill>
                <a:latin typeface="Aptos"/>
              </a:rPr>
              <a:t>Prepare an incident update using verified facts while preserving uncertainty and approval requirements.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21A26B-5AFA-1408-B66F-19E1DB382F87}"/>
              </a:ext>
            </a:extLst>
          </p:cNvPr>
          <p:cNvSpPr txBox="1"/>
          <p:nvPr/>
        </p:nvSpPr>
        <p:spPr>
          <a:xfrm>
            <a:off x="3458908" y="6177772"/>
            <a:ext cx="5518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Session_08_MC_IV_Agentic_Concepts_Lab.md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A8AC85AB-26AC-8F93-5CA4-B96FF75B4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What each team must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Use the same evaluation method for all six scenarios.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515600" cy="4572000"/>
          </a:xfrm>
          <a:prstGeom prst="rect">
            <a:avLst/>
          </a:prstGeom>
          <a:noFill/>
        </p:spPr>
        <p:txBody>
          <a:bodyPr wrap="square" lIns="73152" tIns="36576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Describe the current process and desired business outcome.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Identify tasks suited to deterministic rules.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Identify where GenAI could summarize, interpret, or recommend.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Determine whether the next step genuinely depends on intermediate findings.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Identify potential agentic decisions and the controls they would need.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Specify human approval points, audit requirements, and safety boundaries.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Recommend an architecture category and justify it.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42E38"/>
                </a:solidFill>
                <a:latin typeface="Aptos"/>
              </a:rPr>
              <a:t>•  State one reason a more autonomous solution might be unnecessary or risky.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F82B0-09FE-74CD-D99A-67AF82867EFA}"/>
              </a:ext>
            </a:extLst>
          </p:cNvPr>
          <p:cNvSpPr txBox="1"/>
          <p:nvPr/>
        </p:nvSpPr>
        <p:spPr>
          <a:xfrm>
            <a:off x="3458908" y="6177772"/>
            <a:ext cx="5518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Session_08_MC_IV_Agentic_Concepts_Lab.md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C1F1227-092F-A532-B6CD-6E4BF9997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Architecture decision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Categories are decision aids, not rigid or mutually exclusive types.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66360" cy="14173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64008" cy="14173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920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GenAI /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892040" cy="8138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Human benefits from AI-generated analysis, explanations, or drafts.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166360" cy="14173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64008" cy="1417320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1755648"/>
            <a:ext cx="48920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Deterministic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157984"/>
            <a:ext cx="4892040" cy="8138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Steps and decisions can be expressed as predefined rules.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83280"/>
            <a:ext cx="5166360" cy="14173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383280"/>
            <a:ext cx="64008" cy="1417320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3493008"/>
            <a:ext cx="48920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600" b="1">
                <a:solidFill>
                  <a:srgbClr val="192E4B"/>
                </a:solidFill>
                <a:latin typeface="Aptos"/>
              </a:rPr>
              <a:t>Agentic candidate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895344"/>
            <a:ext cx="4892040" cy="8138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Next steps adapt to intermediate findings and bounded autonomy adds value.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83280"/>
            <a:ext cx="5166360" cy="14173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383280"/>
            <a:ext cx="64008" cy="1417320"/>
          </a:xfrm>
          <a:prstGeom prst="rect">
            <a:avLst/>
          </a:prstGeom>
          <a:solidFill>
            <a:srgbClr val="B1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82512" y="3493008"/>
            <a:ext cx="48920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500" b="1">
                <a:solidFill>
                  <a:srgbClr val="192E4B"/>
                </a:solidFill>
                <a:latin typeface="Aptos"/>
              </a:rPr>
              <a:t>Agentic + 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3895344"/>
            <a:ext cx="4892040" cy="8138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242E38"/>
                </a:solidFill>
                <a:latin typeface="Aptos"/>
              </a:rPr>
              <a:t>Adaptive investigation may help, but consequential decisions/actions need authorization.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400" b="1">
                <a:solidFill>
                  <a:srgbClr val="192E4B"/>
                </a:solidFill>
                <a:latin typeface="Aptos"/>
              </a:rPr>
              <a:t>A solution may combine GenAI, deterministic workflows, and human approval without requiring an agent.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1831FB-E094-AF64-4EBB-A67E3AE858EA}"/>
              </a:ext>
            </a:extLst>
          </p:cNvPr>
          <p:cNvSpPr txBox="1"/>
          <p:nvPr/>
        </p:nvSpPr>
        <p:spPr>
          <a:xfrm>
            <a:off x="3458908" y="6177772"/>
            <a:ext cx="5518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Session_08_MC_IV_Agentic_Concepts_Lab.md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7C354479-8634-F5A6-FC06-2F28B19D9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Required team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One-page decision matrix or short verbal recommendation.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 lIns="73152" tIns="36576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Business objective: what outcome must be achieved?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Proposed approach: which architecture category and why?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Division of responsibility: deterministic logic, GenAI, adaptive decisions.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Human control: what must be reviewed or approved?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Evidence and verification: how will correctness be assessed?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Audit and safety: what must be logged, bounded, or prevented?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42E38"/>
                </a:solidFill>
                <a:latin typeface="Aptos"/>
              </a:rPr>
              <a:t>•  Trade-off: why is this better than a simpler alternative?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863F0F1-F3F0-1C5B-DBDA-B1BDE4F3D1FF}"/>
              </a:ext>
            </a:extLst>
          </p:cNvPr>
          <p:cNvSpPr/>
          <p:nvPr/>
        </p:nvSpPr>
        <p:spPr>
          <a:xfrm>
            <a:off x="5638647" y="5038345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06030E-1183-EE01-1687-4BF02247670E}"/>
              </a:ext>
            </a:extLst>
          </p:cNvPr>
          <p:cNvSpPr txBox="1"/>
          <p:nvPr/>
        </p:nvSpPr>
        <p:spPr>
          <a:xfrm>
            <a:off x="3458908" y="6177772"/>
            <a:ext cx="5518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Session_08_MC_IV_Agentic_Concepts_Lab.md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E2B7A51-4E45-7AB5-DE6F-5076BEC2A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Indicative architecture choices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126771"/>
              </p:ext>
            </p:extLst>
          </p:nvPr>
        </p:nvGraphicFramePr>
        <p:xfrm>
          <a:off x="411480" y="1554480"/>
          <a:ext cx="113385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61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92E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Likely starting point</a:t>
                      </a:r>
                    </a:p>
                  </a:txBody>
                  <a:tcPr>
                    <a:solidFill>
                      <a:srgbClr val="192E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When greater autonomy might help</a:t>
                      </a:r>
                    </a:p>
                  </a:txBody>
                  <a:tcPr>
                    <a:solidFill>
                      <a:srgbClr val="192E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Weekly report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Deterministic preparation + GenAI synthesis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Investigate unexpected changes across sources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Ticket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Rules + GenAI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Select follow-up checks for ambiguous tickets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Complex incident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GenAI-assisted investigation + controlled diagnostics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Choose next diagnostic based on prior results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Configuration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Deterministic change workflow + approval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Gather evidence and prepare a proposed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Data-quality reconciliation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Deterministic validation + GenAI investigation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Investigate ambiguous exceptions across sources</a:t>
                      </a:r>
                    </a:p>
                  </a:txBody>
                  <a:tcPr>
                    <a:solidFill>
                      <a:srgbClr val="EF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66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Customer 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42E38"/>
                          </a:solidFill>
                        </a:rPr>
                        <a:t>GenAI draft + fact checks and approval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242E38"/>
                          </a:solidFill>
                        </a:rPr>
                        <a:t>Gather verified updates from multiple 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CCF94BD-1DF4-283A-D519-9317C945B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Challenge your architecture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Evaluate the reasoning, not just the label.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241280" cy="4389120"/>
          </a:xfrm>
          <a:prstGeom prst="rect">
            <a:avLst/>
          </a:prstGeom>
          <a:noFill/>
        </p:spPr>
        <p:txBody>
          <a:bodyPr wrap="square" lIns="73152" tIns="36576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What does the proposed architecture improve?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Could a simpler workflow achieve the same outcome?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What if evidence is incomplete or contradictory?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How does the system know when to stop and escalate?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What is the maximum autonomy justified by the risk?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42E38"/>
                </a:solidFill>
                <a:latin typeface="Aptos"/>
              </a:rPr>
              <a:t>•  What evidence is needed before approving a pilot?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A1C2E9-1353-66EE-ECAB-5BA27104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Five principles for enterprise agentic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78992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>
                <a:solidFill>
                  <a:srgbClr val="5B6B7A"/>
                </a:solidFill>
                <a:latin typeface="Aptos"/>
              </a:rPr>
              <a:t>Design for measurable value, bounded autonomy, and reliable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08760"/>
            <a:ext cx="10515600" cy="6583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508760"/>
            <a:ext cx="64008" cy="658368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618488"/>
            <a:ext cx="102412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207" y="1919079"/>
            <a:ext cx="10241280" cy="24006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 dirty="0">
                <a:solidFill>
                  <a:srgbClr val="242E38"/>
                </a:solidFill>
                <a:latin typeface="Aptos"/>
              </a:rPr>
              <a:t>Start with the business outcome, not the agent.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340864"/>
            <a:ext cx="10515600" cy="6583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2340864"/>
            <a:ext cx="64008" cy="658368"/>
          </a:xfrm>
          <a:prstGeom prst="rect">
            <a:avLst/>
          </a:prstGeom>
          <a:solidFill>
            <a:srgbClr val="2F6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2450592"/>
            <a:ext cx="102412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751183"/>
            <a:ext cx="10241280" cy="24006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 dirty="0">
                <a:solidFill>
                  <a:srgbClr val="242E38"/>
                </a:solidFill>
                <a:latin typeface="Aptos"/>
              </a:rPr>
              <a:t>Use deterministic logic wherever rules are clear and repeatable.</a:t>
            </a:r>
            <a:endParaRPr lang="en-US" sz="1200" b="0" dirty="0">
              <a:solidFill>
                <a:srgbClr val="242E38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60" y="3172968"/>
            <a:ext cx="10515600" cy="6583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" y="3172968"/>
            <a:ext cx="64008" cy="658368"/>
          </a:xfrm>
          <a:prstGeom prst="rect">
            <a:avLst/>
          </a:prstGeom>
          <a:solidFill>
            <a:srgbClr val="D38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3282696"/>
            <a:ext cx="102412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207" y="3583287"/>
            <a:ext cx="10241280" cy="24006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 dirty="0">
                <a:solidFill>
                  <a:srgbClr val="242E38"/>
                </a:solidFill>
                <a:latin typeface="Aptos"/>
              </a:rPr>
              <a:t>Use adaptive decision-making only where it creates measurable value.</a:t>
            </a:r>
            <a:endParaRPr lang="en-US" sz="1200" b="0" dirty="0">
              <a:solidFill>
                <a:srgbClr val="242E38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22960" y="4005072"/>
            <a:ext cx="10515600" cy="6583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4005072"/>
            <a:ext cx="64008" cy="658368"/>
          </a:xfrm>
          <a:prstGeom prst="rect">
            <a:avLst/>
          </a:prstGeom>
          <a:solidFill>
            <a:srgbClr val="B1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4114800"/>
            <a:ext cx="102412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207" y="4415391"/>
            <a:ext cx="10241280" cy="24006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 dirty="0">
                <a:solidFill>
                  <a:srgbClr val="242E38"/>
                </a:solidFill>
                <a:latin typeface="Aptos"/>
              </a:rPr>
              <a:t>Keep permissions, stopping conditions, and human approvals explicit.</a:t>
            </a:r>
            <a:endParaRPr lang="en-US" sz="1200" b="0" dirty="0">
              <a:solidFill>
                <a:srgbClr val="242E38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22960" y="4837176"/>
            <a:ext cx="10515600" cy="658368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" y="4837176"/>
            <a:ext cx="64008" cy="658368"/>
          </a:xfrm>
          <a:prstGeom prst="rect">
            <a:avLst/>
          </a:prstGeom>
          <a:solidFill>
            <a:srgbClr val="417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4946904"/>
            <a:ext cx="102412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5247495"/>
            <a:ext cx="10241280" cy="24006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0" dirty="0">
                <a:solidFill>
                  <a:srgbClr val="242E38"/>
                </a:solidFill>
                <a:latin typeface="Aptos"/>
              </a:rPr>
              <a:t>Verify outcomes and maintain traceability across the complete workflow.</a:t>
            </a:r>
            <a:endParaRPr lang="en-US" sz="1200" b="0" dirty="0">
              <a:solidFill>
                <a:srgbClr val="242E38"/>
              </a:solidFill>
              <a:latin typeface="Aptos"/>
            </a:endParaRP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07ADB2E-66C3-EDBC-1485-B06969250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109728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1">
                <a:solidFill>
                  <a:srgbClr val="1B8482"/>
                </a:solidFill>
                <a:latin typeface="Aptos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7"/>
            <a:ext cx="10972800" cy="53035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700" b="1">
                <a:solidFill>
                  <a:srgbClr val="192E4B"/>
                </a:solidFill>
                <a:latin typeface="Aptos"/>
              </a:rPr>
              <a:t>Knowledge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800" b="0">
                <a:solidFill>
                  <a:srgbClr val="5B6B7A"/>
                </a:solidFill>
                <a:latin typeface="Aptos"/>
              </a:rPr>
              <a:t>WINTRUST  |  MC-IV: GENAI IN AGENTS  |  TRAINING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08760"/>
            <a:ext cx="10698480" cy="731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08760"/>
            <a:ext cx="64008" cy="7315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1618488"/>
            <a:ext cx="10424159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Is every workflow that calls an LLM an agent?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020824"/>
            <a:ext cx="10424159" cy="1280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0">
                <a:solidFill>
                  <a:srgbClr val="242E38"/>
                </a:solidFill>
                <a:latin typeface="Aptos"/>
              </a:rPr>
              <a:t>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68296"/>
            <a:ext cx="10698480" cy="731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368296"/>
            <a:ext cx="64008" cy="7315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2478024"/>
            <a:ext cx="10424159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Why might a deterministic workflow be preferable?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880360"/>
            <a:ext cx="10424159" cy="1280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0">
                <a:solidFill>
                  <a:srgbClr val="242E38"/>
                </a:solidFill>
                <a:latin typeface="Aptos"/>
              </a:rPr>
              <a:t>Predictability, testability, lower complexity, and easier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227832"/>
            <a:ext cx="10698480" cy="731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3227832"/>
            <a:ext cx="64008" cy="7315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" y="3337560"/>
            <a:ext cx="10424159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Why is complex incident investigation a potential agentic use case?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739896"/>
            <a:ext cx="10424159" cy="1280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0">
                <a:solidFill>
                  <a:srgbClr val="242E38"/>
                </a:solidFill>
                <a:latin typeface="Aptos"/>
              </a:rPr>
              <a:t>The next diagnostic may depend on intermediate findings.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087368"/>
            <a:ext cx="10698480" cy="731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087368"/>
            <a:ext cx="64008" cy="7315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1832" y="4197096"/>
            <a:ext cx="10424159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Does an agentic recommendation authorize a production change?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599431"/>
            <a:ext cx="10424159" cy="1280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0">
                <a:solidFill>
                  <a:srgbClr val="242E38"/>
                </a:solidFill>
                <a:latin typeface="Aptos"/>
              </a:rPr>
              <a:t>No. Authorization is a separate control.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946904"/>
            <a:ext cx="10698480" cy="731520"/>
          </a:xfrm>
          <a:prstGeom prst="roundRect">
            <a:avLst/>
          </a:prstGeom>
          <a:solidFill>
            <a:srgbClr val="EFF4F8"/>
          </a:solidFill>
          <a:ln>
            <a:solidFill>
              <a:srgbClr val="DB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77240" y="4946904"/>
            <a:ext cx="64008" cy="731520"/>
          </a:xfrm>
          <a:prstGeom prst="rect">
            <a:avLst/>
          </a:prstGeom>
          <a:solidFill>
            <a:srgbClr val="1B8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" y="5056632"/>
            <a:ext cx="10424159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300" b="1">
                <a:solidFill>
                  <a:srgbClr val="192E4B"/>
                </a:solidFill>
                <a:latin typeface="Aptos"/>
              </a:rPr>
              <a:t>What is needed before increasing autonomy?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5458968"/>
            <a:ext cx="10424159" cy="12801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000" b="0">
                <a:solidFill>
                  <a:srgbClr val="242E38"/>
                </a:solidFill>
                <a:latin typeface="Aptos"/>
              </a:rPr>
              <a:t>Bounded permissions, reliable evidence, validation, stop conditions, auditability, and oversight.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FBAF9D8E-47AC-E343-B9A4-E2A5C80A4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18" grpId="0"/>
      <p:bldP spid="22" grpId="0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2E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200" b="1">
                <a:solidFill>
                  <a:srgbClr val="9ED3CF"/>
                </a:solidFill>
                <a:latin typeface="Aptos"/>
              </a:rPr>
              <a:t>MC-IV: GENAI IN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Aptos"/>
              </a:rPr>
              <a:t>Choose autonomy deliberately.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9875520" cy="128650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2000" b="0" dirty="0">
                <a:solidFill>
                  <a:srgbClr val="E0E9F1"/>
                </a:solidFill>
                <a:latin typeface="Aptos"/>
              </a:rPr>
              <a:t>GenAI can explain and recommend. </a:t>
            </a:r>
            <a:endParaRPr lang="en-US" sz="2000" b="0" dirty="0">
              <a:solidFill>
                <a:srgbClr val="E0E9F1"/>
              </a:solidFill>
              <a:latin typeface="Aptos"/>
            </a:endParaRPr>
          </a:p>
          <a:p>
            <a:r>
              <a:rPr sz="2000" b="0" dirty="0">
                <a:solidFill>
                  <a:srgbClr val="E0E9F1"/>
                </a:solidFill>
                <a:latin typeface="Aptos"/>
              </a:rPr>
              <a:t>Deterministic workflows execute known rules. </a:t>
            </a:r>
            <a:endParaRPr lang="en-US" sz="2000" b="0" dirty="0">
              <a:solidFill>
                <a:srgbClr val="E0E9F1"/>
              </a:solidFill>
              <a:latin typeface="Aptos"/>
            </a:endParaRPr>
          </a:p>
          <a:p>
            <a:r>
              <a:rPr sz="2000" b="0" dirty="0">
                <a:solidFill>
                  <a:srgbClr val="E0E9F1"/>
                </a:solidFill>
                <a:latin typeface="Aptos"/>
              </a:rPr>
              <a:t>Agentic systems adapt their next steps. </a:t>
            </a:r>
            <a:endParaRPr lang="en-US" sz="2000" b="0" dirty="0">
              <a:solidFill>
                <a:srgbClr val="E0E9F1"/>
              </a:solidFill>
              <a:latin typeface="Aptos"/>
            </a:endParaRPr>
          </a:p>
          <a:p>
            <a:r>
              <a:rPr sz="2000" b="0" dirty="0">
                <a:solidFill>
                  <a:srgbClr val="E0E9F1"/>
                </a:solidFill>
                <a:latin typeface="Aptos"/>
              </a:rPr>
              <a:t>Human approval remains essential wherever risk and authority require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120640"/>
            <a:ext cx="987552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1700" b="1">
                <a:solidFill>
                  <a:srgbClr val="9ED3CF"/>
                </a:solidFill>
                <a:latin typeface="Aptos"/>
              </a:rPr>
              <a:t>Ask whether adaptive autonomy creates enough business value to justify its added complexity and risk.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263640"/>
            <a:ext cx="73152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900" b="1">
                <a:solidFill>
                  <a:srgbClr val="BECDDB"/>
                </a:solidFill>
                <a:latin typeface="Aptos"/>
              </a:rPr>
              <a:t>TRAINING SIMULATION  |  NO AGENTS CREATED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14F040-6EFB-F761-23C9-0CDFC6271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3808</Words>
  <Application>Microsoft Office PowerPoint</Application>
  <PresentationFormat>Widescreen</PresentationFormat>
  <Paragraphs>479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Ajay Singala</dc:creator>
  <cp:keywords/>
  <dc:description>generated using python-pptx</dc:description>
  <cp:lastModifiedBy>Ajay Singala</cp:lastModifiedBy>
  <cp:revision>28</cp:revision>
  <dcterms:created xsi:type="dcterms:W3CDTF">2013-01-27T09:14:16Z</dcterms:created>
  <dcterms:modified xsi:type="dcterms:W3CDTF">2026-10-18T06:41:13Z</dcterms:modified>
  <cp:category/>
</cp:coreProperties>
</file>