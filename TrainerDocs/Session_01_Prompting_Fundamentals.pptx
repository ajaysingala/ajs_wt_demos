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7"/>
  </p:notesMasterIdLst>
  <p:sldIdLst>
    <p:sldId id="256" r:id="rId3"/>
    <p:sldId id="347" r:id="rId4"/>
    <p:sldId id="348" r:id="rId5"/>
    <p:sldId id="349" r:id="rId6"/>
    <p:sldId id="257" r:id="rId7"/>
    <p:sldId id="285" r:id="rId8"/>
    <p:sldId id="258" r:id="rId9"/>
    <p:sldId id="259" r:id="rId10"/>
    <p:sldId id="260" r:id="rId11"/>
    <p:sldId id="261" r:id="rId12"/>
    <p:sldId id="262" r:id="rId13"/>
    <p:sldId id="263" r:id="rId14"/>
    <p:sldId id="264" r:id="rId15"/>
    <p:sldId id="265" r:id="rId16"/>
    <p:sldId id="266" r:id="rId17"/>
    <p:sldId id="267" r:id="rId18"/>
    <p:sldId id="268" r:id="rId19"/>
    <p:sldId id="283" r:id="rId20"/>
    <p:sldId id="269" r:id="rId21"/>
    <p:sldId id="271" r:id="rId22"/>
    <p:sldId id="272" r:id="rId23"/>
    <p:sldId id="273" r:id="rId24"/>
    <p:sldId id="274" r:id="rId25"/>
    <p:sldId id="275" r:id="rId26"/>
    <p:sldId id="276" r:id="rId27"/>
    <p:sldId id="277" r:id="rId28"/>
    <p:sldId id="278" r:id="rId29"/>
    <p:sldId id="280" r:id="rId30"/>
    <p:sldId id="350" r:id="rId31"/>
    <p:sldId id="270" r:id="rId32"/>
    <p:sldId id="279" r:id="rId33"/>
    <p:sldId id="281" r:id="rId34"/>
    <p:sldId id="282" r:id="rId35"/>
    <p:sldId id="284"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55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C7EC5B-70D7-4BBB-9E88-F09EE5877AFD}" type="datetimeFigureOut">
              <a:rPr lang="en-IN" smtClean="0"/>
              <a:t>18-10-2026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074C7E-5824-4B95-BEA7-D8E391D6AD57}" type="slidenum">
              <a:rPr lang="en-IN" smtClean="0"/>
              <a:t>‹#›</a:t>
            </a:fld>
            <a:endParaRPr lang="en-IN"/>
          </a:p>
        </p:txBody>
      </p:sp>
    </p:spTree>
    <p:extLst>
      <p:ext uri="{BB962C8B-B14F-4D97-AF65-F5344CB8AC3E}">
        <p14:creationId xmlns:p14="http://schemas.microsoft.com/office/powerpoint/2010/main" val="2674607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074C7E-5824-4B95-BEA7-D8E391D6AD57}" type="slidenum">
              <a:rPr lang="en-IN" smtClean="0"/>
              <a:t>30</a:t>
            </a:fld>
            <a:endParaRPr lang="en-IN"/>
          </a:p>
        </p:txBody>
      </p:sp>
    </p:spTree>
    <p:extLst>
      <p:ext uri="{BB962C8B-B14F-4D97-AF65-F5344CB8AC3E}">
        <p14:creationId xmlns:p14="http://schemas.microsoft.com/office/powerpoint/2010/main" val="2453081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A8F62BC-D304-4F4E-956C-AA2976B2D132}" type="datetime1">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0F5F74-AE64-45C8-AA00-EA1E700C6E75}" type="datetime1">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557F56-9259-494C-9A50-9D59AF9E45FA}" type="datetime1">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422800F-1242-4665-A46B-34A598B62C04}" type="datetime1">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1564BF4-B057-4FEC-BE97-B210ACA9E9EA}" type="datetime1">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BEF1AB-CD07-4CB3-95E6-99654F02921C}" type="datetime1">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5FA606-D754-4D49-B502-CE9E4975E16D}" type="datetime1">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9601200" y="6356349"/>
            <a:ext cx="21336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C9790E-0731-4F0E-B0C8-406905523253}" type="datetime1">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23D983-8354-44E1-8C5E-4ABFB78BD26B}" type="datetime1">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BACEDD-2733-4DEE-8650-0A98665B398C}" type="datetime1">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36FD8D-F991-4FF1-BBE8-8AEFC23CCB15}" type="datetime1">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282C32"/>
          </a:solidFill>
          <a:ln/>
        </p:spPr>
        <p:txBody>
          <a:bodyPr/>
          <a:lstStyle/>
          <a:p>
            <a:endParaRPr lang="en-IN"/>
          </a:p>
        </p:txBody>
      </p:sp>
      <p:sp>
        <p:nvSpPr>
          <p:cNvPr id="3" name="Shape 1"/>
          <p:cNvSpPr/>
          <p:nvPr/>
        </p:nvSpPr>
        <p:spPr>
          <a:xfrm>
            <a:off x="0" y="0"/>
            <a:ext cx="12192000" cy="6858000"/>
          </a:xfrm>
          <a:prstGeom prst="rect">
            <a:avLst/>
          </a:prstGeom>
          <a:solidFill>
            <a:srgbClr val="282C3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2580490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45846-BF1A-FDA3-AF21-CBDF3817ED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55D219-9850-A749-A812-DCC6A050A7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1E396F-1B23-F3A3-0511-7122054817EF}"/>
              </a:ext>
            </a:extLst>
          </p:cNvPr>
          <p:cNvSpPr>
            <a:spLocks noGrp="1"/>
          </p:cNvSpPr>
          <p:nvPr>
            <p:ph type="dt" sz="half" idx="10"/>
          </p:nvPr>
        </p:nvSpPr>
        <p:spPr/>
        <p:txBody>
          <a:bodyPr/>
          <a:lstStyle/>
          <a:p>
            <a:fld id="{4F816CEB-1072-4B22-A473-588D7AF62EB2}" type="datetimeFigureOut">
              <a:rPr lang="en-IN" smtClean="0"/>
              <a:t>18-10-2026</a:t>
            </a:fld>
            <a:endParaRPr lang="en-IN"/>
          </a:p>
        </p:txBody>
      </p:sp>
      <p:sp>
        <p:nvSpPr>
          <p:cNvPr id="5" name="Footer Placeholder 4">
            <a:extLst>
              <a:ext uri="{FF2B5EF4-FFF2-40B4-BE49-F238E27FC236}">
                <a16:creationId xmlns:a16="http://schemas.microsoft.com/office/drawing/2014/main" id="{202DEF52-9446-668B-36C9-2DBE413ECB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1B32EA-BB8E-1A78-E352-195F8DE453BC}"/>
              </a:ext>
            </a:extLst>
          </p:cNvPr>
          <p:cNvSpPr>
            <a:spLocks noGrp="1"/>
          </p:cNvSpPr>
          <p:nvPr>
            <p:ph type="sldNum" sz="quarter" idx="12"/>
          </p:nvPr>
        </p:nvSpPr>
        <p:spPr/>
        <p:txBody>
          <a:bodyPr/>
          <a:lstStyle/>
          <a:p>
            <a:fld id="{B9A9E4B9-0DD6-4F17-A1A2-1B391774F1BD}" type="slidenum">
              <a:rPr lang="en-IN" smtClean="0"/>
              <a:t>‹#›</a:t>
            </a:fld>
            <a:endParaRPr lang="en-IN"/>
          </a:p>
        </p:txBody>
      </p:sp>
    </p:spTree>
    <p:extLst>
      <p:ext uri="{BB962C8B-B14F-4D97-AF65-F5344CB8AC3E}">
        <p14:creationId xmlns:p14="http://schemas.microsoft.com/office/powerpoint/2010/main" val="29464917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2D5020-86FF-29D2-CF0B-41FA1C497BFC}"/>
              </a:ext>
            </a:extLst>
          </p:cNvPr>
          <p:cNvSpPr>
            <a:spLocks noGrp="1"/>
          </p:cNvSpPr>
          <p:nvPr>
            <p:ph type="dt" sz="half" idx="10"/>
          </p:nvPr>
        </p:nvSpPr>
        <p:spPr/>
        <p:txBody>
          <a:bodyPr/>
          <a:lstStyle/>
          <a:p>
            <a:fld id="{4F816CEB-1072-4B22-A473-588D7AF62EB2}" type="datetimeFigureOut">
              <a:rPr lang="en-IN" smtClean="0"/>
              <a:t>18-10-2026</a:t>
            </a:fld>
            <a:endParaRPr lang="en-IN"/>
          </a:p>
        </p:txBody>
      </p:sp>
      <p:sp>
        <p:nvSpPr>
          <p:cNvPr id="3" name="Footer Placeholder 2">
            <a:extLst>
              <a:ext uri="{FF2B5EF4-FFF2-40B4-BE49-F238E27FC236}">
                <a16:creationId xmlns:a16="http://schemas.microsoft.com/office/drawing/2014/main" id="{C812C0C5-2392-1961-1D1D-25D58044F2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F16E48B-1C67-4D12-8E10-27AC939FF5BD}"/>
              </a:ext>
            </a:extLst>
          </p:cNvPr>
          <p:cNvSpPr>
            <a:spLocks noGrp="1"/>
          </p:cNvSpPr>
          <p:nvPr>
            <p:ph type="sldNum" sz="quarter" idx="12"/>
          </p:nvPr>
        </p:nvSpPr>
        <p:spPr/>
        <p:txBody>
          <a:bodyPr/>
          <a:lstStyle/>
          <a:p>
            <a:fld id="{B9A9E4B9-0DD6-4F17-A1A2-1B391774F1BD}" type="slidenum">
              <a:rPr lang="en-IN" smtClean="0"/>
              <a:t>‹#›</a:t>
            </a:fld>
            <a:endParaRPr lang="en-IN"/>
          </a:p>
        </p:txBody>
      </p:sp>
    </p:spTree>
    <p:extLst>
      <p:ext uri="{BB962C8B-B14F-4D97-AF65-F5344CB8AC3E}">
        <p14:creationId xmlns:p14="http://schemas.microsoft.com/office/powerpoint/2010/main" val="4151293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4D3185-FFA7-4140-9549-35D327D40BB9}" type="datetime1">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3E9012-068E-580E-8B8F-2451EB4A5C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9532D6-39DA-958D-51DB-1D71DCBEE3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C65381-025A-C3E2-9A48-96CFE8B98D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816CEB-1072-4B22-A473-588D7AF62EB2}" type="datetimeFigureOut">
              <a:rPr lang="en-IN" smtClean="0"/>
              <a:t>18-10-2026</a:t>
            </a:fld>
            <a:endParaRPr lang="en-IN"/>
          </a:p>
        </p:txBody>
      </p:sp>
      <p:sp>
        <p:nvSpPr>
          <p:cNvPr id="5" name="Footer Placeholder 4">
            <a:extLst>
              <a:ext uri="{FF2B5EF4-FFF2-40B4-BE49-F238E27FC236}">
                <a16:creationId xmlns:a16="http://schemas.microsoft.com/office/drawing/2014/main" id="{2C145B3F-F87A-E427-9837-304E169A5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487EC7-7BD1-4047-A8C3-498FD35E15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A9E4B9-0DD6-4F17-A1A2-1B391774F1BD}" type="slidenum">
              <a:rPr lang="en-IN" smtClean="0"/>
              <a:t>‹#›</a:t>
            </a:fld>
            <a:endParaRPr lang="en-IN"/>
          </a:p>
        </p:txBody>
      </p:sp>
    </p:spTree>
    <p:extLst>
      <p:ext uri="{BB962C8B-B14F-4D97-AF65-F5344CB8AC3E}">
        <p14:creationId xmlns:p14="http://schemas.microsoft.com/office/powerpoint/2010/main" val="23830481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amzn.in/d/0f8eRvrU" TargetMode="External"/><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surveymonkey.com/r/TC5BGXZ"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1051560"/>
            <a:ext cx="6583680" cy="1508760"/>
          </a:xfrm>
          <a:prstGeom prst="rect">
            <a:avLst/>
          </a:prstGeom>
          <a:noFill/>
        </p:spPr>
        <p:txBody>
          <a:bodyPr wrap="square" anchor="t">
            <a:spAutoFit/>
          </a:bodyPr>
          <a:lstStyle/>
          <a:p>
            <a:pPr algn="l">
              <a:defRPr sz="3500" b="1">
                <a:solidFill>
                  <a:srgbClr val="FFFFFF"/>
                </a:solidFill>
                <a:latin typeface="Aptos"/>
              </a:defRPr>
            </a:pPr>
            <a:r>
              <a:t>PROMPTING</a:t>
            </a:r>
            <a:br/>
            <a:r>
              <a:t>FUNDAMENTALS</a:t>
            </a:r>
          </a:p>
        </p:txBody>
      </p:sp>
      <p:sp>
        <p:nvSpPr>
          <p:cNvPr id="4" name="TextBox 3"/>
          <p:cNvSpPr txBox="1"/>
          <p:nvPr/>
        </p:nvSpPr>
        <p:spPr>
          <a:xfrm>
            <a:off x="713232" y="2697480"/>
            <a:ext cx="7132320" cy="502920"/>
          </a:xfrm>
          <a:prstGeom prst="rect">
            <a:avLst/>
          </a:prstGeom>
          <a:noFill/>
        </p:spPr>
        <p:txBody>
          <a:bodyPr wrap="square" anchor="t">
            <a:spAutoFit/>
          </a:bodyPr>
          <a:lstStyle/>
          <a:p>
            <a:pPr algn="l">
              <a:defRPr sz="2100" b="1">
                <a:solidFill>
                  <a:srgbClr val="49B4C2"/>
                </a:solidFill>
                <a:latin typeface="Aptos"/>
              </a:defRPr>
            </a:pPr>
            <a:r>
              <a:t>From “Ask AI” to “Engineer the Request”</a:t>
            </a:r>
          </a:p>
        </p:txBody>
      </p:sp>
      <p:sp>
        <p:nvSpPr>
          <p:cNvPr id="5" name="TextBox 4"/>
          <p:cNvSpPr txBox="1"/>
          <p:nvPr/>
        </p:nvSpPr>
        <p:spPr>
          <a:xfrm>
            <a:off x="713232" y="3310128"/>
            <a:ext cx="7132320" cy="502920"/>
          </a:xfrm>
          <a:prstGeom prst="rect">
            <a:avLst/>
          </a:prstGeom>
          <a:noFill/>
        </p:spPr>
        <p:txBody>
          <a:bodyPr wrap="square" anchor="t">
            <a:spAutoFit/>
          </a:bodyPr>
          <a:lstStyle/>
          <a:p>
            <a:pPr algn="l">
              <a:defRPr sz="1700" b="0">
                <a:solidFill>
                  <a:srgbClr val="CDD8E4"/>
                </a:solidFill>
                <a:latin typeface="Aptos"/>
              </a:defRPr>
            </a:pPr>
            <a:r>
              <a:t>Design prompts that are clear, useful, repeatable and reviewable.</a:t>
            </a:r>
          </a:p>
        </p:txBody>
      </p:sp>
      <p:sp>
        <p:nvSpPr>
          <p:cNvPr id="6" name="Rounded Rectangle 5"/>
          <p:cNvSpPr/>
          <p:nvPr/>
        </p:nvSpPr>
        <p:spPr>
          <a:xfrm>
            <a:off x="713232" y="4736592"/>
            <a:ext cx="205740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4773168"/>
            <a:ext cx="2057400" cy="292608"/>
          </a:xfrm>
          <a:prstGeom prst="rect">
            <a:avLst/>
          </a:prstGeom>
          <a:noFill/>
        </p:spPr>
        <p:txBody>
          <a:bodyPr wrap="square" anchor="t">
            <a:spAutoFit/>
          </a:bodyPr>
          <a:lstStyle/>
          <a:p>
            <a:pPr algn="ctr">
              <a:defRPr sz="1150" b="1">
                <a:solidFill>
                  <a:srgbClr val="FFFFFF"/>
                </a:solidFill>
                <a:latin typeface="Aptos"/>
              </a:defRPr>
            </a:pPr>
            <a:r>
              <a:t>Microsoft Copilot Chat</a:t>
            </a:r>
          </a:p>
        </p:txBody>
      </p:sp>
      <p:sp>
        <p:nvSpPr>
          <p:cNvPr id="8" name="Rounded Rectangle 7"/>
          <p:cNvSpPr/>
          <p:nvPr/>
        </p:nvSpPr>
        <p:spPr>
          <a:xfrm>
            <a:off x="2907792" y="4736592"/>
            <a:ext cx="1600200" cy="384048"/>
          </a:xfrm>
          <a:prstGeom prst="round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07792" y="4773168"/>
            <a:ext cx="1600200" cy="292608"/>
          </a:xfrm>
          <a:prstGeom prst="rect">
            <a:avLst/>
          </a:prstGeom>
          <a:noFill/>
        </p:spPr>
        <p:txBody>
          <a:bodyPr wrap="square" anchor="t">
            <a:spAutoFit/>
          </a:bodyPr>
          <a:lstStyle/>
          <a:p>
            <a:pPr algn="ctr">
              <a:defRPr sz="1150" b="1">
                <a:solidFill>
                  <a:srgbClr val="FFFFFF"/>
                </a:solidFill>
                <a:latin typeface="Aptos"/>
              </a:defRPr>
            </a:pPr>
            <a:r>
              <a:t>GitHub Copilot</a:t>
            </a:r>
          </a:p>
        </p:txBody>
      </p:sp>
      <p:sp>
        <p:nvSpPr>
          <p:cNvPr id="10" name="TextBox 9"/>
          <p:cNvSpPr txBox="1"/>
          <p:nvPr/>
        </p:nvSpPr>
        <p:spPr>
          <a:xfrm>
            <a:off x="713232" y="6172200"/>
            <a:ext cx="4572000" cy="274320"/>
          </a:xfrm>
          <a:prstGeom prst="rect">
            <a:avLst/>
          </a:prstGeom>
          <a:noFill/>
        </p:spPr>
        <p:txBody>
          <a:bodyPr wrap="square" anchor="t">
            <a:spAutoFit/>
          </a:bodyPr>
          <a:lstStyle/>
          <a:p>
            <a:pPr algn="l">
              <a:defRPr sz="1000" b="1">
                <a:solidFill>
                  <a:srgbClr val="AEBED0"/>
                </a:solidFill>
                <a:latin typeface="Aptos"/>
              </a:defRPr>
            </a:pPr>
            <a:r>
              <a:t>WinTrust AI Capability Program</a:t>
            </a:r>
          </a:p>
        </p:txBody>
      </p:sp>
      <p:sp>
        <p:nvSpPr>
          <p:cNvPr id="11" name="Slide Number Placeholder 10">
            <a:extLst>
              <a:ext uri="{FF2B5EF4-FFF2-40B4-BE49-F238E27FC236}">
                <a16:creationId xmlns:a16="http://schemas.microsoft.com/office/drawing/2014/main" id="{DD808C91-CD28-07A5-9C3E-6AF53014B0EA}"/>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10000"/>
            <a:lumOff val="90000"/>
          </a:scheme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0"/>
            <a:ext cx="4572000" cy="6858000"/>
          </a:xfrm>
          <a:prstGeom prst="rect">
            <a:avLst/>
          </a:prstGeom>
        </p:spPr>
      </p:pic>
      <p:sp>
        <p:nvSpPr>
          <p:cNvPr id="3" name="Text 0"/>
          <p:cNvSpPr/>
          <p:nvPr/>
        </p:nvSpPr>
        <p:spPr>
          <a:xfrm>
            <a:off x="698103" y="1244660"/>
            <a:ext cx="4693742" cy="586681"/>
          </a:xfrm>
          <a:prstGeom prst="rect">
            <a:avLst/>
          </a:prstGeom>
          <a:noFill/>
          <a:ln/>
        </p:spPr>
        <p:txBody>
          <a:bodyPr wrap="none" lIns="0" tIns="0" rIns="0" bIns="0" rtlCol="0" anchor="t"/>
          <a:lstStyle/>
          <a:p>
            <a:pPr marL="0" marR="0" lvl="0" indent="0" algn="l" defTabSz="914400" rtl="0" eaLnBrk="1" fontAlgn="auto" latinLnBrk="0" hangingPunct="1">
              <a:lnSpc>
                <a:spcPts val="4583"/>
              </a:lnSpc>
              <a:spcBef>
                <a:spcPts val="0"/>
              </a:spcBef>
              <a:spcAft>
                <a:spcPts val="0"/>
              </a:spcAft>
              <a:buClrTx/>
              <a:buSzTx/>
              <a:buFontTx/>
              <a:buNone/>
              <a:tabLst/>
              <a:defRPr/>
            </a:pPr>
            <a:r>
              <a:rPr kumimoji="0" lang="en-US" sz="3708" b="1" i="0" u="none" strike="noStrike" kern="1200" cap="none" spc="0" normalizeH="0" baseline="0" noProof="0" dirty="0">
                <a:ln>
                  <a:noFill/>
                </a:ln>
                <a:solidFill>
                  <a:srgbClr val="9998FF"/>
                </a:solidFill>
                <a:effectLst/>
                <a:uLnTx/>
                <a:uFillTx/>
                <a:latin typeface="Barlow Bold" pitchFamily="34" charset="0"/>
                <a:ea typeface="Barlow Bold" pitchFamily="34" charset="-122"/>
                <a:cs typeface="+mn-cs"/>
              </a:rPr>
              <a:t>Ajay J. Singala</a:t>
            </a:r>
            <a:r>
              <a:rPr kumimoji="0" lang="en-US" sz="3667" b="0" i="0" u="none" strike="noStrike" kern="1200" cap="none" spc="0" normalizeH="0" baseline="0" noProof="0" dirty="0">
                <a:ln>
                  <a:noFill/>
                </a:ln>
                <a:solidFill>
                  <a:srgbClr val="F98AC7"/>
                </a:solidFill>
                <a:effectLst/>
                <a:uLnTx/>
                <a:uFillTx/>
                <a:latin typeface="Lora" pitchFamily="34" charset="0"/>
                <a:ea typeface="Lora" pitchFamily="34" charset="-122"/>
                <a:cs typeface="Lora" pitchFamily="34" charset="-120"/>
              </a:rPr>
              <a:t>​</a:t>
            </a:r>
            <a:endParaRPr kumimoji="0" lang="en-US" sz="3667"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Text 4"/>
          <p:cNvSpPr/>
          <p:nvPr/>
        </p:nvSpPr>
        <p:spPr>
          <a:xfrm>
            <a:off x="698103" y="5200452"/>
            <a:ext cx="2816225" cy="351929"/>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endParaRPr kumimoji="0" lang="en-US" sz="2208"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Content Placeholder 2">
            <a:extLst>
              <a:ext uri="{FF2B5EF4-FFF2-40B4-BE49-F238E27FC236}">
                <a16:creationId xmlns:a16="http://schemas.microsoft.com/office/drawing/2014/main" id="{4190121C-41BB-F374-06CB-8E7F4EA7F23D}"/>
              </a:ext>
            </a:extLst>
          </p:cNvPr>
          <p:cNvSpPr txBox="1">
            <a:spLocks/>
          </p:cNvSpPr>
          <p:nvPr/>
        </p:nvSpPr>
        <p:spPr>
          <a:xfrm>
            <a:off x="665480" y="1825625"/>
            <a:ext cx="665988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Blip>
                <a:blip>
                  <a:extLst>
                    <a:ext uri="{96DAC541-7B7A-43D3-8B79-37D633B846F1}">
                      <asvg:svgBlip xmlns:asvg="http://schemas.microsoft.com/office/drawing/2016/SVG/main" r:embed="rId4"/>
                    </a:ext>
                  </a:extLst>
                </a:blip>
              </a:buBlip>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&gt;30 years of experience​.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Blip>
                <a:blip>
                  <a:extLst>
                    <a:ext uri="{96DAC541-7B7A-43D3-8B79-37D633B846F1}">
                      <asvg:svgBlip xmlns:asvg="http://schemas.microsoft.com/office/drawing/2016/SVG/main" r:embed="rId5"/>
                    </a:ext>
                  </a:extLst>
                </a:blip>
              </a:buBlip>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Enterprise / Solution Architect, Trainer, Mentor, ex-CTO.</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Blip>
                <a:blip>
                  <a:extLst>
                    <a:ext uri="{96DAC541-7B7A-43D3-8B79-37D633B846F1}">
                      <asvg:svgBlip xmlns:asvg="http://schemas.microsoft.com/office/drawing/2016/SVG/main" r:embed="rId6"/>
                    </a:ext>
                  </a:extLst>
                </a:blip>
              </a:buBlip>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Tech Stack: Microsoft, Azure, AWS, Big Data, AI/ML/DL/Gen AI/Agentic AI.​</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Blip>
                <a:blip>
                  <a:extLst>
                    <a:ext uri="{96DAC541-7B7A-43D3-8B79-37D633B846F1}">
                      <asvg:svgBlip xmlns:asvg="http://schemas.microsoft.com/office/drawing/2016/SVG/main" r:embed="rId7"/>
                    </a:ext>
                  </a:extLst>
                </a:blip>
              </a:buBlip>
              <a:tabLst/>
              <a:defRPr/>
            </a:pPr>
            <a:r>
              <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rPr>
              <a:t>Formula 1 Racing, Gamer, Travel, Photography, Souvenirs, Coins, Fridge Magnets, Shot Glasses, Keychains (not necessarily in this order)​.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E4777D-DA15-EA20-86A6-23CF35C4AC98}"/>
              </a:ext>
            </a:extLst>
          </p:cNvPr>
          <p:cNvPicPr>
            <a:picLocks noChangeAspect="1"/>
          </p:cNvPicPr>
          <p:nvPr/>
        </p:nvPicPr>
        <p:blipFill>
          <a:blip r:embed="rId2"/>
          <a:stretch>
            <a:fillRect/>
          </a:stretch>
        </p:blipFill>
        <p:spPr>
          <a:xfrm>
            <a:off x="6973379" y="643467"/>
            <a:ext cx="4025095" cy="5571066"/>
          </a:xfrm>
          <a:prstGeom prst="rect">
            <a:avLst/>
          </a:prstGeom>
        </p:spPr>
      </p:pic>
      <p:pic>
        <p:nvPicPr>
          <p:cNvPr id="4" name="Picture 3">
            <a:extLst>
              <a:ext uri="{FF2B5EF4-FFF2-40B4-BE49-F238E27FC236}">
                <a16:creationId xmlns:a16="http://schemas.microsoft.com/office/drawing/2014/main" id="{D5A05A4D-DFA5-4D06-25F7-5528525CC283}"/>
              </a:ext>
            </a:extLst>
          </p:cNvPr>
          <p:cNvPicPr>
            <a:picLocks noChangeAspect="1"/>
          </p:cNvPicPr>
          <p:nvPr/>
        </p:nvPicPr>
        <p:blipFill>
          <a:blip r:embed="rId3"/>
          <a:stretch>
            <a:fillRect/>
          </a:stretch>
        </p:blipFill>
        <p:spPr>
          <a:xfrm>
            <a:off x="1082103" y="643467"/>
            <a:ext cx="4247937" cy="5571066"/>
          </a:xfrm>
          <a:prstGeom prst="rect">
            <a:avLst/>
          </a:prstGeom>
        </p:spPr>
      </p:pic>
    </p:spTree>
    <p:extLst>
      <p:ext uri="{BB962C8B-B14F-4D97-AF65-F5344CB8AC3E}">
        <p14:creationId xmlns:p14="http://schemas.microsoft.com/office/powerpoint/2010/main" val="1982505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C9B90E-9274-6356-3312-45E125433055}"/>
              </a:ext>
            </a:extLst>
          </p:cNvPr>
          <p:cNvPicPr>
            <a:picLocks noChangeAspect="1"/>
          </p:cNvPicPr>
          <p:nvPr/>
        </p:nvPicPr>
        <p:blipFill>
          <a:blip r:embed="rId2"/>
          <a:stretch>
            <a:fillRect/>
          </a:stretch>
        </p:blipFill>
        <p:spPr>
          <a:xfrm>
            <a:off x="3951732" y="0"/>
            <a:ext cx="4288536" cy="6858000"/>
          </a:xfrm>
          <a:prstGeom prst="rect">
            <a:avLst/>
          </a:prstGeom>
        </p:spPr>
      </p:pic>
      <p:sp>
        <p:nvSpPr>
          <p:cNvPr id="7" name="TextBox 6">
            <a:extLst>
              <a:ext uri="{FF2B5EF4-FFF2-40B4-BE49-F238E27FC236}">
                <a16:creationId xmlns:a16="http://schemas.microsoft.com/office/drawing/2014/main" id="{407A4268-8E4D-0653-E001-A2EF5819526C}"/>
              </a:ext>
            </a:extLst>
          </p:cNvPr>
          <p:cNvSpPr txBox="1"/>
          <p:nvPr/>
        </p:nvSpPr>
        <p:spPr>
          <a:xfrm>
            <a:off x="322326" y="2973435"/>
            <a:ext cx="6094476" cy="369332"/>
          </a:xfrm>
          <a:prstGeom prst="rect">
            <a:avLst/>
          </a:prstGeom>
          <a:noFill/>
        </p:spPr>
        <p:txBody>
          <a:bodyPr wrap="square">
            <a:spAutoFit/>
          </a:bodyPr>
          <a:lstStyle/>
          <a:p>
            <a:r>
              <a:rPr lang="en-IN" dirty="0">
                <a:hlinkClick r:id="rId3"/>
              </a:rPr>
              <a:t>https://amzn.in/d/0f8eRvrU</a:t>
            </a:r>
            <a:r>
              <a:rPr lang="en-IN" dirty="0"/>
              <a:t> </a:t>
            </a:r>
          </a:p>
        </p:txBody>
      </p:sp>
    </p:spTree>
    <p:extLst>
      <p:ext uri="{BB962C8B-B14F-4D97-AF65-F5344CB8AC3E}">
        <p14:creationId xmlns:p14="http://schemas.microsoft.com/office/powerpoint/2010/main" val="277392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TextBox 3"/>
          <p:cNvSpPr txBox="1"/>
          <p:nvPr/>
        </p:nvSpPr>
        <p:spPr>
          <a:xfrm>
            <a:off x="594360" y="384048"/>
            <a:ext cx="10972800" cy="584775"/>
          </a:xfrm>
          <a:prstGeom prst="rect">
            <a:avLst/>
          </a:prstGeom>
          <a:noFill/>
        </p:spPr>
        <p:txBody>
          <a:bodyPr wrap="square" anchor="t">
            <a:spAutoFit/>
          </a:bodyPr>
          <a:lstStyle/>
          <a:p>
            <a:pPr algn="l">
              <a:defRPr sz="2800" b="1">
                <a:solidFill>
                  <a:srgbClr val="111F35"/>
                </a:solidFill>
                <a:latin typeface="Aptos"/>
              </a:defRPr>
            </a:pPr>
            <a:r>
              <a:rPr lang="en-US" sz="3200" dirty="0"/>
              <a:t>Learning Objectives</a:t>
            </a:r>
            <a:endParaRPr sz="3200" dirty="0"/>
          </a:p>
        </p:txBody>
      </p:sp>
      <p:sp>
        <p:nvSpPr>
          <p:cNvPr id="5" name="TextBox 4"/>
          <p:cNvSpPr txBox="1"/>
          <p:nvPr/>
        </p:nvSpPr>
        <p:spPr>
          <a:xfrm>
            <a:off x="621792" y="960120"/>
            <a:ext cx="10789920" cy="3477875"/>
          </a:xfrm>
          <a:prstGeom prst="rect">
            <a:avLst/>
          </a:prstGeom>
          <a:noFill/>
        </p:spPr>
        <p:txBody>
          <a:bodyPr wrap="square" anchor="t">
            <a:spAutoFit/>
          </a:bodyPr>
          <a:lstStyle/>
          <a:p>
            <a:pPr marL="342900" lvl="0" indent="-342900">
              <a:buFont typeface="Arial" panose="020B0604020202020204" pitchFamily="34" charset="0"/>
              <a:buChar char="•"/>
            </a:pPr>
            <a:r>
              <a:rPr lang="en-IN" sz="2000" dirty="0">
                <a:latin typeface="Aptos" panose="020B0004020202020204" pitchFamily="34" charset="0"/>
              </a:rPr>
              <a:t>Give AI enough context to do useful work</a:t>
            </a:r>
          </a:p>
          <a:p>
            <a:pPr marL="342900" lvl="0" indent="-342900">
              <a:buFont typeface="Arial" panose="020B0604020202020204" pitchFamily="34" charset="0"/>
              <a:buChar char="•"/>
            </a:pPr>
            <a:endParaRPr lang="en-IN" sz="2000" dirty="0">
              <a:latin typeface="Aptos" panose="020B0004020202020204" pitchFamily="34" charset="0"/>
            </a:endParaRPr>
          </a:p>
          <a:p>
            <a:pPr marL="342900" lvl="0" indent="-342900">
              <a:buFont typeface="Arial" panose="020B0604020202020204" pitchFamily="34" charset="0"/>
              <a:buChar char="•"/>
            </a:pPr>
            <a:r>
              <a:rPr lang="en-IN" sz="2000" dirty="0">
                <a:latin typeface="Aptos" panose="020B0004020202020204" pitchFamily="34" charset="0"/>
              </a:rPr>
              <a:t>Specify the outcome you actually need</a:t>
            </a:r>
          </a:p>
          <a:p>
            <a:pPr marL="342900" lvl="0" indent="-342900">
              <a:buFont typeface="Arial" panose="020B0604020202020204" pitchFamily="34" charset="0"/>
              <a:buChar char="•"/>
            </a:pPr>
            <a:endParaRPr lang="en-IN" sz="2000" dirty="0">
              <a:latin typeface="Aptos" panose="020B0004020202020204" pitchFamily="34" charset="0"/>
            </a:endParaRPr>
          </a:p>
          <a:p>
            <a:pPr marL="342900" lvl="0" indent="-342900">
              <a:buFont typeface="Arial" panose="020B0604020202020204" pitchFamily="34" charset="0"/>
              <a:buChar char="•"/>
            </a:pPr>
            <a:r>
              <a:rPr lang="en-IN" sz="2000" dirty="0">
                <a:latin typeface="Aptos" panose="020B0004020202020204" pitchFamily="34" charset="0"/>
              </a:rPr>
              <a:t>Control assumptions and ambiguity</a:t>
            </a:r>
          </a:p>
          <a:p>
            <a:pPr marL="342900" lvl="0" indent="-342900">
              <a:buFont typeface="Arial" panose="020B0604020202020204" pitchFamily="34" charset="0"/>
              <a:buChar char="•"/>
            </a:pPr>
            <a:endParaRPr lang="en-IN" sz="2000" dirty="0">
              <a:latin typeface="Aptos" panose="020B0004020202020204" pitchFamily="34" charset="0"/>
            </a:endParaRPr>
          </a:p>
          <a:p>
            <a:pPr marL="342900" lvl="0" indent="-342900">
              <a:buFont typeface="Arial" panose="020B0604020202020204" pitchFamily="34" charset="0"/>
              <a:buChar char="•"/>
            </a:pPr>
            <a:r>
              <a:rPr lang="en-IN" sz="2000" dirty="0">
                <a:latin typeface="Aptos" panose="020B0004020202020204" pitchFamily="34" charset="0"/>
              </a:rPr>
              <a:t>Define the expected output</a:t>
            </a:r>
          </a:p>
          <a:p>
            <a:pPr marL="342900" lvl="0" indent="-342900">
              <a:buFont typeface="Arial" panose="020B0604020202020204" pitchFamily="34" charset="0"/>
              <a:buChar char="•"/>
            </a:pPr>
            <a:endParaRPr lang="en-IN" sz="2000" dirty="0">
              <a:latin typeface="Aptos" panose="020B0004020202020204" pitchFamily="34" charset="0"/>
            </a:endParaRPr>
          </a:p>
          <a:p>
            <a:pPr marL="342900" lvl="0" indent="-342900">
              <a:buFont typeface="Arial" panose="020B0604020202020204" pitchFamily="34" charset="0"/>
              <a:buChar char="•"/>
            </a:pPr>
            <a:r>
              <a:rPr lang="en-IN" sz="2000" dirty="0">
                <a:latin typeface="Aptos" panose="020B0004020202020204" pitchFamily="34" charset="0"/>
              </a:rPr>
              <a:t>Validate AI responses</a:t>
            </a:r>
          </a:p>
          <a:p>
            <a:pPr marL="342900" lvl="0" indent="-342900">
              <a:buFont typeface="Arial" panose="020B0604020202020204" pitchFamily="34" charset="0"/>
              <a:buChar char="•"/>
            </a:pPr>
            <a:endParaRPr lang="en-IN" sz="2000" dirty="0">
              <a:latin typeface="Aptos" panose="020B0004020202020204" pitchFamily="34" charset="0"/>
            </a:endParaRPr>
          </a:p>
          <a:p>
            <a:pPr marL="342900" lvl="0" indent="-342900">
              <a:buFont typeface="Arial" panose="020B0604020202020204" pitchFamily="34" charset="0"/>
              <a:buChar char="•"/>
            </a:pPr>
            <a:r>
              <a:rPr lang="en-IN" sz="2000" dirty="0">
                <a:latin typeface="Aptos" panose="020B0004020202020204" pitchFamily="34" charset="0"/>
              </a:rPr>
              <a:t>Adapt prompts to Data and Enterprise Operations work</a:t>
            </a:r>
          </a:p>
        </p:txBody>
      </p:sp>
      <p:sp>
        <p:nvSpPr>
          <p:cNvPr id="30" name="Rectangle 29"/>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TextBox 30"/>
          <p:cNvSpPr txBox="1"/>
          <p:nvPr/>
        </p:nvSpPr>
        <p:spPr>
          <a:xfrm>
            <a:off x="621792" y="6547104"/>
            <a:ext cx="4572000" cy="230832"/>
          </a:xfrm>
          <a:prstGeom prst="rect">
            <a:avLst/>
          </a:prstGeom>
          <a:noFill/>
        </p:spPr>
        <p:txBody>
          <a:bodyPr wrap="square" anchor="t">
            <a:spAutoFit/>
          </a:bodyPr>
          <a:lstStyle/>
          <a:p>
            <a:pPr algn="l">
              <a:defRPr sz="850" b="0">
                <a:solidFill>
                  <a:srgbClr val="647180"/>
                </a:solidFill>
                <a:latin typeface="Aptos"/>
              </a:defRPr>
            </a:pPr>
            <a:r>
              <a:rPr sz="900"/>
              <a:t>WinTrust AI Capability Program</a:t>
            </a:r>
          </a:p>
        </p:txBody>
      </p:sp>
      <p:sp>
        <p:nvSpPr>
          <p:cNvPr id="32" name="Slide Number Placeholder 31">
            <a:extLst>
              <a:ext uri="{FF2B5EF4-FFF2-40B4-BE49-F238E27FC236}">
                <a16:creationId xmlns:a16="http://schemas.microsoft.com/office/drawing/2014/main" id="{B84243A0-7076-31BD-E006-1350B8842865}"/>
              </a:ext>
            </a:extLst>
          </p:cNvPr>
          <p:cNvSpPr>
            <a:spLocks noGrp="1"/>
          </p:cNvSpPr>
          <p:nvPr>
            <p:ph type="sldNum" sz="quarter" idx="12"/>
          </p:nvPr>
        </p:nvSpPr>
        <p:spPr/>
        <p:txBody>
          <a:bodyPr/>
          <a:lstStyle/>
          <a:p>
            <a:fld id="{C1FF6DA9-008F-8B48-92A6-B652298478BF}" type="slidenum">
              <a:rPr lang="en-US" sz="1400" smtClean="0"/>
              <a:t>5</a:t>
            </a:fld>
            <a:endParaRPr 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34695-952D-DE13-01D3-632FB0B1A73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405C3AE-528A-3495-F5CB-9FE04B624F10}"/>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EA80C664-FAE4-A90B-25AE-418A152D3E96}"/>
              </a:ext>
            </a:extLst>
          </p:cNvPr>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E46E9BA-461C-D9A8-106F-F198012CFA8E}"/>
              </a:ext>
            </a:extLst>
          </p:cNvPr>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Today's Learning Journey</a:t>
            </a:r>
          </a:p>
        </p:txBody>
      </p:sp>
      <p:sp>
        <p:nvSpPr>
          <p:cNvPr id="5" name="TextBox 4">
            <a:extLst>
              <a:ext uri="{FF2B5EF4-FFF2-40B4-BE49-F238E27FC236}">
                <a16:creationId xmlns:a16="http://schemas.microsoft.com/office/drawing/2014/main" id="{3C91C941-8BD1-E854-0532-97481255D4E8}"/>
              </a:ext>
            </a:extLst>
          </p:cNvPr>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A practical path from vague requests to reliable AI work.</a:t>
            </a:r>
          </a:p>
        </p:txBody>
      </p:sp>
      <p:sp>
        <p:nvSpPr>
          <p:cNvPr id="6" name="Rounded Rectangle 5">
            <a:extLst>
              <a:ext uri="{FF2B5EF4-FFF2-40B4-BE49-F238E27FC236}">
                <a16:creationId xmlns:a16="http://schemas.microsoft.com/office/drawing/2014/main" id="{C72E9E53-DA26-1226-EAB9-17CB392EB876}"/>
              </a:ext>
            </a:extLst>
          </p:cNvPr>
          <p:cNvSpPr/>
          <p:nvPr/>
        </p:nvSpPr>
        <p:spPr>
          <a:xfrm>
            <a:off x="685800" y="164592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B7F2072A-82AE-9D2C-EE45-DD52BF479D7A}"/>
              </a:ext>
            </a:extLst>
          </p:cNvPr>
          <p:cNvSpPr/>
          <p:nvPr/>
        </p:nvSpPr>
        <p:spPr>
          <a:xfrm>
            <a:off x="685800" y="1645920"/>
            <a:ext cx="73152" cy="150876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C624B5BB-55F3-8F97-4D31-F9F9DE269AD8}"/>
              </a:ext>
            </a:extLst>
          </p:cNvPr>
          <p:cNvSpPr txBox="1"/>
          <p:nvPr/>
        </p:nvSpPr>
        <p:spPr>
          <a:xfrm>
            <a:off x="886968" y="1810512"/>
            <a:ext cx="2898648" cy="384048"/>
          </a:xfrm>
          <a:prstGeom prst="rect">
            <a:avLst/>
          </a:prstGeom>
          <a:noFill/>
        </p:spPr>
        <p:txBody>
          <a:bodyPr wrap="square" anchor="t">
            <a:spAutoFit/>
          </a:bodyPr>
          <a:lstStyle/>
          <a:p>
            <a:pPr algn="l">
              <a:defRPr sz="1800" b="1">
                <a:solidFill>
                  <a:srgbClr val="111F35"/>
                </a:solidFill>
                <a:latin typeface="Aptos"/>
              </a:defRPr>
            </a:pPr>
            <a:r>
              <a:t>UNDERSTAND</a:t>
            </a:r>
          </a:p>
        </p:txBody>
      </p:sp>
      <p:sp>
        <p:nvSpPr>
          <p:cNvPr id="9" name="TextBox 8">
            <a:extLst>
              <a:ext uri="{FF2B5EF4-FFF2-40B4-BE49-F238E27FC236}">
                <a16:creationId xmlns:a16="http://schemas.microsoft.com/office/drawing/2014/main" id="{A1640E5B-220C-15A2-8E6A-506996E07462}"/>
              </a:ext>
            </a:extLst>
          </p:cNvPr>
          <p:cNvSpPr txBox="1"/>
          <p:nvPr/>
        </p:nvSpPr>
        <p:spPr>
          <a:xfrm>
            <a:off x="886968" y="2267712"/>
            <a:ext cx="2898648" cy="758952"/>
          </a:xfrm>
          <a:prstGeom prst="rect">
            <a:avLst/>
          </a:prstGeom>
          <a:noFill/>
        </p:spPr>
        <p:txBody>
          <a:bodyPr wrap="square" anchor="t">
            <a:spAutoFit/>
          </a:bodyPr>
          <a:lstStyle/>
          <a:p>
            <a:pPr algn="l">
              <a:defRPr sz="1300" b="0">
                <a:solidFill>
                  <a:srgbClr val="25313F"/>
                </a:solidFill>
                <a:latin typeface="Aptos"/>
              </a:defRPr>
            </a:pPr>
            <a:r>
              <a:t>What prompting controls</a:t>
            </a:r>
          </a:p>
        </p:txBody>
      </p:sp>
      <p:sp>
        <p:nvSpPr>
          <p:cNvPr id="10" name="Rounded Rectangle 9">
            <a:extLst>
              <a:ext uri="{FF2B5EF4-FFF2-40B4-BE49-F238E27FC236}">
                <a16:creationId xmlns:a16="http://schemas.microsoft.com/office/drawing/2014/main" id="{6EE75339-91FC-9F19-7121-097587FD7AEE}"/>
              </a:ext>
            </a:extLst>
          </p:cNvPr>
          <p:cNvSpPr/>
          <p:nvPr/>
        </p:nvSpPr>
        <p:spPr>
          <a:xfrm>
            <a:off x="4389120" y="164592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F31171F7-7191-4AA4-7476-4E427C7498A6}"/>
              </a:ext>
            </a:extLst>
          </p:cNvPr>
          <p:cNvSpPr/>
          <p:nvPr/>
        </p:nvSpPr>
        <p:spPr>
          <a:xfrm>
            <a:off x="4389120" y="1645920"/>
            <a:ext cx="73152" cy="1508760"/>
          </a:xfrm>
          <a:prstGeom prst="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3B359ABE-36C5-2D64-AC00-278B9EB0832A}"/>
              </a:ext>
            </a:extLst>
          </p:cNvPr>
          <p:cNvSpPr txBox="1"/>
          <p:nvPr/>
        </p:nvSpPr>
        <p:spPr>
          <a:xfrm>
            <a:off x="4590288" y="1810512"/>
            <a:ext cx="2898648" cy="384048"/>
          </a:xfrm>
          <a:prstGeom prst="rect">
            <a:avLst/>
          </a:prstGeom>
          <a:noFill/>
        </p:spPr>
        <p:txBody>
          <a:bodyPr wrap="square" anchor="t">
            <a:spAutoFit/>
          </a:bodyPr>
          <a:lstStyle/>
          <a:p>
            <a:pPr algn="l">
              <a:defRPr sz="1800" b="1">
                <a:solidFill>
                  <a:srgbClr val="111F35"/>
                </a:solidFill>
                <a:latin typeface="Aptos"/>
              </a:defRPr>
            </a:pPr>
            <a:r>
              <a:t>SEE</a:t>
            </a:r>
          </a:p>
        </p:txBody>
      </p:sp>
      <p:sp>
        <p:nvSpPr>
          <p:cNvPr id="13" name="TextBox 12">
            <a:extLst>
              <a:ext uri="{FF2B5EF4-FFF2-40B4-BE49-F238E27FC236}">
                <a16:creationId xmlns:a16="http://schemas.microsoft.com/office/drawing/2014/main" id="{2CC0A682-9E62-6801-78E7-E59299D9600E}"/>
              </a:ext>
            </a:extLst>
          </p:cNvPr>
          <p:cNvSpPr txBox="1"/>
          <p:nvPr/>
        </p:nvSpPr>
        <p:spPr>
          <a:xfrm>
            <a:off x="4590288" y="2267712"/>
            <a:ext cx="2898648" cy="758952"/>
          </a:xfrm>
          <a:prstGeom prst="rect">
            <a:avLst/>
          </a:prstGeom>
          <a:noFill/>
        </p:spPr>
        <p:txBody>
          <a:bodyPr wrap="square" anchor="t">
            <a:spAutoFit/>
          </a:bodyPr>
          <a:lstStyle/>
          <a:p>
            <a:pPr algn="l">
              <a:defRPr sz="1300" b="0">
                <a:solidFill>
                  <a:srgbClr val="25313F"/>
                </a:solidFill>
                <a:latin typeface="Aptos"/>
              </a:defRPr>
            </a:pPr>
            <a:r>
              <a:t>Weak vs strong requests</a:t>
            </a:r>
          </a:p>
        </p:txBody>
      </p:sp>
      <p:sp>
        <p:nvSpPr>
          <p:cNvPr id="14" name="Rounded Rectangle 13">
            <a:extLst>
              <a:ext uri="{FF2B5EF4-FFF2-40B4-BE49-F238E27FC236}">
                <a16:creationId xmlns:a16="http://schemas.microsoft.com/office/drawing/2014/main" id="{94BFF5FE-77BF-B71E-0BA8-43E46B45A365}"/>
              </a:ext>
            </a:extLst>
          </p:cNvPr>
          <p:cNvSpPr/>
          <p:nvPr/>
        </p:nvSpPr>
        <p:spPr>
          <a:xfrm>
            <a:off x="8092440" y="164592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FC36A6DF-0EA5-C5BB-BCE1-246293FF245D}"/>
              </a:ext>
            </a:extLst>
          </p:cNvPr>
          <p:cNvSpPr/>
          <p:nvPr/>
        </p:nvSpPr>
        <p:spPr>
          <a:xfrm>
            <a:off x="8092440" y="1645920"/>
            <a:ext cx="73152" cy="1508760"/>
          </a:xfrm>
          <a:prstGeom prst="rect">
            <a:avLst/>
          </a:prstGeom>
          <a:solidFill>
            <a:srgbClr val="49B4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7F583577-671F-95E7-8FD3-9A9449AFFB9D}"/>
              </a:ext>
            </a:extLst>
          </p:cNvPr>
          <p:cNvSpPr txBox="1"/>
          <p:nvPr/>
        </p:nvSpPr>
        <p:spPr>
          <a:xfrm>
            <a:off x="8293608" y="1810512"/>
            <a:ext cx="2898648" cy="384048"/>
          </a:xfrm>
          <a:prstGeom prst="rect">
            <a:avLst/>
          </a:prstGeom>
          <a:noFill/>
        </p:spPr>
        <p:txBody>
          <a:bodyPr wrap="square" anchor="t">
            <a:spAutoFit/>
          </a:bodyPr>
          <a:lstStyle/>
          <a:p>
            <a:pPr algn="l">
              <a:defRPr sz="1800" b="1">
                <a:solidFill>
                  <a:srgbClr val="111F35"/>
                </a:solidFill>
                <a:latin typeface="Aptos"/>
              </a:defRPr>
            </a:pPr>
            <a:r>
              <a:t>BUILD</a:t>
            </a:r>
          </a:p>
        </p:txBody>
      </p:sp>
      <p:sp>
        <p:nvSpPr>
          <p:cNvPr id="17" name="TextBox 16">
            <a:extLst>
              <a:ext uri="{FF2B5EF4-FFF2-40B4-BE49-F238E27FC236}">
                <a16:creationId xmlns:a16="http://schemas.microsoft.com/office/drawing/2014/main" id="{8A267DDB-BE97-3D9E-A95A-717F6202FDF8}"/>
              </a:ext>
            </a:extLst>
          </p:cNvPr>
          <p:cNvSpPr txBox="1"/>
          <p:nvPr/>
        </p:nvSpPr>
        <p:spPr>
          <a:xfrm>
            <a:off x="8293608" y="2267712"/>
            <a:ext cx="2898648" cy="758952"/>
          </a:xfrm>
          <a:prstGeom prst="rect">
            <a:avLst/>
          </a:prstGeom>
          <a:noFill/>
        </p:spPr>
        <p:txBody>
          <a:bodyPr wrap="square" anchor="t">
            <a:spAutoFit/>
          </a:bodyPr>
          <a:lstStyle/>
          <a:p>
            <a:pPr algn="l">
              <a:defRPr sz="1300" b="0">
                <a:solidFill>
                  <a:srgbClr val="25313F"/>
                </a:solidFill>
                <a:latin typeface="Aptos"/>
              </a:defRPr>
            </a:pPr>
            <a:r>
              <a:t>Prompt anatomy</a:t>
            </a:r>
          </a:p>
        </p:txBody>
      </p:sp>
      <p:sp>
        <p:nvSpPr>
          <p:cNvPr id="18" name="Rounded Rectangle 17">
            <a:extLst>
              <a:ext uri="{FF2B5EF4-FFF2-40B4-BE49-F238E27FC236}">
                <a16:creationId xmlns:a16="http://schemas.microsoft.com/office/drawing/2014/main" id="{1EE556DC-45BB-9B76-B0FB-02D5C14FB0B9}"/>
              </a:ext>
            </a:extLst>
          </p:cNvPr>
          <p:cNvSpPr/>
          <p:nvPr/>
        </p:nvSpPr>
        <p:spPr>
          <a:xfrm>
            <a:off x="685800" y="379476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3F4314CF-3B5B-3D87-194E-4FCF00527178}"/>
              </a:ext>
            </a:extLst>
          </p:cNvPr>
          <p:cNvSpPr/>
          <p:nvPr/>
        </p:nvSpPr>
        <p:spPr>
          <a:xfrm>
            <a:off x="685800" y="3794760"/>
            <a:ext cx="73152" cy="1508760"/>
          </a:xfrm>
          <a:prstGeom prst="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D238574D-5312-4A25-95E4-0A9A3E76A65A}"/>
              </a:ext>
            </a:extLst>
          </p:cNvPr>
          <p:cNvSpPr txBox="1"/>
          <p:nvPr/>
        </p:nvSpPr>
        <p:spPr>
          <a:xfrm>
            <a:off x="886968" y="3959352"/>
            <a:ext cx="2898648" cy="384048"/>
          </a:xfrm>
          <a:prstGeom prst="rect">
            <a:avLst/>
          </a:prstGeom>
          <a:noFill/>
        </p:spPr>
        <p:txBody>
          <a:bodyPr wrap="square" anchor="t">
            <a:spAutoFit/>
          </a:bodyPr>
          <a:lstStyle/>
          <a:p>
            <a:pPr algn="l">
              <a:defRPr sz="1800" b="1">
                <a:solidFill>
                  <a:srgbClr val="111F35"/>
                </a:solidFill>
                <a:latin typeface="Aptos"/>
              </a:defRPr>
            </a:pPr>
            <a:r>
              <a:t>PRACTICE</a:t>
            </a:r>
          </a:p>
        </p:txBody>
      </p:sp>
      <p:sp>
        <p:nvSpPr>
          <p:cNvPr id="21" name="TextBox 20">
            <a:extLst>
              <a:ext uri="{FF2B5EF4-FFF2-40B4-BE49-F238E27FC236}">
                <a16:creationId xmlns:a16="http://schemas.microsoft.com/office/drawing/2014/main" id="{76A0BA93-0568-2031-7FE1-F53A39CE5028}"/>
              </a:ext>
            </a:extLst>
          </p:cNvPr>
          <p:cNvSpPr txBox="1"/>
          <p:nvPr/>
        </p:nvSpPr>
        <p:spPr>
          <a:xfrm>
            <a:off x="886968" y="4416552"/>
            <a:ext cx="2898648" cy="758952"/>
          </a:xfrm>
          <a:prstGeom prst="rect">
            <a:avLst/>
          </a:prstGeom>
          <a:noFill/>
        </p:spPr>
        <p:txBody>
          <a:bodyPr wrap="square" anchor="t">
            <a:spAutoFit/>
          </a:bodyPr>
          <a:lstStyle/>
          <a:p>
            <a:pPr algn="l">
              <a:defRPr sz="1300" b="0">
                <a:solidFill>
                  <a:srgbClr val="25313F"/>
                </a:solidFill>
                <a:latin typeface="Aptos"/>
              </a:defRPr>
            </a:pPr>
            <a:r>
              <a:t>Data + Ops examples</a:t>
            </a:r>
          </a:p>
        </p:txBody>
      </p:sp>
      <p:sp>
        <p:nvSpPr>
          <p:cNvPr id="22" name="Rounded Rectangle 21">
            <a:extLst>
              <a:ext uri="{FF2B5EF4-FFF2-40B4-BE49-F238E27FC236}">
                <a16:creationId xmlns:a16="http://schemas.microsoft.com/office/drawing/2014/main" id="{9DCC9094-56E1-53CF-AC16-CEE0DC448191}"/>
              </a:ext>
            </a:extLst>
          </p:cNvPr>
          <p:cNvSpPr/>
          <p:nvPr/>
        </p:nvSpPr>
        <p:spPr>
          <a:xfrm>
            <a:off x="4389120" y="379476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E5854B8A-E39B-C6A7-3279-DFF66255C891}"/>
              </a:ext>
            </a:extLst>
          </p:cNvPr>
          <p:cNvSpPr/>
          <p:nvPr/>
        </p:nvSpPr>
        <p:spPr>
          <a:xfrm>
            <a:off x="4389120" y="3794760"/>
            <a:ext cx="73152" cy="1508760"/>
          </a:xfrm>
          <a:prstGeom prst="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9890AF60-2348-9701-5ED4-FE3272C8EB45}"/>
              </a:ext>
            </a:extLst>
          </p:cNvPr>
          <p:cNvSpPr txBox="1"/>
          <p:nvPr/>
        </p:nvSpPr>
        <p:spPr>
          <a:xfrm>
            <a:off x="4590288" y="3959352"/>
            <a:ext cx="2898648" cy="384048"/>
          </a:xfrm>
          <a:prstGeom prst="rect">
            <a:avLst/>
          </a:prstGeom>
          <a:noFill/>
        </p:spPr>
        <p:txBody>
          <a:bodyPr wrap="square" anchor="t">
            <a:spAutoFit/>
          </a:bodyPr>
          <a:lstStyle/>
          <a:p>
            <a:pPr algn="l">
              <a:defRPr sz="1800" b="1">
                <a:solidFill>
                  <a:srgbClr val="111F35"/>
                </a:solidFill>
                <a:latin typeface="Aptos"/>
              </a:defRPr>
            </a:pPr>
            <a:r>
              <a:t>DOCTOR</a:t>
            </a:r>
          </a:p>
        </p:txBody>
      </p:sp>
      <p:sp>
        <p:nvSpPr>
          <p:cNvPr id="25" name="TextBox 24">
            <a:extLst>
              <a:ext uri="{FF2B5EF4-FFF2-40B4-BE49-F238E27FC236}">
                <a16:creationId xmlns:a16="http://schemas.microsoft.com/office/drawing/2014/main" id="{872F87EC-29E5-E4ED-6891-62A112245A75}"/>
              </a:ext>
            </a:extLst>
          </p:cNvPr>
          <p:cNvSpPr txBox="1"/>
          <p:nvPr/>
        </p:nvSpPr>
        <p:spPr>
          <a:xfrm>
            <a:off x="4590288" y="4416552"/>
            <a:ext cx="2898648" cy="758952"/>
          </a:xfrm>
          <a:prstGeom prst="rect">
            <a:avLst/>
          </a:prstGeom>
          <a:noFill/>
        </p:spPr>
        <p:txBody>
          <a:bodyPr wrap="square" anchor="t">
            <a:spAutoFit/>
          </a:bodyPr>
          <a:lstStyle/>
          <a:p>
            <a:pPr algn="l">
              <a:defRPr sz="1300" b="0">
                <a:solidFill>
                  <a:srgbClr val="25313F"/>
                </a:solidFill>
                <a:latin typeface="Aptos"/>
              </a:defRPr>
            </a:pPr>
            <a:r>
              <a:t>Rewrite five weak prompts</a:t>
            </a:r>
          </a:p>
        </p:txBody>
      </p:sp>
      <p:sp>
        <p:nvSpPr>
          <p:cNvPr id="26" name="Rounded Rectangle 25">
            <a:extLst>
              <a:ext uri="{FF2B5EF4-FFF2-40B4-BE49-F238E27FC236}">
                <a16:creationId xmlns:a16="http://schemas.microsoft.com/office/drawing/2014/main" id="{A0580496-9F34-78FE-F009-E366CF6B9047}"/>
              </a:ext>
            </a:extLst>
          </p:cNvPr>
          <p:cNvSpPr/>
          <p:nvPr/>
        </p:nvSpPr>
        <p:spPr>
          <a:xfrm>
            <a:off x="8092440" y="379476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2D85BA1B-11A8-47BE-F2FA-1AD0D1505186}"/>
              </a:ext>
            </a:extLst>
          </p:cNvPr>
          <p:cNvSpPr/>
          <p:nvPr/>
        </p:nvSpPr>
        <p:spPr>
          <a:xfrm>
            <a:off x="8092440" y="3794760"/>
            <a:ext cx="73152" cy="1508760"/>
          </a:xfrm>
          <a:prstGeom prst="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E54BE200-0BBC-E3DA-782A-F7C89A290EB2}"/>
              </a:ext>
            </a:extLst>
          </p:cNvPr>
          <p:cNvSpPr txBox="1"/>
          <p:nvPr/>
        </p:nvSpPr>
        <p:spPr>
          <a:xfrm>
            <a:off x="8293608" y="3959352"/>
            <a:ext cx="2898648" cy="384048"/>
          </a:xfrm>
          <a:prstGeom prst="rect">
            <a:avLst/>
          </a:prstGeom>
          <a:noFill/>
        </p:spPr>
        <p:txBody>
          <a:bodyPr wrap="square" anchor="t">
            <a:spAutoFit/>
          </a:bodyPr>
          <a:lstStyle/>
          <a:p>
            <a:pPr algn="l">
              <a:defRPr sz="1800" b="1">
                <a:solidFill>
                  <a:srgbClr val="111F35"/>
                </a:solidFill>
                <a:latin typeface="Aptos"/>
              </a:defRPr>
            </a:pPr>
            <a:r>
              <a:t>REFINE</a:t>
            </a:r>
          </a:p>
        </p:txBody>
      </p:sp>
      <p:sp>
        <p:nvSpPr>
          <p:cNvPr id="29" name="TextBox 28">
            <a:extLst>
              <a:ext uri="{FF2B5EF4-FFF2-40B4-BE49-F238E27FC236}">
                <a16:creationId xmlns:a16="http://schemas.microsoft.com/office/drawing/2014/main" id="{9801F210-33CD-C4A3-B22E-322305B613DB}"/>
              </a:ext>
            </a:extLst>
          </p:cNvPr>
          <p:cNvSpPr txBox="1"/>
          <p:nvPr/>
        </p:nvSpPr>
        <p:spPr>
          <a:xfrm>
            <a:off x="8293608" y="4416552"/>
            <a:ext cx="2898648" cy="758952"/>
          </a:xfrm>
          <a:prstGeom prst="rect">
            <a:avLst/>
          </a:prstGeom>
          <a:noFill/>
        </p:spPr>
        <p:txBody>
          <a:bodyPr wrap="square" anchor="t">
            <a:spAutoFit/>
          </a:bodyPr>
          <a:lstStyle/>
          <a:p>
            <a:pPr algn="l">
              <a:defRPr sz="1300" b="0">
                <a:solidFill>
                  <a:srgbClr val="25313F"/>
                </a:solidFill>
                <a:latin typeface="Aptos"/>
              </a:defRPr>
            </a:pPr>
            <a:r>
              <a:t>Test, compare, improve</a:t>
            </a:r>
          </a:p>
        </p:txBody>
      </p:sp>
      <p:sp>
        <p:nvSpPr>
          <p:cNvPr id="30" name="Rectangle 29">
            <a:extLst>
              <a:ext uri="{FF2B5EF4-FFF2-40B4-BE49-F238E27FC236}">
                <a16:creationId xmlns:a16="http://schemas.microsoft.com/office/drawing/2014/main" id="{71393366-15DA-0588-B13A-F7CBBE81C9E8}"/>
              </a:ext>
            </a:extLst>
          </p:cNvPr>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7A4A1E2E-8500-B191-1956-BE2A14003091}"/>
              </a:ext>
            </a:extLst>
          </p:cNvPr>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32" name="Slide Number Placeholder 31">
            <a:extLst>
              <a:ext uri="{FF2B5EF4-FFF2-40B4-BE49-F238E27FC236}">
                <a16:creationId xmlns:a16="http://schemas.microsoft.com/office/drawing/2014/main" id="{D7378680-5FC6-B8FC-7A77-8C171C9E0E29}"/>
              </a:ext>
            </a:extLst>
          </p:cNvPr>
          <p:cNvSpPr>
            <a:spLocks noGrp="1"/>
          </p:cNvSpPr>
          <p:nvPr>
            <p:ph type="sldNum" sz="quarter" idx="12"/>
          </p:nvPr>
        </p:nvSpPr>
        <p:spPr/>
        <p:txBody>
          <a:bodyPr/>
          <a:lstStyle/>
          <a:p>
            <a:fld id="{C1FF6DA9-008F-8B48-92A6-B652298478BF}" type="slidenum">
              <a:rPr lang="en-US" smtClean="0"/>
              <a:t>6</a:t>
            </a:fld>
            <a:endParaRPr lang="en-US"/>
          </a:p>
        </p:txBody>
      </p:sp>
    </p:spTree>
    <p:extLst>
      <p:ext uri="{BB962C8B-B14F-4D97-AF65-F5344CB8AC3E}">
        <p14:creationId xmlns:p14="http://schemas.microsoft.com/office/powerpoint/2010/main" val="2935257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What Is a Prompt?</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A prompt is more than a question.</a:t>
            </a:r>
          </a:p>
        </p:txBody>
      </p:sp>
      <p:sp>
        <p:nvSpPr>
          <p:cNvPr id="6" name="Rounded Rectangle 5"/>
          <p:cNvSpPr/>
          <p:nvPr/>
        </p:nvSpPr>
        <p:spPr>
          <a:xfrm>
            <a:off x="731520" y="1508760"/>
            <a:ext cx="5029200" cy="1874519"/>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27048"/>
            <a:ext cx="365760" cy="457200"/>
          </a:xfrm>
          <a:prstGeom prst="rect">
            <a:avLst/>
          </a:prstGeom>
          <a:noFill/>
        </p:spPr>
        <p:txBody>
          <a:bodyPr wrap="square" anchor="t">
            <a:spAutoFit/>
          </a:bodyPr>
          <a:lstStyle/>
          <a:p>
            <a:pPr algn="l">
              <a:defRPr sz="3200" b="1">
                <a:solidFill>
                  <a:srgbClr val="148F96"/>
                </a:solidFill>
                <a:latin typeface="Aptos"/>
              </a:defRPr>
            </a:pPr>
            <a:r>
              <a:t>“</a:t>
            </a:r>
          </a:p>
        </p:txBody>
      </p:sp>
      <p:sp>
        <p:nvSpPr>
          <p:cNvPr id="8" name="TextBox 7"/>
          <p:cNvSpPr txBox="1"/>
          <p:nvPr/>
        </p:nvSpPr>
        <p:spPr>
          <a:xfrm>
            <a:off x="1298448" y="1709928"/>
            <a:ext cx="4251960" cy="1600199"/>
          </a:xfrm>
          <a:prstGeom prst="rect">
            <a:avLst/>
          </a:prstGeom>
          <a:noFill/>
        </p:spPr>
        <p:txBody>
          <a:bodyPr wrap="square" anchor="t">
            <a:spAutoFit/>
          </a:bodyPr>
          <a:lstStyle/>
          <a:p>
            <a:pPr algn="l">
              <a:defRPr sz="2100" b="1">
                <a:solidFill>
                  <a:srgbClr val="111F35"/>
                </a:solidFill>
                <a:latin typeface="Aptos"/>
              </a:defRPr>
            </a:pPr>
            <a:r>
              <a:t>A useful prompt communicates intent, context, task, constraints and expected output.</a:t>
            </a:r>
          </a:p>
        </p:txBody>
      </p:sp>
      <p:sp>
        <p:nvSpPr>
          <p:cNvPr id="9" name="Rounded Rectangle 8"/>
          <p:cNvSpPr/>
          <p:nvPr/>
        </p:nvSpPr>
        <p:spPr>
          <a:xfrm>
            <a:off x="6080760" y="1417320"/>
            <a:ext cx="5074920" cy="123444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80760" y="1417320"/>
            <a:ext cx="73152" cy="1234440"/>
          </a:xfrm>
          <a:prstGeom prst="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81928" y="1581912"/>
            <a:ext cx="4727448" cy="384048"/>
          </a:xfrm>
          <a:prstGeom prst="rect">
            <a:avLst/>
          </a:prstGeom>
          <a:noFill/>
        </p:spPr>
        <p:txBody>
          <a:bodyPr wrap="square" anchor="t">
            <a:spAutoFit/>
          </a:bodyPr>
          <a:lstStyle/>
          <a:p>
            <a:pPr algn="l">
              <a:defRPr sz="1800" b="1">
                <a:solidFill>
                  <a:srgbClr val="111F35"/>
                </a:solidFill>
                <a:latin typeface="Aptos"/>
              </a:defRPr>
            </a:pPr>
            <a:r>
              <a:t>WEAK</a:t>
            </a:r>
          </a:p>
        </p:txBody>
      </p:sp>
      <p:sp>
        <p:nvSpPr>
          <p:cNvPr id="12" name="TextBox 11"/>
          <p:cNvSpPr txBox="1"/>
          <p:nvPr/>
        </p:nvSpPr>
        <p:spPr>
          <a:xfrm>
            <a:off x="6281928" y="2039112"/>
            <a:ext cx="4727448" cy="484632"/>
          </a:xfrm>
          <a:prstGeom prst="rect">
            <a:avLst/>
          </a:prstGeom>
          <a:noFill/>
        </p:spPr>
        <p:txBody>
          <a:bodyPr wrap="square" anchor="t">
            <a:spAutoFit/>
          </a:bodyPr>
          <a:lstStyle/>
          <a:p>
            <a:pPr algn="l">
              <a:defRPr sz="1700" b="0">
                <a:solidFill>
                  <a:srgbClr val="25313F"/>
                </a:solidFill>
                <a:latin typeface="Aptos"/>
              </a:defRPr>
            </a:pPr>
            <a:r>
              <a:t>“Analyze these tickets.”</a:t>
            </a:r>
          </a:p>
        </p:txBody>
      </p:sp>
      <p:sp>
        <p:nvSpPr>
          <p:cNvPr id="13" name="Rounded Rectangle 12"/>
          <p:cNvSpPr/>
          <p:nvPr/>
        </p:nvSpPr>
        <p:spPr>
          <a:xfrm>
            <a:off x="6080760" y="2880360"/>
            <a:ext cx="5074920" cy="20574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80760" y="2880360"/>
            <a:ext cx="73152" cy="2057400"/>
          </a:xfrm>
          <a:prstGeom prst="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81928" y="3044952"/>
            <a:ext cx="4727448" cy="384048"/>
          </a:xfrm>
          <a:prstGeom prst="rect">
            <a:avLst/>
          </a:prstGeom>
          <a:noFill/>
        </p:spPr>
        <p:txBody>
          <a:bodyPr wrap="square" anchor="t">
            <a:spAutoFit/>
          </a:bodyPr>
          <a:lstStyle/>
          <a:p>
            <a:pPr algn="l">
              <a:defRPr sz="1800" b="1">
                <a:solidFill>
                  <a:srgbClr val="111F35"/>
                </a:solidFill>
                <a:latin typeface="Aptos"/>
              </a:defRPr>
            </a:pPr>
            <a:r>
              <a:t>STRONG</a:t>
            </a:r>
          </a:p>
        </p:txBody>
      </p:sp>
      <p:sp>
        <p:nvSpPr>
          <p:cNvPr id="16" name="TextBox 15"/>
          <p:cNvSpPr txBox="1"/>
          <p:nvPr/>
        </p:nvSpPr>
        <p:spPr>
          <a:xfrm>
            <a:off x="6281928" y="3502152"/>
            <a:ext cx="4727448" cy="1307592"/>
          </a:xfrm>
          <a:prstGeom prst="rect">
            <a:avLst/>
          </a:prstGeom>
          <a:noFill/>
        </p:spPr>
        <p:txBody>
          <a:bodyPr wrap="square" anchor="t">
            <a:spAutoFit/>
          </a:bodyPr>
          <a:lstStyle/>
          <a:p>
            <a:pPr algn="l">
              <a:defRPr sz="1400" b="0">
                <a:solidFill>
                  <a:srgbClr val="25313F"/>
                </a:solidFill>
                <a:latin typeface="Aptos"/>
              </a:defRPr>
            </a:pPr>
            <a:r>
              <a:t>“You are a WinTrust operations analyst. Review the supplied tickets against the SLA policy. Identify SLA breaches and escalation candidates. Do not infer missing information. Return evidence and recommendation in a table.”</a:t>
            </a:r>
          </a:p>
        </p:txBody>
      </p:sp>
      <p:sp>
        <p:nvSpPr>
          <p:cNvPr id="17" name="Rectangle 16"/>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9" name="Slide Number Placeholder 18">
            <a:extLst>
              <a:ext uri="{FF2B5EF4-FFF2-40B4-BE49-F238E27FC236}">
                <a16:creationId xmlns:a16="http://schemas.microsoft.com/office/drawing/2014/main" id="{785F02ED-4620-3A62-450E-FF1EB726EC85}"/>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Anatomy of a High-Quality Prompt</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Use the components that reduce ambiguity.</a:t>
            </a:r>
          </a:p>
        </p:txBody>
      </p:sp>
      <p:graphicFrame>
        <p:nvGraphicFramePr>
          <p:cNvPr id="6" name="Table 5"/>
          <p:cNvGraphicFramePr>
            <a:graphicFrameLocks noGrp="1"/>
          </p:cNvGraphicFramePr>
          <p:nvPr/>
        </p:nvGraphicFramePr>
        <p:xfrm>
          <a:off x="777240" y="1417320"/>
          <a:ext cx="10698480" cy="44805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8641080">
                  <a:extLst>
                    <a:ext uri="{9D8B030D-6E8A-4147-A177-3AD203B41FA5}">
                      <a16:colId xmlns:a16="http://schemas.microsoft.com/office/drawing/2014/main" val="20001"/>
                    </a:ext>
                  </a:extLst>
                </a:gridCol>
              </a:tblGrid>
              <a:tr h="560070">
                <a:tc>
                  <a:txBody>
                    <a:bodyPr/>
                    <a:lstStyle/>
                    <a:p>
                      <a:pPr>
                        <a:defRPr sz="1400" b="1">
                          <a:solidFill>
                            <a:srgbClr val="FFFFFF"/>
                          </a:solidFill>
                          <a:latin typeface="Aptos"/>
                        </a:defRPr>
                      </a:pPr>
                      <a:r>
                        <a:t>Component</a:t>
                      </a:r>
                    </a:p>
                  </a:txBody>
                  <a:tcPr>
                    <a:solidFill>
                      <a:srgbClr val="111F35"/>
                    </a:solidFill>
                  </a:tcPr>
                </a:tc>
                <a:tc>
                  <a:txBody>
                    <a:bodyPr/>
                    <a:lstStyle/>
                    <a:p>
                      <a:pPr>
                        <a:defRPr sz="1400" b="1">
                          <a:solidFill>
                            <a:srgbClr val="FFFFFF"/>
                          </a:solidFill>
                          <a:latin typeface="Aptos"/>
                        </a:defRPr>
                      </a:pPr>
                      <a:r>
                        <a:t>Question</a:t>
                      </a:r>
                    </a:p>
                  </a:txBody>
                  <a:tcPr>
                    <a:solidFill>
                      <a:srgbClr val="111F35"/>
                    </a:solidFill>
                  </a:tcPr>
                </a:tc>
                <a:extLst>
                  <a:ext uri="{0D108BD9-81ED-4DB2-BD59-A6C34878D82A}">
                    <a16:rowId xmlns:a16="http://schemas.microsoft.com/office/drawing/2014/main" val="10000"/>
                  </a:ext>
                </a:extLst>
              </a:tr>
              <a:tr h="560070">
                <a:tc>
                  <a:txBody>
                    <a:bodyPr/>
                    <a:lstStyle/>
                    <a:p>
                      <a:pPr>
                        <a:defRPr sz="1400">
                          <a:solidFill>
                            <a:srgbClr val="25313F"/>
                          </a:solidFill>
                          <a:latin typeface="Aptos"/>
                        </a:defRPr>
                      </a:pPr>
                      <a:r>
                        <a:t>Role</a:t>
                      </a:r>
                    </a:p>
                  </a:txBody>
                  <a:tcPr>
                    <a:solidFill>
                      <a:srgbClr val="FFFFFF"/>
                    </a:solidFill>
                  </a:tcPr>
                </a:tc>
                <a:tc>
                  <a:txBody>
                    <a:bodyPr/>
                    <a:lstStyle/>
                    <a:p>
                      <a:pPr>
                        <a:defRPr sz="1400">
                          <a:solidFill>
                            <a:srgbClr val="25313F"/>
                          </a:solidFill>
                          <a:latin typeface="Aptos"/>
                        </a:defRPr>
                      </a:pPr>
                      <a:r>
                        <a:t>Who should AI act as?</a:t>
                      </a:r>
                    </a:p>
                  </a:txBody>
                  <a:tcPr>
                    <a:solidFill>
                      <a:srgbClr val="FFFFFF"/>
                    </a:solidFill>
                  </a:tcPr>
                </a:tc>
                <a:extLst>
                  <a:ext uri="{0D108BD9-81ED-4DB2-BD59-A6C34878D82A}">
                    <a16:rowId xmlns:a16="http://schemas.microsoft.com/office/drawing/2014/main" val="10001"/>
                  </a:ext>
                </a:extLst>
              </a:tr>
              <a:tr h="560070">
                <a:tc>
                  <a:txBody>
                    <a:bodyPr/>
                    <a:lstStyle/>
                    <a:p>
                      <a:pPr>
                        <a:defRPr sz="1400">
                          <a:solidFill>
                            <a:srgbClr val="25313F"/>
                          </a:solidFill>
                          <a:latin typeface="Aptos"/>
                        </a:defRPr>
                      </a:pPr>
                      <a:r>
                        <a:t>Context</a:t>
                      </a:r>
                    </a:p>
                  </a:txBody>
                  <a:tcPr>
                    <a:solidFill>
                      <a:srgbClr val="F4F7FA"/>
                    </a:solidFill>
                  </a:tcPr>
                </a:tc>
                <a:tc>
                  <a:txBody>
                    <a:bodyPr/>
                    <a:lstStyle/>
                    <a:p>
                      <a:pPr>
                        <a:defRPr sz="1400">
                          <a:solidFill>
                            <a:srgbClr val="25313F"/>
                          </a:solidFill>
                          <a:latin typeface="Aptos"/>
                        </a:defRPr>
                      </a:pPr>
                      <a:r>
                        <a:t>What does it need to know?</a:t>
                      </a:r>
                    </a:p>
                  </a:txBody>
                  <a:tcPr>
                    <a:solidFill>
                      <a:srgbClr val="F4F7FA"/>
                    </a:solidFill>
                  </a:tcPr>
                </a:tc>
                <a:extLst>
                  <a:ext uri="{0D108BD9-81ED-4DB2-BD59-A6C34878D82A}">
                    <a16:rowId xmlns:a16="http://schemas.microsoft.com/office/drawing/2014/main" val="10002"/>
                  </a:ext>
                </a:extLst>
              </a:tr>
              <a:tr h="560070">
                <a:tc>
                  <a:txBody>
                    <a:bodyPr/>
                    <a:lstStyle/>
                    <a:p>
                      <a:pPr>
                        <a:defRPr sz="1400">
                          <a:solidFill>
                            <a:srgbClr val="25313F"/>
                          </a:solidFill>
                          <a:latin typeface="Aptos"/>
                        </a:defRPr>
                      </a:pPr>
                      <a:r>
                        <a:t>Task</a:t>
                      </a:r>
                    </a:p>
                  </a:txBody>
                  <a:tcPr>
                    <a:solidFill>
                      <a:srgbClr val="FFFFFF"/>
                    </a:solidFill>
                  </a:tcPr>
                </a:tc>
                <a:tc>
                  <a:txBody>
                    <a:bodyPr/>
                    <a:lstStyle/>
                    <a:p>
                      <a:pPr>
                        <a:defRPr sz="1400">
                          <a:solidFill>
                            <a:srgbClr val="25313F"/>
                          </a:solidFill>
                          <a:latin typeface="Aptos"/>
                        </a:defRPr>
                      </a:pPr>
                      <a:r>
                        <a:t>What exactly should it do?</a:t>
                      </a:r>
                    </a:p>
                  </a:txBody>
                  <a:tcPr>
                    <a:solidFill>
                      <a:srgbClr val="FFFFFF"/>
                    </a:solidFill>
                  </a:tcPr>
                </a:tc>
                <a:extLst>
                  <a:ext uri="{0D108BD9-81ED-4DB2-BD59-A6C34878D82A}">
                    <a16:rowId xmlns:a16="http://schemas.microsoft.com/office/drawing/2014/main" val="10003"/>
                  </a:ext>
                </a:extLst>
              </a:tr>
              <a:tr h="560070">
                <a:tc>
                  <a:txBody>
                    <a:bodyPr/>
                    <a:lstStyle/>
                    <a:p>
                      <a:pPr>
                        <a:defRPr sz="1400">
                          <a:solidFill>
                            <a:srgbClr val="25313F"/>
                          </a:solidFill>
                          <a:latin typeface="Aptos"/>
                        </a:defRPr>
                      </a:pPr>
                      <a:r>
                        <a:t>Criteria</a:t>
                      </a:r>
                    </a:p>
                  </a:txBody>
                  <a:tcPr>
                    <a:solidFill>
                      <a:srgbClr val="F4F7FA"/>
                    </a:solidFill>
                  </a:tcPr>
                </a:tc>
                <a:tc>
                  <a:txBody>
                    <a:bodyPr/>
                    <a:lstStyle/>
                    <a:p>
                      <a:pPr>
                        <a:defRPr sz="1400">
                          <a:solidFill>
                            <a:srgbClr val="25313F"/>
                          </a:solidFill>
                          <a:latin typeface="Aptos"/>
                        </a:defRPr>
                      </a:pPr>
                      <a:r>
                        <a:t>What defines a good answer?</a:t>
                      </a:r>
                    </a:p>
                  </a:txBody>
                  <a:tcPr>
                    <a:solidFill>
                      <a:srgbClr val="F4F7FA"/>
                    </a:solidFill>
                  </a:tcPr>
                </a:tc>
                <a:extLst>
                  <a:ext uri="{0D108BD9-81ED-4DB2-BD59-A6C34878D82A}">
                    <a16:rowId xmlns:a16="http://schemas.microsoft.com/office/drawing/2014/main" val="10004"/>
                  </a:ext>
                </a:extLst>
              </a:tr>
              <a:tr h="560070">
                <a:tc>
                  <a:txBody>
                    <a:bodyPr/>
                    <a:lstStyle/>
                    <a:p>
                      <a:pPr>
                        <a:defRPr sz="1400">
                          <a:solidFill>
                            <a:srgbClr val="25313F"/>
                          </a:solidFill>
                          <a:latin typeface="Aptos"/>
                        </a:defRPr>
                      </a:pPr>
                      <a:r>
                        <a:t>Constraints</a:t>
                      </a:r>
                    </a:p>
                  </a:txBody>
                  <a:tcPr>
                    <a:solidFill>
                      <a:srgbClr val="FFFFFF"/>
                    </a:solidFill>
                  </a:tcPr>
                </a:tc>
                <a:tc>
                  <a:txBody>
                    <a:bodyPr/>
                    <a:lstStyle/>
                    <a:p>
                      <a:pPr>
                        <a:defRPr sz="1400">
                          <a:solidFill>
                            <a:srgbClr val="25313F"/>
                          </a:solidFill>
                          <a:latin typeface="Aptos"/>
                        </a:defRPr>
                      </a:pPr>
                      <a:r>
                        <a:t>What must it / must it not do?</a:t>
                      </a:r>
                    </a:p>
                  </a:txBody>
                  <a:tcPr>
                    <a:solidFill>
                      <a:srgbClr val="FFFFFF"/>
                    </a:solidFill>
                  </a:tcPr>
                </a:tc>
                <a:extLst>
                  <a:ext uri="{0D108BD9-81ED-4DB2-BD59-A6C34878D82A}">
                    <a16:rowId xmlns:a16="http://schemas.microsoft.com/office/drawing/2014/main" val="10005"/>
                  </a:ext>
                </a:extLst>
              </a:tr>
              <a:tr h="560070">
                <a:tc>
                  <a:txBody>
                    <a:bodyPr/>
                    <a:lstStyle/>
                    <a:p>
                      <a:pPr>
                        <a:defRPr sz="1400">
                          <a:solidFill>
                            <a:srgbClr val="25313F"/>
                          </a:solidFill>
                          <a:latin typeface="Aptos"/>
                        </a:defRPr>
                      </a:pPr>
                      <a:r>
                        <a:t>Output</a:t>
                      </a:r>
                    </a:p>
                  </a:txBody>
                  <a:tcPr>
                    <a:solidFill>
                      <a:srgbClr val="F4F7FA"/>
                    </a:solidFill>
                  </a:tcPr>
                </a:tc>
                <a:tc>
                  <a:txBody>
                    <a:bodyPr/>
                    <a:lstStyle/>
                    <a:p>
                      <a:pPr>
                        <a:defRPr sz="1400">
                          <a:solidFill>
                            <a:srgbClr val="25313F"/>
                          </a:solidFill>
                          <a:latin typeface="Aptos"/>
                        </a:defRPr>
                      </a:pPr>
                      <a:r>
                        <a:t>What should the answer look like?</a:t>
                      </a:r>
                    </a:p>
                  </a:txBody>
                  <a:tcPr>
                    <a:solidFill>
                      <a:srgbClr val="F4F7FA"/>
                    </a:solidFill>
                  </a:tcPr>
                </a:tc>
                <a:extLst>
                  <a:ext uri="{0D108BD9-81ED-4DB2-BD59-A6C34878D82A}">
                    <a16:rowId xmlns:a16="http://schemas.microsoft.com/office/drawing/2014/main" val="10006"/>
                  </a:ext>
                </a:extLst>
              </a:tr>
              <a:tr h="560070">
                <a:tc>
                  <a:txBody>
                    <a:bodyPr/>
                    <a:lstStyle/>
                    <a:p>
                      <a:pPr>
                        <a:defRPr sz="1400">
                          <a:solidFill>
                            <a:srgbClr val="25313F"/>
                          </a:solidFill>
                          <a:latin typeface="Aptos"/>
                        </a:defRPr>
                      </a:pPr>
                      <a:r>
                        <a:t>Validation</a:t>
                      </a:r>
                    </a:p>
                  </a:txBody>
                  <a:tcPr>
                    <a:solidFill>
                      <a:srgbClr val="FFFFFF"/>
                    </a:solidFill>
                  </a:tcPr>
                </a:tc>
                <a:tc>
                  <a:txBody>
                    <a:bodyPr/>
                    <a:lstStyle/>
                    <a:p>
                      <a:pPr>
                        <a:defRPr sz="1400">
                          <a:solidFill>
                            <a:srgbClr val="25313F"/>
                          </a:solidFill>
                          <a:latin typeface="Aptos"/>
                        </a:defRPr>
                      </a:pPr>
                      <a:r>
                        <a:t>How should the result be checked?</a:t>
                      </a:r>
                    </a:p>
                  </a:txBody>
                  <a:tcPr>
                    <a:solidFill>
                      <a:srgbClr val="FFFFFF"/>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9" name="Slide Number Placeholder 8">
            <a:extLst>
              <a:ext uri="{FF2B5EF4-FFF2-40B4-BE49-F238E27FC236}">
                <a16:creationId xmlns:a16="http://schemas.microsoft.com/office/drawing/2014/main" id="{54A962F7-27D5-AE2A-BA6A-D068D735C364}"/>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Context Is Not the Same as Instructions</a:t>
            </a:r>
          </a:p>
        </p:txBody>
      </p:sp>
      <p:sp>
        <p:nvSpPr>
          <p:cNvPr id="5" name="Rounded Rectangle 4"/>
          <p:cNvSpPr/>
          <p:nvPr/>
        </p:nvSpPr>
        <p:spPr>
          <a:xfrm>
            <a:off x="822960" y="1828800"/>
            <a:ext cx="2468880" cy="21945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828800"/>
            <a:ext cx="73152" cy="2194560"/>
          </a:xfrm>
          <a:prstGeom prst="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993392"/>
            <a:ext cx="2121408" cy="384048"/>
          </a:xfrm>
          <a:prstGeom prst="rect">
            <a:avLst/>
          </a:prstGeom>
          <a:noFill/>
        </p:spPr>
        <p:txBody>
          <a:bodyPr wrap="square" anchor="t">
            <a:spAutoFit/>
          </a:bodyPr>
          <a:lstStyle/>
          <a:p>
            <a:pPr algn="l">
              <a:defRPr sz="1600" b="1">
                <a:solidFill>
                  <a:srgbClr val="111F35"/>
                </a:solidFill>
                <a:latin typeface="Aptos"/>
              </a:defRPr>
            </a:pPr>
            <a:r>
              <a:t>CONTEXT</a:t>
            </a:r>
          </a:p>
        </p:txBody>
      </p:sp>
      <p:sp>
        <p:nvSpPr>
          <p:cNvPr id="8" name="TextBox 7"/>
          <p:cNvSpPr txBox="1"/>
          <p:nvPr/>
        </p:nvSpPr>
        <p:spPr>
          <a:xfrm>
            <a:off x="1024128" y="2450592"/>
            <a:ext cx="2121408" cy="1444752"/>
          </a:xfrm>
          <a:prstGeom prst="rect">
            <a:avLst/>
          </a:prstGeom>
          <a:noFill/>
        </p:spPr>
        <p:txBody>
          <a:bodyPr wrap="square" anchor="t">
            <a:spAutoFit/>
          </a:bodyPr>
          <a:lstStyle/>
          <a:p>
            <a:pPr algn="l">
              <a:defRPr sz="1400" b="0">
                <a:solidFill>
                  <a:srgbClr val="25313F"/>
                </a:solidFill>
                <a:latin typeface="Aptos"/>
              </a:defRPr>
            </a:pPr>
            <a:r>
              <a:t>WinTrust has defined SLAs for different incident severities.</a:t>
            </a:r>
          </a:p>
        </p:txBody>
      </p:sp>
      <p:sp>
        <p:nvSpPr>
          <p:cNvPr id="9" name="Rounded Rectangle 8"/>
          <p:cNvSpPr/>
          <p:nvPr/>
        </p:nvSpPr>
        <p:spPr>
          <a:xfrm>
            <a:off x="3611879" y="1828800"/>
            <a:ext cx="2468880" cy="21945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11879" y="1828800"/>
            <a:ext cx="73152" cy="219456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13048" y="1993392"/>
            <a:ext cx="2121408" cy="384048"/>
          </a:xfrm>
          <a:prstGeom prst="rect">
            <a:avLst/>
          </a:prstGeom>
          <a:noFill/>
        </p:spPr>
        <p:txBody>
          <a:bodyPr wrap="square" anchor="t">
            <a:spAutoFit/>
          </a:bodyPr>
          <a:lstStyle/>
          <a:p>
            <a:pPr algn="l">
              <a:defRPr sz="1600" b="1">
                <a:solidFill>
                  <a:srgbClr val="111F35"/>
                </a:solidFill>
                <a:latin typeface="Aptos"/>
              </a:defRPr>
            </a:pPr>
            <a:r>
              <a:t>TASK</a:t>
            </a:r>
          </a:p>
        </p:txBody>
      </p:sp>
      <p:sp>
        <p:nvSpPr>
          <p:cNvPr id="12" name="TextBox 11"/>
          <p:cNvSpPr txBox="1"/>
          <p:nvPr/>
        </p:nvSpPr>
        <p:spPr>
          <a:xfrm>
            <a:off x="3813048" y="2450592"/>
            <a:ext cx="2121408" cy="1444752"/>
          </a:xfrm>
          <a:prstGeom prst="rect">
            <a:avLst/>
          </a:prstGeom>
          <a:noFill/>
        </p:spPr>
        <p:txBody>
          <a:bodyPr wrap="square" anchor="t">
            <a:spAutoFit/>
          </a:bodyPr>
          <a:lstStyle/>
          <a:p>
            <a:pPr algn="l">
              <a:defRPr sz="1400" b="0">
                <a:solidFill>
                  <a:srgbClr val="25313F"/>
                </a:solidFill>
                <a:latin typeface="Aptos"/>
              </a:defRPr>
            </a:pPr>
            <a:r>
              <a:t>Identify tickets that have breached their SLA.</a:t>
            </a:r>
          </a:p>
        </p:txBody>
      </p:sp>
      <p:sp>
        <p:nvSpPr>
          <p:cNvPr id="13" name="Rounded Rectangle 12"/>
          <p:cNvSpPr/>
          <p:nvPr/>
        </p:nvSpPr>
        <p:spPr>
          <a:xfrm>
            <a:off x="6400800" y="1828800"/>
            <a:ext cx="2468880" cy="21945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0" y="1828800"/>
            <a:ext cx="73152" cy="2194560"/>
          </a:xfrm>
          <a:prstGeom prst="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01968" y="1993392"/>
            <a:ext cx="2121408" cy="384048"/>
          </a:xfrm>
          <a:prstGeom prst="rect">
            <a:avLst/>
          </a:prstGeom>
          <a:noFill/>
        </p:spPr>
        <p:txBody>
          <a:bodyPr wrap="square" anchor="t">
            <a:spAutoFit/>
          </a:bodyPr>
          <a:lstStyle/>
          <a:p>
            <a:pPr algn="l">
              <a:defRPr sz="1600" b="1">
                <a:solidFill>
                  <a:srgbClr val="111F35"/>
                </a:solidFill>
                <a:latin typeface="Aptos"/>
              </a:defRPr>
            </a:pPr>
            <a:r>
              <a:t>CONSTRAINT</a:t>
            </a:r>
          </a:p>
        </p:txBody>
      </p:sp>
      <p:sp>
        <p:nvSpPr>
          <p:cNvPr id="16" name="TextBox 15"/>
          <p:cNvSpPr txBox="1"/>
          <p:nvPr/>
        </p:nvSpPr>
        <p:spPr>
          <a:xfrm>
            <a:off x="6601968" y="2450592"/>
            <a:ext cx="2121408" cy="1444752"/>
          </a:xfrm>
          <a:prstGeom prst="rect">
            <a:avLst/>
          </a:prstGeom>
          <a:noFill/>
        </p:spPr>
        <p:txBody>
          <a:bodyPr wrap="square" anchor="t">
            <a:spAutoFit/>
          </a:bodyPr>
          <a:lstStyle/>
          <a:p>
            <a:pPr algn="l">
              <a:defRPr sz="1400" b="0">
                <a:solidFill>
                  <a:srgbClr val="25313F"/>
                </a:solidFill>
                <a:latin typeface="Aptos"/>
              </a:defRPr>
            </a:pPr>
            <a:r>
              <a:t>Use only the supplied SLA policy.</a:t>
            </a:r>
          </a:p>
        </p:txBody>
      </p:sp>
      <p:sp>
        <p:nvSpPr>
          <p:cNvPr id="17" name="Rounded Rectangle 16"/>
          <p:cNvSpPr/>
          <p:nvPr/>
        </p:nvSpPr>
        <p:spPr>
          <a:xfrm>
            <a:off x="9189719" y="1828800"/>
            <a:ext cx="2468880" cy="21945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189719" y="1828800"/>
            <a:ext cx="73152" cy="2194560"/>
          </a:xfrm>
          <a:prstGeom prst="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90888" y="1993392"/>
            <a:ext cx="2121408" cy="384048"/>
          </a:xfrm>
          <a:prstGeom prst="rect">
            <a:avLst/>
          </a:prstGeom>
          <a:noFill/>
        </p:spPr>
        <p:txBody>
          <a:bodyPr wrap="square" anchor="t">
            <a:spAutoFit/>
          </a:bodyPr>
          <a:lstStyle/>
          <a:p>
            <a:pPr algn="l">
              <a:defRPr sz="1600" b="1">
                <a:solidFill>
                  <a:srgbClr val="111F35"/>
                </a:solidFill>
                <a:latin typeface="Aptos"/>
              </a:defRPr>
            </a:pPr>
            <a:r>
              <a:t>OUTPUT</a:t>
            </a:r>
          </a:p>
        </p:txBody>
      </p:sp>
      <p:sp>
        <p:nvSpPr>
          <p:cNvPr id="20" name="TextBox 19"/>
          <p:cNvSpPr txBox="1"/>
          <p:nvPr/>
        </p:nvSpPr>
        <p:spPr>
          <a:xfrm>
            <a:off x="9390888" y="2450592"/>
            <a:ext cx="2121408" cy="1444752"/>
          </a:xfrm>
          <a:prstGeom prst="rect">
            <a:avLst/>
          </a:prstGeom>
          <a:noFill/>
        </p:spPr>
        <p:txBody>
          <a:bodyPr wrap="square" anchor="t">
            <a:spAutoFit/>
          </a:bodyPr>
          <a:lstStyle/>
          <a:p>
            <a:pPr algn="l">
              <a:defRPr sz="1400" b="0">
                <a:solidFill>
                  <a:srgbClr val="25313F"/>
                </a:solidFill>
                <a:latin typeface="Aptos"/>
              </a:defRPr>
            </a:pPr>
            <a:r>
              <a:t>Return a table with evidence.</a:t>
            </a:r>
          </a:p>
        </p:txBody>
      </p:sp>
      <p:sp>
        <p:nvSpPr>
          <p:cNvPr id="21" name="TextBox 20"/>
          <p:cNvSpPr txBox="1"/>
          <p:nvPr/>
        </p:nvSpPr>
        <p:spPr>
          <a:xfrm>
            <a:off x="914400" y="4892040"/>
            <a:ext cx="10241280" cy="502920"/>
          </a:xfrm>
          <a:prstGeom prst="rect">
            <a:avLst/>
          </a:prstGeom>
          <a:noFill/>
        </p:spPr>
        <p:txBody>
          <a:bodyPr wrap="square" anchor="t">
            <a:spAutoFit/>
          </a:bodyPr>
          <a:lstStyle/>
          <a:p>
            <a:pPr algn="ctr">
              <a:defRPr sz="2100" b="1">
                <a:solidFill>
                  <a:srgbClr val="111F35"/>
                </a:solidFill>
                <a:latin typeface="Aptos"/>
              </a:defRPr>
            </a:pPr>
            <a:r>
              <a:t>Separate the situation, the work, the boundaries and the result.</a:t>
            </a:r>
          </a:p>
        </p:txBody>
      </p:sp>
      <p:sp>
        <p:nvSpPr>
          <p:cNvPr id="22" name="Rectangle 21"/>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24" name="Slide Number Placeholder 23">
            <a:extLst>
              <a:ext uri="{FF2B5EF4-FFF2-40B4-BE49-F238E27FC236}">
                <a16:creationId xmlns:a16="http://schemas.microsoft.com/office/drawing/2014/main" id="{013E8167-CBE3-2A0A-9607-CFEDF4CBE1F6}"/>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The Most Important Prompting Principle</a:t>
            </a:r>
          </a:p>
        </p:txBody>
      </p:sp>
      <p:sp>
        <p:nvSpPr>
          <p:cNvPr id="5" name="TextBox 4"/>
          <p:cNvSpPr txBox="1"/>
          <p:nvPr/>
        </p:nvSpPr>
        <p:spPr>
          <a:xfrm>
            <a:off x="777240" y="1417320"/>
            <a:ext cx="10698480" cy="594360"/>
          </a:xfrm>
          <a:prstGeom prst="rect">
            <a:avLst/>
          </a:prstGeom>
          <a:noFill/>
        </p:spPr>
        <p:txBody>
          <a:bodyPr wrap="square" anchor="t">
            <a:spAutoFit/>
          </a:bodyPr>
          <a:lstStyle/>
          <a:p>
            <a:pPr algn="ctr">
              <a:defRPr sz="2500" b="1">
                <a:solidFill>
                  <a:srgbClr val="111F35"/>
                </a:solidFill>
                <a:latin typeface="Aptos"/>
              </a:defRPr>
            </a:pPr>
            <a:r>
              <a:t>DON’T ASK AI TO “FIGURE EVERYTHING OUT.”</a:t>
            </a:r>
          </a:p>
        </p:txBody>
      </p:sp>
      <p:sp>
        <p:nvSpPr>
          <p:cNvPr id="6" name="TextBox 5"/>
          <p:cNvSpPr txBox="1"/>
          <p:nvPr/>
        </p:nvSpPr>
        <p:spPr>
          <a:xfrm>
            <a:off x="1005840" y="2148840"/>
            <a:ext cx="10149840" cy="548640"/>
          </a:xfrm>
          <a:prstGeom prst="rect">
            <a:avLst/>
          </a:prstGeom>
          <a:noFill/>
        </p:spPr>
        <p:txBody>
          <a:bodyPr wrap="square" anchor="t">
            <a:spAutoFit/>
          </a:bodyPr>
          <a:lstStyle/>
          <a:p>
            <a:pPr algn="ctr">
              <a:defRPr sz="3100" b="1">
                <a:solidFill>
                  <a:srgbClr val="148F96"/>
                </a:solidFill>
                <a:latin typeface="Aptos"/>
              </a:defRPr>
            </a:pPr>
            <a:r>
              <a:t>Tell AI what “good” looks like.</a:t>
            </a:r>
          </a:p>
        </p:txBody>
      </p:sp>
      <p:sp>
        <p:nvSpPr>
          <p:cNvPr id="7" name="Rounded Rectangle 6"/>
          <p:cNvSpPr/>
          <p:nvPr/>
        </p:nvSpPr>
        <p:spPr>
          <a:xfrm>
            <a:off x="868680" y="3154680"/>
            <a:ext cx="306324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3154680"/>
            <a:ext cx="73152" cy="1508760"/>
          </a:xfrm>
          <a:prstGeom prst="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9848" y="3319272"/>
            <a:ext cx="2715768" cy="384048"/>
          </a:xfrm>
          <a:prstGeom prst="rect">
            <a:avLst/>
          </a:prstGeom>
          <a:noFill/>
        </p:spPr>
        <p:txBody>
          <a:bodyPr wrap="square" anchor="t">
            <a:spAutoFit/>
          </a:bodyPr>
          <a:lstStyle/>
          <a:p>
            <a:pPr algn="l">
              <a:defRPr sz="1700" b="1">
                <a:solidFill>
                  <a:srgbClr val="111F35"/>
                </a:solidFill>
                <a:latin typeface="Aptos"/>
              </a:defRPr>
            </a:pPr>
            <a:r>
              <a:t>VAGUE</a:t>
            </a:r>
          </a:p>
        </p:txBody>
      </p:sp>
      <p:sp>
        <p:nvSpPr>
          <p:cNvPr id="10" name="TextBox 9"/>
          <p:cNvSpPr txBox="1"/>
          <p:nvPr/>
        </p:nvSpPr>
        <p:spPr>
          <a:xfrm>
            <a:off x="1069848" y="3776472"/>
            <a:ext cx="2715768" cy="758952"/>
          </a:xfrm>
          <a:prstGeom prst="rect">
            <a:avLst/>
          </a:prstGeom>
          <a:noFill/>
        </p:spPr>
        <p:txBody>
          <a:bodyPr wrap="square" anchor="t">
            <a:spAutoFit/>
          </a:bodyPr>
          <a:lstStyle/>
          <a:p>
            <a:pPr algn="l">
              <a:defRPr sz="1500" b="0">
                <a:solidFill>
                  <a:srgbClr val="25313F"/>
                </a:solidFill>
                <a:latin typeface="Aptos"/>
              </a:defRPr>
            </a:pPr>
            <a:r>
              <a:t>“What are the important issues?”</a:t>
            </a:r>
          </a:p>
        </p:txBody>
      </p:sp>
      <p:sp>
        <p:nvSpPr>
          <p:cNvPr id="11" name="Rounded Rectangle 10"/>
          <p:cNvSpPr/>
          <p:nvPr/>
        </p:nvSpPr>
        <p:spPr>
          <a:xfrm>
            <a:off x="5074920" y="2926080"/>
            <a:ext cx="5989320" cy="19659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74920" y="2926080"/>
            <a:ext cx="73152" cy="1965960"/>
          </a:xfrm>
          <a:prstGeom prst="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76088" y="3090672"/>
            <a:ext cx="5641848" cy="384048"/>
          </a:xfrm>
          <a:prstGeom prst="rect">
            <a:avLst/>
          </a:prstGeom>
          <a:noFill/>
        </p:spPr>
        <p:txBody>
          <a:bodyPr wrap="square" anchor="t">
            <a:spAutoFit/>
          </a:bodyPr>
          <a:lstStyle/>
          <a:p>
            <a:pPr algn="l">
              <a:defRPr sz="1800" b="1">
                <a:solidFill>
                  <a:srgbClr val="111F35"/>
                </a:solidFill>
                <a:latin typeface="Aptos"/>
              </a:defRPr>
            </a:pPr>
            <a:r>
              <a:t>DEFINED</a:t>
            </a:r>
          </a:p>
        </p:txBody>
      </p:sp>
      <p:sp>
        <p:nvSpPr>
          <p:cNvPr id="14" name="TextBox 13"/>
          <p:cNvSpPr txBox="1"/>
          <p:nvPr/>
        </p:nvSpPr>
        <p:spPr>
          <a:xfrm>
            <a:off x="5276088" y="3547872"/>
            <a:ext cx="5641848" cy="1216152"/>
          </a:xfrm>
          <a:prstGeom prst="rect">
            <a:avLst/>
          </a:prstGeom>
          <a:noFill/>
        </p:spPr>
        <p:txBody>
          <a:bodyPr wrap="square" anchor="t">
            <a:spAutoFit/>
          </a:bodyPr>
          <a:lstStyle/>
          <a:p>
            <a:pPr algn="l">
              <a:defRPr sz="1500" b="0">
                <a:solidFill>
                  <a:srgbClr val="25313F"/>
                </a:solidFill>
                <a:latin typeface="Aptos"/>
              </a:defRPr>
            </a:pPr>
            <a:r>
              <a:t>“Identify issues that…</a:t>
            </a:r>
            <a:br/>
            <a:r>
              <a:t>Prioritize them using…</a:t>
            </a:r>
            <a:br/>
            <a:r>
              <a:t>Support each finding with…</a:t>
            </a:r>
            <a:br/>
            <a:r>
              <a:t>Do not assume…</a:t>
            </a:r>
            <a:br/>
            <a:r>
              <a:t>Return…”</a:t>
            </a:r>
          </a:p>
        </p:txBody>
      </p:sp>
      <p:sp>
        <p:nvSpPr>
          <p:cNvPr id="15" name="Rectangle 14"/>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7" name="Slide Number Placeholder 16">
            <a:extLst>
              <a:ext uri="{FF2B5EF4-FFF2-40B4-BE49-F238E27FC236}">
                <a16:creationId xmlns:a16="http://schemas.microsoft.com/office/drawing/2014/main" id="{CB1F21D1-FA93-0042-0524-C69E55CAB478}"/>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Prompt Specificity</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More detail does not automatically mean a better prompt.</a:t>
            </a:r>
          </a:p>
        </p:txBody>
      </p:sp>
      <p:sp>
        <p:nvSpPr>
          <p:cNvPr id="6" name="Rounded Rectangle 5"/>
          <p:cNvSpPr/>
          <p:nvPr/>
        </p:nvSpPr>
        <p:spPr>
          <a:xfrm>
            <a:off x="822960" y="1600200"/>
            <a:ext cx="3154680" cy="20574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1600200"/>
            <a:ext cx="73152" cy="2057400"/>
          </a:xfrm>
          <a:prstGeom prst="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764792"/>
            <a:ext cx="2807208" cy="384048"/>
          </a:xfrm>
          <a:prstGeom prst="rect">
            <a:avLst/>
          </a:prstGeom>
          <a:noFill/>
        </p:spPr>
        <p:txBody>
          <a:bodyPr wrap="square" anchor="t">
            <a:spAutoFit/>
          </a:bodyPr>
          <a:lstStyle/>
          <a:p>
            <a:pPr algn="l">
              <a:defRPr sz="1800" b="1">
                <a:solidFill>
                  <a:srgbClr val="111F35"/>
                </a:solidFill>
                <a:latin typeface="Aptos"/>
              </a:defRPr>
            </a:pPr>
            <a:r>
              <a:t>TOO VAGUE</a:t>
            </a:r>
          </a:p>
        </p:txBody>
      </p:sp>
      <p:sp>
        <p:nvSpPr>
          <p:cNvPr id="9" name="TextBox 8"/>
          <p:cNvSpPr txBox="1"/>
          <p:nvPr/>
        </p:nvSpPr>
        <p:spPr>
          <a:xfrm>
            <a:off x="1024128" y="2221992"/>
            <a:ext cx="2807208" cy="1307592"/>
          </a:xfrm>
          <a:prstGeom prst="rect">
            <a:avLst/>
          </a:prstGeom>
          <a:noFill/>
        </p:spPr>
        <p:txBody>
          <a:bodyPr wrap="square" anchor="t">
            <a:spAutoFit/>
          </a:bodyPr>
          <a:lstStyle/>
          <a:p>
            <a:pPr algn="l">
              <a:defRPr sz="2100" b="0">
                <a:solidFill>
                  <a:srgbClr val="25313F"/>
                </a:solidFill>
                <a:latin typeface="Aptos"/>
              </a:defRPr>
            </a:pPr>
            <a:r>
              <a:t>“Analyze the data.”</a:t>
            </a:r>
          </a:p>
        </p:txBody>
      </p:sp>
      <p:sp>
        <p:nvSpPr>
          <p:cNvPr id="10" name="Rounded Rectangle 9"/>
          <p:cNvSpPr/>
          <p:nvPr/>
        </p:nvSpPr>
        <p:spPr>
          <a:xfrm>
            <a:off x="4526280" y="1600200"/>
            <a:ext cx="3154680" cy="20574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26280" y="1600200"/>
            <a:ext cx="73152" cy="2057400"/>
          </a:xfrm>
          <a:prstGeom prst="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27448" y="1764792"/>
            <a:ext cx="2807208" cy="384048"/>
          </a:xfrm>
          <a:prstGeom prst="rect">
            <a:avLst/>
          </a:prstGeom>
          <a:noFill/>
        </p:spPr>
        <p:txBody>
          <a:bodyPr wrap="square" anchor="t">
            <a:spAutoFit/>
          </a:bodyPr>
          <a:lstStyle/>
          <a:p>
            <a:pPr algn="l">
              <a:defRPr sz="1800" b="1">
                <a:solidFill>
                  <a:srgbClr val="111F35"/>
                </a:solidFill>
                <a:latin typeface="Aptos"/>
              </a:defRPr>
            </a:pPr>
            <a:r>
              <a:t>TOO RESTRICTIVE</a:t>
            </a:r>
          </a:p>
        </p:txBody>
      </p:sp>
      <p:sp>
        <p:nvSpPr>
          <p:cNvPr id="13" name="TextBox 12"/>
          <p:cNvSpPr txBox="1"/>
          <p:nvPr/>
        </p:nvSpPr>
        <p:spPr>
          <a:xfrm>
            <a:off x="4727448" y="2221992"/>
            <a:ext cx="2807208" cy="1307592"/>
          </a:xfrm>
          <a:prstGeom prst="rect">
            <a:avLst/>
          </a:prstGeom>
          <a:noFill/>
        </p:spPr>
        <p:txBody>
          <a:bodyPr wrap="square" anchor="t">
            <a:spAutoFit/>
          </a:bodyPr>
          <a:lstStyle/>
          <a:p>
            <a:pPr algn="l">
              <a:defRPr sz="1700" b="0">
                <a:solidFill>
                  <a:srgbClr val="25313F"/>
                </a:solidFill>
                <a:latin typeface="Aptos"/>
              </a:defRPr>
            </a:pPr>
            <a:r>
              <a:t>“Analyze these 300 rows using exactly these 27 steps…”</a:t>
            </a:r>
          </a:p>
        </p:txBody>
      </p:sp>
      <p:sp>
        <p:nvSpPr>
          <p:cNvPr id="14" name="Rounded Rectangle 13"/>
          <p:cNvSpPr/>
          <p:nvPr/>
        </p:nvSpPr>
        <p:spPr>
          <a:xfrm>
            <a:off x="8229600" y="1600200"/>
            <a:ext cx="3154680" cy="20574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0" y="1600200"/>
            <a:ext cx="73152" cy="2057400"/>
          </a:xfrm>
          <a:prstGeom prst="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30768" y="1764792"/>
            <a:ext cx="2807208" cy="384048"/>
          </a:xfrm>
          <a:prstGeom prst="rect">
            <a:avLst/>
          </a:prstGeom>
          <a:noFill/>
        </p:spPr>
        <p:txBody>
          <a:bodyPr wrap="square" anchor="t">
            <a:spAutoFit/>
          </a:bodyPr>
          <a:lstStyle/>
          <a:p>
            <a:pPr algn="l">
              <a:defRPr sz="1800" b="1">
                <a:solidFill>
                  <a:srgbClr val="111F35"/>
                </a:solidFill>
                <a:latin typeface="Aptos"/>
              </a:defRPr>
            </a:pPr>
            <a:r>
              <a:t>RIGHT LEVEL</a:t>
            </a:r>
          </a:p>
        </p:txBody>
      </p:sp>
      <p:sp>
        <p:nvSpPr>
          <p:cNvPr id="17" name="TextBox 16"/>
          <p:cNvSpPr txBox="1"/>
          <p:nvPr/>
        </p:nvSpPr>
        <p:spPr>
          <a:xfrm>
            <a:off x="8430768" y="2221992"/>
            <a:ext cx="2807208" cy="1307592"/>
          </a:xfrm>
          <a:prstGeom prst="rect">
            <a:avLst/>
          </a:prstGeom>
          <a:noFill/>
        </p:spPr>
        <p:txBody>
          <a:bodyPr wrap="square" anchor="t">
            <a:spAutoFit/>
          </a:bodyPr>
          <a:lstStyle/>
          <a:p>
            <a:pPr algn="l">
              <a:defRPr sz="1400" b="0">
                <a:solidFill>
                  <a:srgbClr val="25313F"/>
                </a:solidFill>
                <a:latin typeface="Aptos"/>
              </a:defRPr>
            </a:pPr>
            <a:r>
              <a:t>“Analyze for revenue leakage and operational anomalies. Prioritize by business impact. Show evidence and flag assumptions.”</a:t>
            </a:r>
          </a:p>
        </p:txBody>
      </p:sp>
      <p:sp>
        <p:nvSpPr>
          <p:cNvPr id="18" name="TextBox 17"/>
          <p:cNvSpPr txBox="1"/>
          <p:nvPr/>
        </p:nvSpPr>
        <p:spPr>
          <a:xfrm>
            <a:off x="1005840" y="4663440"/>
            <a:ext cx="10058400" cy="548640"/>
          </a:xfrm>
          <a:prstGeom prst="rect">
            <a:avLst/>
          </a:prstGeom>
          <a:noFill/>
        </p:spPr>
        <p:txBody>
          <a:bodyPr wrap="square" anchor="t">
            <a:spAutoFit/>
          </a:bodyPr>
          <a:lstStyle/>
          <a:p>
            <a:pPr algn="ctr">
              <a:defRPr sz="2200" b="1">
                <a:solidFill>
                  <a:srgbClr val="111F35"/>
                </a:solidFill>
                <a:latin typeface="Aptos"/>
              </a:defRPr>
            </a:pPr>
            <a:r>
              <a:t>Goal: minimum ambiguity, not maximum prompt length.</a:t>
            </a:r>
          </a:p>
        </p:txBody>
      </p:sp>
      <p:sp>
        <p:nvSpPr>
          <p:cNvPr id="19" name="Rectangle 18"/>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21" name="Slide Number Placeholder 20">
            <a:extLst>
              <a:ext uri="{FF2B5EF4-FFF2-40B4-BE49-F238E27FC236}">
                <a16:creationId xmlns:a16="http://schemas.microsoft.com/office/drawing/2014/main" id="{1A4EF034-D55C-C13B-6E6B-740E5834BB18}"/>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Zero-Shot, Few-Shot and Examples</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Examples can communicate the pattern you want.</a:t>
            </a:r>
          </a:p>
        </p:txBody>
      </p:sp>
      <p:sp>
        <p:nvSpPr>
          <p:cNvPr id="6" name="Rounded Rectangle 5"/>
          <p:cNvSpPr/>
          <p:nvPr/>
        </p:nvSpPr>
        <p:spPr>
          <a:xfrm>
            <a:off x="822960" y="1508760"/>
            <a:ext cx="3337560" cy="28803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1508760"/>
            <a:ext cx="73152" cy="2880360"/>
          </a:xfrm>
          <a:prstGeom prst="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673351"/>
            <a:ext cx="2990088" cy="384048"/>
          </a:xfrm>
          <a:prstGeom prst="rect">
            <a:avLst/>
          </a:prstGeom>
          <a:noFill/>
        </p:spPr>
        <p:txBody>
          <a:bodyPr wrap="square" anchor="t">
            <a:spAutoFit/>
          </a:bodyPr>
          <a:lstStyle/>
          <a:p>
            <a:pPr algn="l">
              <a:defRPr sz="1800" b="1">
                <a:solidFill>
                  <a:srgbClr val="111F35"/>
                </a:solidFill>
                <a:latin typeface="Aptos"/>
              </a:defRPr>
            </a:pPr>
            <a:r>
              <a:t>ZERO-SHOT</a:t>
            </a:r>
          </a:p>
        </p:txBody>
      </p:sp>
      <p:sp>
        <p:nvSpPr>
          <p:cNvPr id="9" name="TextBox 8"/>
          <p:cNvSpPr txBox="1"/>
          <p:nvPr/>
        </p:nvSpPr>
        <p:spPr>
          <a:xfrm>
            <a:off x="1024128" y="2130552"/>
            <a:ext cx="2990088" cy="2130552"/>
          </a:xfrm>
          <a:prstGeom prst="rect">
            <a:avLst/>
          </a:prstGeom>
          <a:noFill/>
        </p:spPr>
        <p:txBody>
          <a:bodyPr wrap="square" anchor="t">
            <a:spAutoFit/>
          </a:bodyPr>
          <a:lstStyle/>
          <a:p>
            <a:pPr algn="l">
              <a:defRPr sz="1700" b="0">
                <a:solidFill>
                  <a:srgbClr val="25313F"/>
                </a:solidFill>
                <a:latin typeface="Aptos"/>
              </a:defRPr>
            </a:pPr>
            <a:r>
              <a:t>“Classify this ticket as P1, P2, P3 or P4.”</a:t>
            </a:r>
          </a:p>
        </p:txBody>
      </p:sp>
      <p:sp>
        <p:nvSpPr>
          <p:cNvPr id="10" name="Rounded Rectangle 9"/>
          <p:cNvSpPr/>
          <p:nvPr/>
        </p:nvSpPr>
        <p:spPr>
          <a:xfrm>
            <a:off x="4434840" y="1508760"/>
            <a:ext cx="6903720" cy="28803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508760"/>
            <a:ext cx="73152" cy="288036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6007" y="1673351"/>
            <a:ext cx="6556248" cy="384048"/>
          </a:xfrm>
          <a:prstGeom prst="rect">
            <a:avLst/>
          </a:prstGeom>
          <a:noFill/>
        </p:spPr>
        <p:txBody>
          <a:bodyPr wrap="square" anchor="t">
            <a:spAutoFit/>
          </a:bodyPr>
          <a:lstStyle/>
          <a:p>
            <a:pPr algn="l">
              <a:defRPr sz="1800" b="1">
                <a:solidFill>
                  <a:srgbClr val="111F35"/>
                </a:solidFill>
                <a:latin typeface="Aptos"/>
              </a:defRPr>
            </a:pPr>
            <a:r>
              <a:t>FEW-SHOT</a:t>
            </a:r>
          </a:p>
        </p:txBody>
      </p:sp>
      <p:sp>
        <p:nvSpPr>
          <p:cNvPr id="13" name="TextBox 12"/>
          <p:cNvSpPr txBox="1"/>
          <p:nvPr/>
        </p:nvSpPr>
        <p:spPr>
          <a:xfrm>
            <a:off x="4636007" y="2130552"/>
            <a:ext cx="6556248" cy="2130552"/>
          </a:xfrm>
          <a:prstGeom prst="rect">
            <a:avLst/>
          </a:prstGeom>
          <a:noFill/>
        </p:spPr>
        <p:txBody>
          <a:bodyPr wrap="square" anchor="t">
            <a:spAutoFit/>
          </a:bodyPr>
          <a:lstStyle/>
          <a:p>
            <a:pPr algn="l">
              <a:defRPr sz="1700" b="0">
                <a:solidFill>
                  <a:srgbClr val="25313F"/>
                </a:solidFill>
                <a:latin typeface="Aptos"/>
              </a:defRPr>
            </a:pPr>
            <a:r>
              <a:t>Example 1: Critical customer + major service disruption → P1</a:t>
            </a:r>
            <a:br/>
            <a:br/>
            <a:r>
              <a:t>Example 2: Minor documentation issue → P4</a:t>
            </a:r>
            <a:br/>
            <a:br/>
            <a:r>
              <a:t>Now classify the following ticket.</a:t>
            </a:r>
          </a:p>
        </p:txBody>
      </p:sp>
      <p:sp>
        <p:nvSpPr>
          <p:cNvPr id="14" name="TextBox 13"/>
          <p:cNvSpPr txBox="1"/>
          <p:nvPr/>
        </p:nvSpPr>
        <p:spPr>
          <a:xfrm>
            <a:off x="1051560" y="4892040"/>
            <a:ext cx="10058400" cy="502920"/>
          </a:xfrm>
          <a:prstGeom prst="rect">
            <a:avLst/>
          </a:prstGeom>
          <a:noFill/>
        </p:spPr>
        <p:txBody>
          <a:bodyPr wrap="square" anchor="t">
            <a:spAutoFit/>
          </a:bodyPr>
          <a:lstStyle/>
          <a:p>
            <a:pPr algn="ctr">
              <a:defRPr sz="2000" b="1">
                <a:solidFill>
                  <a:srgbClr val="B94343"/>
                </a:solidFill>
                <a:latin typeface="Aptos"/>
              </a:defRPr>
            </a:pPr>
            <a:r>
              <a:t>Important: an example is not automatically a business rule.</a:t>
            </a:r>
          </a:p>
        </p:txBody>
      </p:sp>
      <p:sp>
        <p:nvSpPr>
          <p:cNvPr id="15" name="Rectangle 14"/>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7" name="Slide Number Placeholder 16">
            <a:extLst>
              <a:ext uri="{FF2B5EF4-FFF2-40B4-BE49-F238E27FC236}">
                <a16:creationId xmlns:a16="http://schemas.microsoft.com/office/drawing/2014/main" id="{D4EE163F-BF60-01B3-2175-55F14820F041}"/>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Structured Output</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Ask for a usable result, not just an answer.</a:t>
            </a:r>
          </a:p>
        </p:txBody>
      </p:sp>
      <p:sp>
        <p:nvSpPr>
          <p:cNvPr id="6" name="TextBox 5"/>
          <p:cNvSpPr txBox="1"/>
          <p:nvPr/>
        </p:nvSpPr>
        <p:spPr>
          <a:xfrm>
            <a:off x="868680" y="1417320"/>
            <a:ext cx="1828800" cy="320040"/>
          </a:xfrm>
          <a:prstGeom prst="rect">
            <a:avLst/>
          </a:prstGeom>
          <a:noFill/>
        </p:spPr>
        <p:txBody>
          <a:bodyPr wrap="square" anchor="t">
            <a:spAutoFit/>
          </a:bodyPr>
          <a:lstStyle/>
          <a:p>
            <a:pPr algn="l">
              <a:defRPr sz="1300" b="1">
                <a:solidFill>
                  <a:srgbClr val="647180"/>
                </a:solidFill>
                <a:latin typeface="Aptos"/>
              </a:defRPr>
            </a:pPr>
            <a:r>
              <a:t>INSTEAD OF</a:t>
            </a:r>
          </a:p>
        </p:txBody>
      </p:sp>
      <p:sp>
        <p:nvSpPr>
          <p:cNvPr id="7" name="Rounded Rectangle 6"/>
          <p:cNvSpPr/>
          <p:nvPr/>
        </p:nvSpPr>
        <p:spPr>
          <a:xfrm>
            <a:off x="777240" y="1783080"/>
            <a:ext cx="3063240" cy="11430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01368"/>
            <a:ext cx="365760" cy="457200"/>
          </a:xfrm>
          <a:prstGeom prst="rect">
            <a:avLst/>
          </a:prstGeom>
          <a:noFill/>
        </p:spPr>
        <p:txBody>
          <a:bodyPr wrap="square" anchor="t">
            <a:spAutoFit/>
          </a:bodyPr>
          <a:lstStyle/>
          <a:p>
            <a:pPr algn="l">
              <a:defRPr sz="3200" b="1">
                <a:solidFill>
                  <a:srgbClr val="B94343"/>
                </a:solidFill>
                <a:latin typeface="Aptos"/>
              </a:defRPr>
            </a:pPr>
            <a:r>
              <a:t>“</a:t>
            </a:r>
          </a:p>
        </p:txBody>
      </p:sp>
      <p:sp>
        <p:nvSpPr>
          <p:cNvPr id="9" name="TextBox 8"/>
          <p:cNvSpPr txBox="1"/>
          <p:nvPr/>
        </p:nvSpPr>
        <p:spPr>
          <a:xfrm>
            <a:off x="1344168" y="1984248"/>
            <a:ext cx="2286000" cy="868680"/>
          </a:xfrm>
          <a:prstGeom prst="rect">
            <a:avLst/>
          </a:prstGeom>
          <a:noFill/>
        </p:spPr>
        <p:txBody>
          <a:bodyPr wrap="square" anchor="t">
            <a:spAutoFit/>
          </a:bodyPr>
          <a:lstStyle/>
          <a:p>
            <a:pPr algn="l">
              <a:defRPr sz="2000" b="1">
                <a:solidFill>
                  <a:srgbClr val="111F35"/>
                </a:solidFill>
                <a:latin typeface="Aptos"/>
              </a:defRPr>
            </a:pPr>
            <a:r>
              <a:t>Analyze the tickets.</a:t>
            </a:r>
          </a:p>
        </p:txBody>
      </p:sp>
      <p:sp>
        <p:nvSpPr>
          <p:cNvPr id="10" name="TextBox 9"/>
          <p:cNvSpPr txBox="1"/>
          <p:nvPr/>
        </p:nvSpPr>
        <p:spPr>
          <a:xfrm>
            <a:off x="4343400" y="1417320"/>
            <a:ext cx="1828800" cy="320040"/>
          </a:xfrm>
          <a:prstGeom prst="rect">
            <a:avLst/>
          </a:prstGeom>
          <a:noFill/>
        </p:spPr>
        <p:txBody>
          <a:bodyPr wrap="square" anchor="t">
            <a:spAutoFit/>
          </a:bodyPr>
          <a:lstStyle/>
          <a:p>
            <a:pPr algn="l">
              <a:defRPr sz="1300" b="1">
                <a:solidFill>
                  <a:srgbClr val="647180"/>
                </a:solidFill>
                <a:latin typeface="Aptos"/>
              </a:defRPr>
            </a:pPr>
            <a:r>
              <a:t>ASK FOR</a:t>
            </a:r>
          </a:p>
        </p:txBody>
      </p:sp>
      <p:graphicFrame>
        <p:nvGraphicFramePr>
          <p:cNvPr id="11" name="Table 10"/>
          <p:cNvGraphicFramePr>
            <a:graphicFrameLocks noGrp="1"/>
          </p:cNvGraphicFramePr>
          <p:nvPr/>
        </p:nvGraphicFramePr>
        <p:xfrm>
          <a:off x="4297680" y="1783080"/>
          <a:ext cx="6720840" cy="196596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655320">
                <a:tc>
                  <a:txBody>
                    <a:bodyPr/>
                    <a:lstStyle/>
                    <a:p>
                      <a:pPr>
                        <a:defRPr sz="1150" b="1">
                          <a:solidFill>
                            <a:srgbClr val="FFFFFF"/>
                          </a:solidFill>
                          <a:latin typeface="Aptos"/>
                        </a:defRPr>
                      </a:pPr>
                      <a:r>
                        <a:t>Ticket</a:t>
                      </a:r>
                    </a:p>
                  </a:txBody>
                  <a:tcPr>
                    <a:solidFill>
                      <a:srgbClr val="111F35"/>
                    </a:solidFill>
                  </a:tcPr>
                </a:tc>
                <a:tc>
                  <a:txBody>
                    <a:bodyPr/>
                    <a:lstStyle/>
                    <a:p>
                      <a:pPr>
                        <a:defRPr sz="1150" b="1">
                          <a:solidFill>
                            <a:srgbClr val="FFFFFF"/>
                          </a:solidFill>
                          <a:latin typeface="Aptos"/>
                        </a:defRPr>
                      </a:pPr>
                      <a:r>
                        <a:t>Severity</a:t>
                      </a:r>
                    </a:p>
                  </a:txBody>
                  <a:tcPr>
                    <a:solidFill>
                      <a:srgbClr val="111F35"/>
                    </a:solidFill>
                  </a:tcPr>
                </a:tc>
                <a:tc>
                  <a:txBody>
                    <a:bodyPr/>
                    <a:lstStyle/>
                    <a:p>
                      <a:pPr>
                        <a:defRPr sz="1150" b="1">
                          <a:solidFill>
                            <a:srgbClr val="FFFFFF"/>
                          </a:solidFill>
                          <a:latin typeface="Aptos"/>
                        </a:defRPr>
                      </a:pPr>
                      <a:r>
                        <a:t>SLA</a:t>
                      </a:r>
                    </a:p>
                  </a:txBody>
                  <a:tcPr>
                    <a:solidFill>
                      <a:srgbClr val="111F35"/>
                    </a:solidFill>
                  </a:tcPr>
                </a:tc>
                <a:tc>
                  <a:txBody>
                    <a:bodyPr/>
                    <a:lstStyle/>
                    <a:p>
                      <a:pPr>
                        <a:defRPr sz="1150" b="1">
                          <a:solidFill>
                            <a:srgbClr val="FFFFFF"/>
                          </a:solidFill>
                          <a:latin typeface="Aptos"/>
                        </a:defRPr>
                      </a:pPr>
                      <a:r>
                        <a:t>Evidence</a:t>
                      </a:r>
                    </a:p>
                  </a:txBody>
                  <a:tcPr>
                    <a:solidFill>
                      <a:srgbClr val="111F35"/>
                    </a:solidFill>
                  </a:tcPr>
                </a:tc>
                <a:tc>
                  <a:txBody>
                    <a:bodyPr/>
                    <a:lstStyle/>
                    <a:p>
                      <a:pPr>
                        <a:defRPr sz="1150" b="1">
                          <a:solidFill>
                            <a:srgbClr val="FFFFFF"/>
                          </a:solidFill>
                          <a:latin typeface="Aptos"/>
                        </a:defRPr>
                      </a:pPr>
                      <a:r>
                        <a:t>Recommendation</a:t>
                      </a:r>
                    </a:p>
                  </a:txBody>
                  <a:tcPr>
                    <a:solidFill>
                      <a:srgbClr val="111F35"/>
                    </a:solidFill>
                  </a:tcPr>
                </a:tc>
                <a:extLst>
                  <a:ext uri="{0D108BD9-81ED-4DB2-BD59-A6C34878D82A}">
                    <a16:rowId xmlns:a16="http://schemas.microsoft.com/office/drawing/2014/main" val="10000"/>
                  </a:ext>
                </a:extLst>
              </a:tr>
              <a:tr h="655320">
                <a:tc>
                  <a:txBody>
                    <a:bodyPr/>
                    <a:lstStyle/>
                    <a:p>
                      <a:pPr>
                        <a:defRPr sz="1150">
                          <a:solidFill>
                            <a:srgbClr val="25313F"/>
                          </a:solidFill>
                          <a:latin typeface="Aptos"/>
                        </a:defRPr>
                      </a:pPr>
                      <a:r>
                        <a:t>INC-1042</a:t>
                      </a:r>
                    </a:p>
                  </a:txBody>
                  <a:tcPr>
                    <a:solidFill>
                      <a:srgbClr val="FFFFFF"/>
                    </a:solidFill>
                  </a:tcPr>
                </a:tc>
                <a:tc>
                  <a:txBody>
                    <a:bodyPr/>
                    <a:lstStyle/>
                    <a:p>
                      <a:pPr>
                        <a:defRPr sz="1150">
                          <a:solidFill>
                            <a:srgbClr val="25313F"/>
                          </a:solidFill>
                          <a:latin typeface="Aptos"/>
                        </a:defRPr>
                      </a:pPr>
                      <a:r>
                        <a:t>P2</a:t>
                      </a:r>
                    </a:p>
                  </a:txBody>
                  <a:tcPr>
                    <a:solidFill>
                      <a:srgbClr val="FFFFFF"/>
                    </a:solidFill>
                  </a:tcPr>
                </a:tc>
                <a:tc>
                  <a:txBody>
                    <a:bodyPr/>
                    <a:lstStyle/>
                    <a:p>
                      <a:pPr>
                        <a:defRPr sz="1150">
                          <a:solidFill>
                            <a:srgbClr val="25313F"/>
                          </a:solidFill>
                          <a:latin typeface="Aptos"/>
                        </a:defRPr>
                      </a:pPr>
                      <a:r>
                        <a:t>Breached</a:t>
                      </a:r>
                    </a:p>
                  </a:txBody>
                  <a:tcPr>
                    <a:solidFill>
                      <a:srgbClr val="FFFFFF"/>
                    </a:solidFill>
                  </a:tcPr>
                </a:tc>
                <a:tc>
                  <a:txBody>
                    <a:bodyPr/>
                    <a:lstStyle/>
                    <a:p>
                      <a:pPr>
                        <a:defRPr sz="1150">
                          <a:solidFill>
                            <a:srgbClr val="25313F"/>
                          </a:solidFill>
                          <a:latin typeface="Aptos"/>
                        </a:defRPr>
                      </a:pPr>
                      <a:r>
                        <a:t>...</a:t>
                      </a:r>
                    </a:p>
                  </a:txBody>
                  <a:tcPr>
                    <a:solidFill>
                      <a:srgbClr val="FFFFFF"/>
                    </a:solidFill>
                  </a:tcPr>
                </a:tc>
                <a:tc>
                  <a:txBody>
                    <a:bodyPr/>
                    <a:lstStyle/>
                    <a:p>
                      <a:pPr>
                        <a:defRPr sz="1150">
                          <a:solidFill>
                            <a:srgbClr val="25313F"/>
                          </a:solidFill>
                          <a:latin typeface="Aptos"/>
                        </a:defRPr>
                      </a:pPr>
                      <a:r>
                        <a:t>Escalate</a:t>
                      </a:r>
                    </a:p>
                  </a:txBody>
                  <a:tcPr>
                    <a:solidFill>
                      <a:srgbClr val="FFFFFF"/>
                    </a:solidFill>
                  </a:tcPr>
                </a:tc>
                <a:extLst>
                  <a:ext uri="{0D108BD9-81ED-4DB2-BD59-A6C34878D82A}">
                    <a16:rowId xmlns:a16="http://schemas.microsoft.com/office/drawing/2014/main" val="10001"/>
                  </a:ext>
                </a:extLst>
              </a:tr>
              <a:tr h="655320">
                <a:tc>
                  <a:txBody>
                    <a:bodyPr/>
                    <a:lstStyle/>
                    <a:p>
                      <a:pPr>
                        <a:defRPr sz="1150">
                          <a:solidFill>
                            <a:srgbClr val="25313F"/>
                          </a:solidFill>
                          <a:latin typeface="Aptos"/>
                        </a:defRPr>
                      </a:pPr>
                      <a:r>
                        <a:t>INC-1057</a:t>
                      </a:r>
                    </a:p>
                  </a:txBody>
                  <a:tcPr>
                    <a:solidFill>
                      <a:srgbClr val="F4F7FA"/>
                    </a:solidFill>
                  </a:tcPr>
                </a:tc>
                <a:tc>
                  <a:txBody>
                    <a:bodyPr/>
                    <a:lstStyle/>
                    <a:p>
                      <a:pPr>
                        <a:defRPr sz="1150">
                          <a:solidFill>
                            <a:srgbClr val="25313F"/>
                          </a:solidFill>
                          <a:latin typeface="Aptos"/>
                        </a:defRPr>
                      </a:pPr>
                      <a:r>
                        <a:t>P4</a:t>
                      </a:r>
                    </a:p>
                  </a:txBody>
                  <a:tcPr>
                    <a:solidFill>
                      <a:srgbClr val="F4F7FA"/>
                    </a:solidFill>
                  </a:tcPr>
                </a:tc>
                <a:tc>
                  <a:txBody>
                    <a:bodyPr/>
                    <a:lstStyle/>
                    <a:p>
                      <a:pPr>
                        <a:defRPr sz="1150">
                          <a:solidFill>
                            <a:srgbClr val="25313F"/>
                          </a:solidFill>
                          <a:latin typeface="Aptos"/>
                        </a:defRPr>
                      </a:pPr>
                      <a:r>
                        <a:t>Within</a:t>
                      </a:r>
                    </a:p>
                  </a:txBody>
                  <a:tcPr>
                    <a:solidFill>
                      <a:srgbClr val="F4F7FA"/>
                    </a:solidFill>
                  </a:tcPr>
                </a:tc>
                <a:tc>
                  <a:txBody>
                    <a:bodyPr/>
                    <a:lstStyle/>
                    <a:p>
                      <a:pPr>
                        <a:defRPr sz="1150">
                          <a:solidFill>
                            <a:srgbClr val="25313F"/>
                          </a:solidFill>
                          <a:latin typeface="Aptos"/>
                        </a:defRPr>
                      </a:pPr>
                      <a:r>
                        <a:t>...</a:t>
                      </a:r>
                    </a:p>
                  </a:txBody>
                  <a:tcPr>
                    <a:solidFill>
                      <a:srgbClr val="F4F7FA"/>
                    </a:solidFill>
                  </a:tcPr>
                </a:tc>
                <a:tc>
                  <a:txBody>
                    <a:bodyPr/>
                    <a:lstStyle/>
                    <a:p>
                      <a:pPr>
                        <a:defRPr sz="1150">
                          <a:solidFill>
                            <a:srgbClr val="25313F"/>
                          </a:solidFill>
                          <a:latin typeface="Aptos"/>
                        </a:defRPr>
                      </a:pPr>
                      <a:r>
                        <a:t>Monitor</a:t>
                      </a:r>
                    </a:p>
                  </a:txBody>
                  <a:tcPr>
                    <a:solidFill>
                      <a:srgbClr val="F4F7FA"/>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914400" y="4800600"/>
            <a:ext cx="10241280" cy="502920"/>
          </a:xfrm>
          <a:prstGeom prst="rect">
            <a:avLst/>
          </a:prstGeom>
          <a:noFill/>
        </p:spPr>
        <p:txBody>
          <a:bodyPr wrap="square" anchor="t">
            <a:spAutoFit/>
          </a:bodyPr>
          <a:lstStyle/>
          <a:p>
            <a:pPr algn="ctr">
              <a:defRPr sz="2000" b="1">
                <a:solidFill>
                  <a:srgbClr val="111F35"/>
                </a:solidFill>
                <a:latin typeface="Aptos"/>
              </a:defRPr>
            </a:pPr>
            <a:r>
              <a:t>Structured output makes AI easier to review, compare, validate and reuse.</a:t>
            </a:r>
          </a:p>
        </p:txBody>
      </p:sp>
      <p:sp>
        <p:nvSpPr>
          <p:cNvPr id="13" name="Rectangle 12"/>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5" name="Slide Number Placeholder 14">
            <a:extLst>
              <a:ext uri="{FF2B5EF4-FFF2-40B4-BE49-F238E27FC236}">
                <a16:creationId xmlns:a16="http://schemas.microsoft.com/office/drawing/2014/main" id="{806FD58A-1AC8-BD30-9F77-006496F8318E}"/>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Data Track vs Enterprise Operations</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Same prompting principles. Different work.</a:t>
            </a:r>
          </a:p>
        </p:txBody>
      </p:sp>
      <p:sp>
        <p:nvSpPr>
          <p:cNvPr id="6" name="Rounded Rectangle 5"/>
          <p:cNvSpPr/>
          <p:nvPr/>
        </p:nvSpPr>
        <p:spPr>
          <a:xfrm>
            <a:off x="777240" y="1463040"/>
            <a:ext cx="5166360" cy="41605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463040"/>
            <a:ext cx="73152" cy="4160520"/>
          </a:xfrm>
          <a:prstGeom prst="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627632"/>
            <a:ext cx="4818888" cy="384048"/>
          </a:xfrm>
          <a:prstGeom prst="rect">
            <a:avLst/>
          </a:prstGeom>
          <a:noFill/>
        </p:spPr>
        <p:txBody>
          <a:bodyPr wrap="square" anchor="t">
            <a:spAutoFit/>
          </a:bodyPr>
          <a:lstStyle/>
          <a:p>
            <a:pPr algn="l">
              <a:defRPr sz="2000" b="1">
                <a:solidFill>
                  <a:srgbClr val="111F35"/>
                </a:solidFill>
                <a:latin typeface="Aptos"/>
              </a:defRPr>
            </a:pPr>
            <a:r>
              <a:t>DATA</a:t>
            </a:r>
          </a:p>
        </p:txBody>
      </p:sp>
      <p:sp>
        <p:nvSpPr>
          <p:cNvPr id="9" name="TextBox 8"/>
          <p:cNvSpPr txBox="1"/>
          <p:nvPr/>
        </p:nvSpPr>
        <p:spPr>
          <a:xfrm>
            <a:off x="978408" y="2084832"/>
            <a:ext cx="4818888" cy="3410712"/>
          </a:xfrm>
          <a:prstGeom prst="rect">
            <a:avLst/>
          </a:prstGeom>
          <a:noFill/>
        </p:spPr>
        <p:txBody>
          <a:bodyPr wrap="square" anchor="t">
            <a:spAutoFit/>
          </a:bodyPr>
          <a:lstStyle/>
          <a:p>
            <a:pPr algn="l">
              <a:defRPr sz="1800" b="0">
                <a:solidFill>
                  <a:srgbClr val="25313F"/>
                </a:solidFill>
                <a:latin typeface="Aptos"/>
              </a:defRPr>
            </a:pPr>
            <a:r>
              <a:t>SQL generation</a:t>
            </a:r>
            <a:br/>
            <a:r>
              <a:t>Data-quality investigation</a:t>
            </a:r>
            <a:br/>
            <a:r>
              <a:t>ETL transformation</a:t>
            </a:r>
            <a:br/>
            <a:r>
              <a:t>Analytics</a:t>
            </a:r>
            <a:br/>
            <a:r>
              <a:t>Data validation</a:t>
            </a:r>
            <a:br/>
            <a:r>
              <a:t>Documentation</a:t>
            </a:r>
          </a:p>
        </p:txBody>
      </p:sp>
      <p:sp>
        <p:nvSpPr>
          <p:cNvPr id="10" name="Rounded Rectangle 9"/>
          <p:cNvSpPr/>
          <p:nvPr/>
        </p:nvSpPr>
        <p:spPr>
          <a:xfrm>
            <a:off x="6217920" y="1463040"/>
            <a:ext cx="5166360" cy="41605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463040"/>
            <a:ext cx="73152" cy="416052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1627632"/>
            <a:ext cx="4818888" cy="384048"/>
          </a:xfrm>
          <a:prstGeom prst="rect">
            <a:avLst/>
          </a:prstGeom>
          <a:noFill/>
        </p:spPr>
        <p:txBody>
          <a:bodyPr wrap="square" anchor="t">
            <a:spAutoFit/>
          </a:bodyPr>
          <a:lstStyle/>
          <a:p>
            <a:pPr algn="l">
              <a:defRPr sz="2000" b="1">
                <a:solidFill>
                  <a:srgbClr val="111F35"/>
                </a:solidFill>
                <a:latin typeface="Aptos"/>
              </a:defRPr>
            </a:pPr>
            <a:r>
              <a:t>ENTERPRISE OPERATIONS</a:t>
            </a:r>
          </a:p>
        </p:txBody>
      </p:sp>
      <p:sp>
        <p:nvSpPr>
          <p:cNvPr id="13" name="TextBox 12"/>
          <p:cNvSpPr txBox="1"/>
          <p:nvPr/>
        </p:nvSpPr>
        <p:spPr>
          <a:xfrm>
            <a:off x="6419088" y="2084832"/>
            <a:ext cx="4818888" cy="3410712"/>
          </a:xfrm>
          <a:prstGeom prst="rect">
            <a:avLst/>
          </a:prstGeom>
          <a:noFill/>
        </p:spPr>
        <p:txBody>
          <a:bodyPr wrap="square" anchor="t">
            <a:spAutoFit/>
          </a:bodyPr>
          <a:lstStyle/>
          <a:p>
            <a:pPr algn="l">
              <a:defRPr sz="1800" b="0">
                <a:solidFill>
                  <a:srgbClr val="25313F"/>
                </a:solidFill>
                <a:latin typeface="Aptos"/>
              </a:defRPr>
            </a:pPr>
            <a:r>
              <a:t>Ticket triage</a:t>
            </a:r>
            <a:br/>
            <a:r>
              <a:t>Incident analysis</a:t>
            </a:r>
            <a:br/>
            <a:r>
              <a:t>Runbooks</a:t>
            </a:r>
            <a:br/>
            <a:r>
              <a:t>Scripting</a:t>
            </a:r>
            <a:br/>
            <a:r>
              <a:t>Operational reporting</a:t>
            </a:r>
            <a:br/>
            <a:r>
              <a:t>Root-cause investigation</a:t>
            </a:r>
          </a:p>
        </p:txBody>
      </p:sp>
      <p:sp>
        <p:nvSpPr>
          <p:cNvPr id="14" name="TextBox 13"/>
          <p:cNvSpPr txBox="1"/>
          <p:nvPr/>
        </p:nvSpPr>
        <p:spPr>
          <a:xfrm>
            <a:off x="914400" y="5897880"/>
            <a:ext cx="10241280" cy="411480"/>
          </a:xfrm>
          <a:prstGeom prst="rect">
            <a:avLst/>
          </a:prstGeom>
          <a:noFill/>
        </p:spPr>
        <p:txBody>
          <a:bodyPr wrap="square" anchor="t">
            <a:spAutoFit/>
          </a:bodyPr>
          <a:lstStyle/>
          <a:p>
            <a:pPr algn="ctr">
              <a:defRPr sz="1900" b="1">
                <a:solidFill>
                  <a:srgbClr val="111F35"/>
                </a:solidFill>
                <a:latin typeface="Aptos"/>
              </a:defRPr>
            </a:pPr>
            <a:r>
              <a:t>The framework stays the same. The context and constraints change.</a:t>
            </a:r>
          </a:p>
        </p:txBody>
      </p:sp>
      <p:sp>
        <p:nvSpPr>
          <p:cNvPr id="15" name="Rectangle 14"/>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7" name="Slide Number Placeholder 16">
            <a:extLst>
              <a:ext uri="{FF2B5EF4-FFF2-40B4-BE49-F238E27FC236}">
                <a16:creationId xmlns:a16="http://schemas.microsoft.com/office/drawing/2014/main" id="{E932BDA1-10A5-9B94-66AF-E4C791BA2DFD}"/>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Copilot Chat vs GitHub Copilot</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Two Copilots. Different jobs.</a:t>
            </a:r>
          </a:p>
        </p:txBody>
      </p:sp>
      <p:graphicFrame>
        <p:nvGraphicFramePr>
          <p:cNvPr id="6" name="Table 5"/>
          <p:cNvGraphicFramePr>
            <a:graphicFrameLocks noGrp="1"/>
          </p:cNvGraphicFramePr>
          <p:nvPr/>
        </p:nvGraphicFramePr>
        <p:xfrm>
          <a:off x="868680" y="1508760"/>
          <a:ext cx="10469880" cy="4480560"/>
        </p:xfrm>
        <a:graphic>
          <a:graphicData uri="http://schemas.openxmlformats.org/drawingml/2006/table">
            <a:tbl>
              <a:tblPr firstRow="1" bandRow="1">
                <a:tableStyleId>{5C22544A-7EE6-4342-B048-85BDC9FD1C3A}</a:tableStyleId>
              </a:tblPr>
              <a:tblGrid>
                <a:gridCol w="516636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640080">
                <a:tc>
                  <a:txBody>
                    <a:bodyPr/>
                    <a:lstStyle/>
                    <a:p>
                      <a:pPr>
                        <a:defRPr sz="1600" b="1">
                          <a:solidFill>
                            <a:srgbClr val="FFFFFF"/>
                          </a:solidFill>
                          <a:latin typeface="Aptos"/>
                        </a:defRPr>
                      </a:pPr>
                      <a:r>
                        <a:t>Copilot Chat</a:t>
                      </a:r>
                    </a:p>
                  </a:txBody>
                  <a:tcPr>
                    <a:solidFill>
                      <a:srgbClr val="111F35"/>
                    </a:solidFill>
                  </a:tcPr>
                </a:tc>
                <a:tc>
                  <a:txBody>
                    <a:bodyPr/>
                    <a:lstStyle/>
                    <a:p>
                      <a:pPr>
                        <a:defRPr sz="1600" b="1">
                          <a:solidFill>
                            <a:srgbClr val="FFFFFF"/>
                          </a:solidFill>
                          <a:latin typeface="Aptos"/>
                        </a:defRPr>
                      </a:pPr>
                      <a:r>
                        <a:t>GitHub Copilot</a:t>
                      </a:r>
                    </a:p>
                  </a:txBody>
                  <a:tcPr>
                    <a:solidFill>
                      <a:srgbClr val="111F35"/>
                    </a:solidFill>
                  </a:tcPr>
                </a:tc>
                <a:extLst>
                  <a:ext uri="{0D108BD9-81ED-4DB2-BD59-A6C34878D82A}">
                    <a16:rowId xmlns:a16="http://schemas.microsoft.com/office/drawing/2014/main" val="10000"/>
                  </a:ext>
                </a:extLst>
              </a:tr>
              <a:tr h="640080">
                <a:tc>
                  <a:txBody>
                    <a:bodyPr/>
                    <a:lstStyle/>
                    <a:p>
                      <a:pPr>
                        <a:defRPr sz="1600">
                          <a:solidFill>
                            <a:srgbClr val="25313F"/>
                          </a:solidFill>
                          <a:latin typeface="Aptos"/>
                        </a:defRPr>
                      </a:pPr>
                      <a:r>
                        <a:t>Analyze</a:t>
                      </a:r>
                    </a:p>
                  </a:txBody>
                  <a:tcPr>
                    <a:solidFill>
                      <a:srgbClr val="FFFFFF"/>
                    </a:solidFill>
                  </a:tcPr>
                </a:tc>
                <a:tc>
                  <a:txBody>
                    <a:bodyPr/>
                    <a:lstStyle/>
                    <a:p>
                      <a:pPr>
                        <a:defRPr sz="1600">
                          <a:solidFill>
                            <a:srgbClr val="25313F"/>
                          </a:solidFill>
                          <a:latin typeface="Aptos"/>
                        </a:defRPr>
                      </a:pPr>
                      <a:r>
                        <a:t>Generate code</a:t>
                      </a:r>
                    </a:p>
                  </a:txBody>
                  <a:tcPr>
                    <a:solidFill>
                      <a:srgbClr val="FFFFFF"/>
                    </a:solidFill>
                  </a:tcPr>
                </a:tc>
                <a:extLst>
                  <a:ext uri="{0D108BD9-81ED-4DB2-BD59-A6C34878D82A}">
                    <a16:rowId xmlns:a16="http://schemas.microsoft.com/office/drawing/2014/main" val="10001"/>
                  </a:ext>
                </a:extLst>
              </a:tr>
              <a:tr h="640080">
                <a:tc>
                  <a:txBody>
                    <a:bodyPr/>
                    <a:lstStyle/>
                    <a:p>
                      <a:pPr>
                        <a:defRPr sz="1600">
                          <a:solidFill>
                            <a:srgbClr val="25313F"/>
                          </a:solidFill>
                          <a:latin typeface="Aptos"/>
                        </a:defRPr>
                      </a:pPr>
                      <a:r>
                        <a:t>Summarize</a:t>
                      </a:r>
                    </a:p>
                  </a:txBody>
                  <a:tcPr>
                    <a:solidFill>
                      <a:srgbClr val="F4F7FA"/>
                    </a:solidFill>
                  </a:tcPr>
                </a:tc>
                <a:tc>
                  <a:txBody>
                    <a:bodyPr/>
                    <a:lstStyle/>
                    <a:p>
                      <a:pPr>
                        <a:defRPr sz="1600">
                          <a:solidFill>
                            <a:srgbClr val="25313F"/>
                          </a:solidFill>
                          <a:latin typeface="Aptos"/>
                        </a:defRPr>
                      </a:pPr>
                      <a:r>
                        <a:t>Explain code</a:t>
                      </a:r>
                    </a:p>
                  </a:txBody>
                  <a:tcPr>
                    <a:solidFill>
                      <a:srgbClr val="F4F7FA"/>
                    </a:solidFill>
                  </a:tcPr>
                </a:tc>
                <a:extLst>
                  <a:ext uri="{0D108BD9-81ED-4DB2-BD59-A6C34878D82A}">
                    <a16:rowId xmlns:a16="http://schemas.microsoft.com/office/drawing/2014/main" val="10002"/>
                  </a:ext>
                </a:extLst>
              </a:tr>
              <a:tr h="640080">
                <a:tc>
                  <a:txBody>
                    <a:bodyPr/>
                    <a:lstStyle/>
                    <a:p>
                      <a:pPr>
                        <a:defRPr sz="1600">
                          <a:solidFill>
                            <a:srgbClr val="25313F"/>
                          </a:solidFill>
                          <a:latin typeface="Aptos"/>
                        </a:defRPr>
                      </a:pPr>
                      <a:r>
                        <a:t>Research</a:t>
                      </a:r>
                    </a:p>
                  </a:txBody>
                  <a:tcPr>
                    <a:solidFill>
                      <a:srgbClr val="FFFFFF"/>
                    </a:solidFill>
                  </a:tcPr>
                </a:tc>
                <a:tc>
                  <a:txBody>
                    <a:bodyPr/>
                    <a:lstStyle/>
                    <a:p>
                      <a:pPr>
                        <a:defRPr sz="1600">
                          <a:solidFill>
                            <a:srgbClr val="25313F"/>
                          </a:solidFill>
                          <a:latin typeface="Aptos"/>
                        </a:defRPr>
                      </a:pPr>
                      <a:r>
                        <a:t>Review code</a:t>
                      </a:r>
                    </a:p>
                  </a:txBody>
                  <a:tcPr>
                    <a:solidFill>
                      <a:srgbClr val="FFFFFF"/>
                    </a:solidFill>
                  </a:tcPr>
                </a:tc>
                <a:extLst>
                  <a:ext uri="{0D108BD9-81ED-4DB2-BD59-A6C34878D82A}">
                    <a16:rowId xmlns:a16="http://schemas.microsoft.com/office/drawing/2014/main" val="10003"/>
                  </a:ext>
                </a:extLst>
              </a:tr>
              <a:tr h="640080">
                <a:tc>
                  <a:txBody>
                    <a:bodyPr/>
                    <a:lstStyle/>
                    <a:p>
                      <a:pPr>
                        <a:defRPr sz="1600">
                          <a:solidFill>
                            <a:srgbClr val="25313F"/>
                          </a:solidFill>
                          <a:latin typeface="Aptos"/>
                        </a:defRPr>
                      </a:pPr>
                      <a:r>
                        <a:t>Transform</a:t>
                      </a:r>
                    </a:p>
                  </a:txBody>
                  <a:tcPr>
                    <a:solidFill>
                      <a:srgbClr val="F4F7FA"/>
                    </a:solidFill>
                  </a:tcPr>
                </a:tc>
                <a:tc>
                  <a:txBody>
                    <a:bodyPr/>
                    <a:lstStyle/>
                    <a:p>
                      <a:pPr>
                        <a:defRPr sz="1600">
                          <a:solidFill>
                            <a:srgbClr val="25313F"/>
                          </a:solidFill>
                          <a:latin typeface="Aptos"/>
                        </a:defRPr>
                      </a:pPr>
                      <a:r>
                        <a:t>Generate tests</a:t>
                      </a:r>
                    </a:p>
                  </a:txBody>
                  <a:tcPr>
                    <a:solidFill>
                      <a:srgbClr val="F4F7FA"/>
                    </a:solidFill>
                  </a:tcPr>
                </a:tc>
                <a:extLst>
                  <a:ext uri="{0D108BD9-81ED-4DB2-BD59-A6C34878D82A}">
                    <a16:rowId xmlns:a16="http://schemas.microsoft.com/office/drawing/2014/main" val="10004"/>
                  </a:ext>
                </a:extLst>
              </a:tr>
              <a:tr h="640080">
                <a:tc>
                  <a:txBody>
                    <a:bodyPr/>
                    <a:lstStyle/>
                    <a:p>
                      <a:pPr>
                        <a:defRPr sz="1600">
                          <a:solidFill>
                            <a:srgbClr val="25313F"/>
                          </a:solidFill>
                          <a:latin typeface="Aptos"/>
                        </a:defRPr>
                      </a:pPr>
                      <a:r>
                        <a:t>Compare</a:t>
                      </a:r>
                    </a:p>
                  </a:txBody>
                  <a:tcPr>
                    <a:solidFill>
                      <a:srgbClr val="FFFFFF"/>
                    </a:solidFill>
                  </a:tcPr>
                </a:tc>
                <a:tc>
                  <a:txBody>
                    <a:bodyPr/>
                    <a:lstStyle/>
                    <a:p>
                      <a:pPr>
                        <a:defRPr sz="1600">
                          <a:solidFill>
                            <a:srgbClr val="25313F"/>
                          </a:solidFill>
                          <a:latin typeface="Aptos"/>
                        </a:defRPr>
                      </a:pPr>
                      <a:r>
                        <a:t>Refactor</a:t>
                      </a:r>
                    </a:p>
                  </a:txBody>
                  <a:tcPr>
                    <a:solidFill>
                      <a:srgbClr val="FFFFFF"/>
                    </a:solidFill>
                  </a:tcPr>
                </a:tc>
                <a:extLst>
                  <a:ext uri="{0D108BD9-81ED-4DB2-BD59-A6C34878D82A}">
                    <a16:rowId xmlns:a16="http://schemas.microsoft.com/office/drawing/2014/main" val="10005"/>
                  </a:ext>
                </a:extLst>
              </a:tr>
              <a:tr h="640080">
                <a:tc>
                  <a:txBody>
                    <a:bodyPr/>
                    <a:lstStyle/>
                    <a:p>
                      <a:pPr>
                        <a:defRPr sz="1600">
                          <a:solidFill>
                            <a:srgbClr val="25313F"/>
                          </a:solidFill>
                          <a:latin typeface="Aptos"/>
                        </a:defRPr>
                      </a:pPr>
                      <a:r>
                        <a:t>Reason through a problem</a:t>
                      </a:r>
                    </a:p>
                  </a:txBody>
                  <a:tcPr>
                    <a:solidFill>
                      <a:srgbClr val="F4F7FA"/>
                    </a:solidFill>
                  </a:tcPr>
                </a:tc>
                <a:tc>
                  <a:txBody>
                    <a:bodyPr/>
                    <a:lstStyle/>
                    <a:p>
                      <a:pPr>
                        <a:defRPr sz="1600">
                          <a:solidFill>
                            <a:srgbClr val="25313F"/>
                          </a:solidFill>
                          <a:latin typeface="Aptos"/>
                        </a:defRPr>
                      </a:pPr>
                      <a:r>
                        <a:t>Debug</a:t>
                      </a:r>
                    </a:p>
                  </a:txBody>
                  <a:tcPr>
                    <a:solidFill>
                      <a:srgbClr val="F4F7FA"/>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914400" y="6080760"/>
            <a:ext cx="10241280" cy="274320"/>
          </a:xfrm>
          <a:prstGeom prst="rect">
            <a:avLst/>
          </a:prstGeom>
          <a:noFill/>
        </p:spPr>
        <p:txBody>
          <a:bodyPr wrap="square" anchor="t">
            <a:spAutoFit/>
          </a:bodyPr>
          <a:lstStyle/>
          <a:p>
            <a:pPr algn="ctr">
              <a:defRPr sz="1400" b="1">
                <a:solidFill>
                  <a:srgbClr val="148F96"/>
                </a:solidFill>
                <a:latin typeface="Aptos"/>
              </a:defRPr>
            </a:pPr>
            <a:r>
              <a:t>Generate → Explain → Review → Test → Challenge → Approve</a:t>
            </a:r>
          </a:p>
        </p:txBody>
      </p:sp>
      <p:sp>
        <p:nvSpPr>
          <p:cNvPr id="8" name="Rectangle 7"/>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0" name="Slide Number Placeholder 9">
            <a:extLst>
              <a:ext uri="{FF2B5EF4-FFF2-40B4-BE49-F238E27FC236}">
                <a16:creationId xmlns:a16="http://schemas.microsoft.com/office/drawing/2014/main" id="{EBABC2A7-28E1-A39B-3837-8A58714BA9AC}"/>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Live Demo: Bad Prompt</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Start with the weak request. Do not fix it yet.</a:t>
            </a:r>
          </a:p>
        </p:txBody>
      </p:sp>
      <p:sp>
        <p:nvSpPr>
          <p:cNvPr id="6" name="TextBox 5"/>
          <p:cNvSpPr txBox="1"/>
          <p:nvPr/>
        </p:nvSpPr>
        <p:spPr>
          <a:xfrm>
            <a:off x="914400" y="1874519"/>
            <a:ext cx="10332720" cy="868680"/>
          </a:xfrm>
          <a:prstGeom prst="rect">
            <a:avLst/>
          </a:prstGeom>
          <a:noFill/>
        </p:spPr>
        <p:txBody>
          <a:bodyPr wrap="square" anchor="t">
            <a:spAutoFit/>
          </a:bodyPr>
          <a:lstStyle/>
          <a:p>
            <a:pPr algn="ctr">
              <a:defRPr sz="2900" b="1">
                <a:solidFill>
                  <a:srgbClr val="111F35"/>
                </a:solidFill>
                <a:latin typeface="Aptos"/>
              </a:defRPr>
            </a:pPr>
            <a:r>
              <a:t>Analyze these tickets and tell me what is important.</a:t>
            </a:r>
          </a:p>
        </p:txBody>
      </p:sp>
      <p:sp>
        <p:nvSpPr>
          <p:cNvPr id="7" name="Rounded Rectangle 6"/>
          <p:cNvSpPr/>
          <p:nvPr/>
        </p:nvSpPr>
        <p:spPr>
          <a:xfrm>
            <a:off x="5074920" y="3063240"/>
            <a:ext cx="1920240" cy="384048"/>
          </a:xfrm>
          <a:prstGeom prst="round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74920" y="3099816"/>
            <a:ext cx="1920240" cy="292608"/>
          </a:xfrm>
          <a:prstGeom prst="rect">
            <a:avLst/>
          </a:prstGeom>
          <a:noFill/>
        </p:spPr>
        <p:txBody>
          <a:bodyPr wrap="square" anchor="t">
            <a:spAutoFit/>
          </a:bodyPr>
          <a:lstStyle/>
          <a:p>
            <a:pPr algn="ctr">
              <a:defRPr sz="1150" b="1">
                <a:solidFill>
                  <a:srgbClr val="FFFFFF"/>
                </a:solidFill>
                <a:latin typeface="Aptos"/>
              </a:defRPr>
            </a:pPr>
            <a:r>
              <a:t>RUN IT</a:t>
            </a:r>
          </a:p>
        </p:txBody>
      </p:sp>
      <p:sp>
        <p:nvSpPr>
          <p:cNvPr id="9" name="TextBox 8"/>
          <p:cNvSpPr txBox="1"/>
          <p:nvPr/>
        </p:nvSpPr>
        <p:spPr>
          <a:xfrm>
            <a:off x="914400" y="3931920"/>
            <a:ext cx="10332720" cy="446276"/>
          </a:xfrm>
          <a:prstGeom prst="rect">
            <a:avLst/>
          </a:prstGeom>
          <a:noFill/>
        </p:spPr>
        <p:txBody>
          <a:bodyPr wrap="square" anchor="t">
            <a:spAutoFit/>
          </a:bodyPr>
          <a:lstStyle/>
          <a:p>
            <a:pPr algn="ctr">
              <a:defRPr sz="2300" b="1">
                <a:solidFill>
                  <a:srgbClr val="148F96"/>
                </a:solidFill>
                <a:latin typeface="Aptos"/>
              </a:defRPr>
            </a:pPr>
            <a:r>
              <a:rPr dirty="0"/>
              <a:t>What is missing?</a:t>
            </a:r>
          </a:p>
        </p:txBody>
      </p:sp>
      <p:sp>
        <p:nvSpPr>
          <p:cNvPr id="10" name="TextBox 9"/>
          <p:cNvSpPr txBox="1"/>
          <p:nvPr/>
        </p:nvSpPr>
        <p:spPr>
          <a:xfrm>
            <a:off x="1005840" y="4800600"/>
            <a:ext cx="10149840" cy="731520"/>
          </a:xfrm>
          <a:prstGeom prst="rect">
            <a:avLst/>
          </a:prstGeom>
          <a:noFill/>
        </p:spPr>
        <p:txBody>
          <a:bodyPr wrap="square" anchor="t">
            <a:spAutoFit/>
          </a:bodyPr>
          <a:lstStyle/>
          <a:p>
            <a:pPr algn="ctr">
              <a:defRPr sz="1500" b="1">
                <a:solidFill>
                  <a:srgbClr val="25313F"/>
                </a:solidFill>
                <a:latin typeface="Aptos"/>
              </a:defRPr>
            </a:pPr>
            <a:r>
              <a:rPr dirty="0"/>
              <a:t>Role  •  Definition of “important”  •  Business context  •  Criteria  •  Output  •  Evidence  •  Validation</a:t>
            </a:r>
          </a:p>
        </p:txBody>
      </p:sp>
      <p:sp>
        <p:nvSpPr>
          <p:cNvPr id="11" name="Rectangle 10"/>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3" name="Slide Number Placeholder 12">
            <a:extLst>
              <a:ext uri="{FF2B5EF4-FFF2-40B4-BE49-F238E27FC236}">
                <a16:creationId xmlns:a16="http://schemas.microsoft.com/office/drawing/2014/main" id="{2A2A20FB-3383-B4B5-CA94-FDC08B65A310}"/>
              </a:ext>
            </a:extLst>
          </p:cNvPr>
          <p:cNvSpPr>
            <a:spLocks noGrp="1"/>
          </p:cNvSpPr>
          <p:nvPr>
            <p:ph type="sldNum" sz="quarter" idx="12"/>
          </p:nvPr>
        </p:nvSpPr>
        <p:spPr/>
        <p:txBody>
          <a:bodyPr/>
          <a:lstStyle/>
          <a:p>
            <a:fld id="{C1FF6DA9-008F-8B48-92A6-B652298478BF}" type="slidenum">
              <a:rPr lang="en-US" smtClean="0"/>
              <a:t>16</a:t>
            </a:fld>
            <a:endParaRPr lang="en-US"/>
          </a:p>
        </p:txBody>
      </p:sp>
      <p:grpSp>
        <p:nvGrpSpPr>
          <p:cNvPr id="24" name="Group 23">
            <a:extLst>
              <a:ext uri="{FF2B5EF4-FFF2-40B4-BE49-F238E27FC236}">
                <a16:creationId xmlns:a16="http://schemas.microsoft.com/office/drawing/2014/main" id="{0C5CE24C-2404-457D-E2FB-ED5417C41AD1}"/>
              </a:ext>
            </a:extLst>
          </p:cNvPr>
          <p:cNvGrpSpPr/>
          <p:nvPr/>
        </p:nvGrpSpPr>
        <p:grpSpPr>
          <a:xfrm>
            <a:off x="2779853" y="5343668"/>
            <a:ext cx="6510374" cy="914400"/>
            <a:chOff x="2024025" y="5396154"/>
            <a:chExt cx="6510374" cy="914400"/>
          </a:xfrm>
        </p:grpSpPr>
        <p:sp>
          <p:nvSpPr>
            <p:cNvPr id="15" name="Rectangle: Rounded Corners 14">
              <a:extLst>
                <a:ext uri="{FF2B5EF4-FFF2-40B4-BE49-F238E27FC236}">
                  <a16:creationId xmlns:a16="http://schemas.microsoft.com/office/drawing/2014/main" id="{D2AFDB7E-C9E7-6CFB-BF0F-24BBC9469862}"/>
                </a:ext>
              </a:extLst>
            </p:cNvPr>
            <p:cNvSpPr/>
            <p:nvPr/>
          </p:nvSpPr>
          <p:spPr>
            <a:xfrm>
              <a:off x="2024025" y="5396154"/>
              <a:ext cx="1707032"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Better</a:t>
              </a:r>
              <a:endParaRPr lang="en-IN" dirty="0"/>
            </a:p>
          </p:txBody>
        </p:sp>
        <p:sp>
          <p:nvSpPr>
            <p:cNvPr id="17" name="Rectangle: Rounded Corners 16">
              <a:extLst>
                <a:ext uri="{FF2B5EF4-FFF2-40B4-BE49-F238E27FC236}">
                  <a16:creationId xmlns:a16="http://schemas.microsoft.com/office/drawing/2014/main" id="{1BD3FB5D-AC1D-8E2B-117D-A6A2665294B5}"/>
                </a:ext>
              </a:extLst>
            </p:cNvPr>
            <p:cNvSpPr/>
            <p:nvPr/>
          </p:nvSpPr>
          <p:spPr>
            <a:xfrm>
              <a:off x="4425696" y="5396154"/>
              <a:ext cx="1707032"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Strong</a:t>
              </a:r>
              <a:endParaRPr lang="en-IN" dirty="0"/>
            </a:p>
          </p:txBody>
        </p:sp>
        <p:sp>
          <p:nvSpPr>
            <p:cNvPr id="19" name="Rectangle: Rounded Corners 18">
              <a:extLst>
                <a:ext uri="{FF2B5EF4-FFF2-40B4-BE49-F238E27FC236}">
                  <a16:creationId xmlns:a16="http://schemas.microsoft.com/office/drawing/2014/main" id="{0735D2C4-CD15-6CD0-7B0C-4E9EB5954E5C}"/>
                </a:ext>
              </a:extLst>
            </p:cNvPr>
            <p:cNvSpPr/>
            <p:nvPr/>
          </p:nvSpPr>
          <p:spPr>
            <a:xfrm>
              <a:off x="6827367" y="5396154"/>
              <a:ext cx="1707032"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Production-oriented</a:t>
              </a:r>
              <a:endParaRPr lang="en-IN" dirty="0"/>
            </a:p>
          </p:txBody>
        </p:sp>
        <p:sp>
          <p:nvSpPr>
            <p:cNvPr id="20" name="Arrow: Notched Right 19">
              <a:extLst>
                <a:ext uri="{FF2B5EF4-FFF2-40B4-BE49-F238E27FC236}">
                  <a16:creationId xmlns:a16="http://schemas.microsoft.com/office/drawing/2014/main" id="{E8A11271-8D0C-24A6-1A5D-649260F124BB}"/>
                </a:ext>
              </a:extLst>
            </p:cNvPr>
            <p:cNvSpPr/>
            <p:nvPr/>
          </p:nvSpPr>
          <p:spPr>
            <a:xfrm>
              <a:off x="3589173" y="5643042"/>
              <a:ext cx="978408" cy="484632"/>
            </a:xfrm>
            <a:prstGeom prst="notched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2" name="Arrow: Notched Right 21">
              <a:extLst>
                <a:ext uri="{FF2B5EF4-FFF2-40B4-BE49-F238E27FC236}">
                  <a16:creationId xmlns:a16="http://schemas.microsoft.com/office/drawing/2014/main" id="{A93879F5-4F92-F0CB-DDE7-5B8E488C35B6}"/>
                </a:ext>
              </a:extLst>
            </p:cNvPr>
            <p:cNvSpPr/>
            <p:nvPr/>
          </p:nvSpPr>
          <p:spPr>
            <a:xfrm>
              <a:off x="6035040" y="5643042"/>
              <a:ext cx="978408" cy="484632"/>
            </a:xfrm>
            <a:prstGeom prst="notched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grpSp>
      <p:sp>
        <p:nvSpPr>
          <p:cNvPr id="23" name="TextBox 22">
            <a:extLst>
              <a:ext uri="{FF2B5EF4-FFF2-40B4-BE49-F238E27FC236}">
                <a16:creationId xmlns:a16="http://schemas.microsoft.com/office/drawing/2014/main" id="{B07DF0AD-3585-9143-5512-93B1DF452D11}"/>
              </a:ext>
            </a:extLst>
          </p:cNvPr>
          <p:cNvSpPr txBox="1"/>
          <p:nvPr/>
        </p:nvSpPr>
        <p:spPr>
          <a:xfrm>
            <a:off x="-530352" y="5431536"/>
            <a:ext cx="184731" cy="369332"/>
          </a:xfrm>
          <a:prstGeom prst="rect">
            <a:avLst/>
          </a:prstGeom>
          <a:noFill/>
        </p:spPr>
        <p:txBody>
          <a:bodyPr wrap="none" rtlCol="0">
            <a:spAutoFit/>
          </a:bodyPr>
          <a:lstStyle/>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Live Demo: Improved Prompt</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Same task. Better specification.</a:t>
            </a:r>
          </a:p>
        </p:txBody>
      </p:sp>
      <p:sp>
        <p:nvSpPr>
          <p:cNvPr id="6" name="Rounded Rectangle 5"/>
          <p:cNvSpPr/>
          <p:nvPr/>
        </p:nvSpPr>
        <p:spPr>
          <a:xfrm>
            <a:off x="822960" y="1417320"/>
            <a:ext cx="10561320" cy="41605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1417320"/>
            <a:ext cx="73152" cy="416052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581912"/>
            <a:ext cx="10213848" cy="384048"/>
          </a:xfrm>
          <a:prstGeom prst="rect">
            <a:avLst/>
          </a:prstGeom>
          <a:noFill/>
        </p:spPr>
        <p:txBody>
          <a:bodyPr wrap="square" anchor="t">
            <a:spAutoFit/>
          </a:bodyPr>
          <a:lstStyle/>
          <a:p>
            <a:pPr algn="l">
              <a:defRPr sz="1800" b="1">
                <a:solidFill>
                  <a:srgbClr val="111F35"/>
                </a:solidFill>
                <a:latin typeface="Aptos"/>
              </a:defRPr>
            </a:pPr>
            <a:r>
              <a:t>PROMPT</a:t>
            </a:r>
          </a:p>
        </p:txBody>
      </p:sp>
      <p:sp>
        <p:nvSpPr>
          <p:cNvPr id="9" name="TextBox 8"/>
          <p:cNvSpPr txBox="1"/>
          <p:nvPr/>
        </p:nvSpPr>
        <p:spPr>
          <a:xfrm>
            <a:off x="1024128" y="2039112"/>
            <a:ext cx="10213848" cy="3410712"/>
          </a:xfrm>
          <a:prstGeom prst="rect">
            <a:avLst/>
          </a:prstGeom>
          <a:noFill/>
        </p:spPr>
        <p:txBody>
          <a:bodyPr wrap="square" anchor="t">
            <a:spAutoFit/>
          </a:bodyPr>
          <a:lstStyle/>
          <a:p>
            <a:pPr algn="l">
              <a:defRPr sz="1600" b="0">
                <a:solidFill>
                  <a:srgbClr val="25313F"/>
                </a:solidFill>
                <a:latin typeface="Aptos"/>
              </a:defRPr>
            </a:pPr>
            <a:r>
              <a:t>You are a WinTrust operations analyst.</a:t>
            </a:r>
            <a:br/>
            <a:r>
              <a:t>Review the supplied operational tickets against the WinTrust SLA policy.</a:t>
            </a:r>
            <a:br/>
            <a:r>
              <a:t>Identify tickets that have breached their SLA, require escalation, or show evidence of increasing operational risk.</a:t>
            </a:r>
            <a:br/>
            <a:r>
              <a:t>For every finding, cite the evidence from the ticket.</a:t>
            </a:r>
            <a:br/>
            <a:r>
              <a:t>Do not infer missing information.</a:t>
            </a:r>
            <a:br/>
            <a:r>
              <a:t>Return: Ticket ID | Severity | SLA Status | Evidence | Recommendation</a:t>
            </a:r>
          </a:p>
        </p:txBody>
      </p:sp>
      <p:sp>
        <p:nvSpPr>
          <p:cNvPr id="10" name="Rounded Rectangle 9"/>
          <p:cNvSpPr/>
          <p:nvPr/>
        </p:nvSpPr>
        <p:spPr>
          <a:xfrm>
            <a:off x="914400" y="5715000"/>
            <a:ext cx="960120" cy="384048"/>
          </a:xfrm>
          <a:prstGeom prst="round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5751576"/>
            <a:ext cx="960120" cy="292608"/>
          </a:xfrm>
          <a:prstGeom prst="rect">
            <a:avLst/>
          </a:prstGeom>
          <a:noFill/>
        </p:spPr>
        <p:txBody>
          <a:bodyPr wrap="square" anchor="t">
            <a:spAutoFit/>
          </a:bodyPr>
          <a:lstStyle/>
          <a:p>
            <a:pPr algn="ctr">
              <a:defRPr sz="1150" b="1">
                <a:solidFill>
                  <a:srgbClr val="FFFFFF"/>
                </a:solidFill>
                <a:latin typeface="Aptos"/>
              </a:defRPr>
            </a:pPr>
            <a:r>
              <a:t>ROLE</a:t>
            </a:r>
          </a:p>
        </p:txBody>
      </p:sp>
      <p:sp>
        <p:nvSpPr>
          <p:cNvPr id="12" name="Rounded Rectangle 11"/>
          <p:cNvSpPr/>
          <p:nvPr/>
        </p:nvSpPr>
        <p:spPr>
          <a:xfrm>
            <a:off x="2331720" y="5715000"/>
            <a:ext cx="114300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31720" y="5751576"/>
            <a:ext cx="1143000" cy="292608"/>
          </a:xfrm>
          <a:prstGeom prst="rect">
            <a:avLst/>
          </a:prstGeom>
          <a:noFill/>
        </p:spPr>
        <p:txBody>
          <a:bodyPr wrap="square" anchor="t">
            <a:spAutoFit/>
          </a:bodyPr>
          <a:lstStyle/>
          <a:p>
            <a:pPr algn="ctr">
              <a:defRPr sz="1150" b="1">
                <a:solidFill>
                  <a:srgbClr val="FFFFFF"/>
                </a:solidFill>
                <a:latin typeface="Aptos"/>
              </a:defRPr>
            </a:pPr>
            <a:r>
              <a:t>CONTEXT</a:t>
            </a:r>
          </a:p>
        </p:txBody>
      </p:sp>
      <p:sp>
        <p:nvSpPr>
          <p:cNvPr id="14" name="Rounded Rectangle 13"/>
          <p:cNvSpPr/>
          <p:nvPr/>
        </p:nvSpPr>
        <p:spPr>
          <a:xfrm>
            <a:off x="3749039" y="5715000"/>
            <a:ext cx="914400" cy="384048"/>
          </a:xfrm>
          <a:prstGeom prst="round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39" y="5751576"/>
            <a:ext cx="914400" cy="292608"/>
          </a:xfrm>
          <a:prstGeom prst="rect">
            <a:avLst/>
          </a:prstGeom>
          <a:noFill/>
        </p:spPr>
        <p:txBody>
          <a:bodyPr wrap="square" anchor="t">
            <a:spAutoFit/>
          </a:bodyPr>
          <a:lstStyle/>
          <a:p>
            <a:pPr algn="ctr">
              <a:defRPr sz="1150" b="1">
                <a:solidFill>
                  <a:srgbClr val="FFFFFF"/>
                </a:solidFill>
                <a:latin typeface="Aptos"/>
              </a:defRPr>
            </a:pPr>
            <a:r>
              <a:t>TASK</a:t>
            </a:r>
          </a:p>
        </p:txBody>
      </p:sp>
      <p:sp>
        <p:nvSpPr>
          <p:cNvPr id="16" name="Rounded Rectangle 15"/>
          <p:cNvSpPr/>
          <p:nvPr/>
        </p:nvSpPr>
        <p:spPr>
          <a:xfrm>
            <a:off x="5166360" y="5715000"/>
            <a:ext cx="1325880" cy="384048"/>
          </a:xfrm>
          <a:prstGeom prst="round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66360" y="5751576"/>
            <a:ext cx="1325880" cy="292608"/>
          </a:xfrm>
          <a:prstGeom prst="rect">
            <a:avLst/>
          </a:prstGeom>
          <a:noFill/>
        </p:spPr>
        <p:txBody>
          <a:bodyPr wrap="square" anchor="t">
            <a:spAutoFit/>
          </a:bodyPr>
          <a:lstStyle/>
          <a:p>
            <a:pPr algn="ctr">
              <a:defRPr sz="1150" b="1">
                <a:solidFill>
                  <a:srgbClr val="FFFFFF"/>
                </a:solidFill>
                <a:latin typeface="Aptos"/>
              </a:defRPr>
            </a:pPr>
            <a:r>
              <a:t>CONSTRAINTS</a:t>
            </a:r>
          </a:p>
        </p:txBody>
      </p:sp>
      <p:sp>
        <p:nvSpPr>
          <p:cNvPr id="18" name="Rounded Rectangle 17"/>
          <p:cNvSpPr/>
          <p:nvPr/>
        </p:nvSpPr>
        <p:spPr>
          <a:xfrm>
            <a:off x="6583680" y="5715000"/>
            <a:ext cx="1097280" cy="384048"/>
          </a:xfrm>
          <a:prstGeom prst="roundRect">
            <a:avLst/>
          </a:prstGeom>
          <a:solidFill>
            <a:srgbClr val="49B4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0" y="5751576"/>
            <a:ext cx="1097280" cy="292608"/>
          </a:xfrm>
          <a:prstGeom prst="rect">
            <a:avLst/>
          </a:prstGeom>
          <a:noFill/>
        </p:spPr>
        <p:txBody>
          <a:bodyPr wrap="square" anchor="t">
            <a:spAutoFit/>
          </a:bodyPr>
          <a:lstStyle/>
          <a:p>
            <a:pPr algn="ctr">
              <a:defRPr sz="1150" b="1">
                <a:solidFill>
                  <a:srgbClr val="FFFFFF"/>
                </a:solidFill>
                <a:latin typeface="Aptos"/>
              </a:defRPr>
            </a:pPr>
            <a:r>
              <a:t>OUTPUT</a:t>
            </a:r>
          </a:p>
        </p:txBody>
      </p:sp>
      <p:sp>
        <p:nvSpPr>
          <p:cNvPr id="20" name="Rounded Rectangle 19"/>
          <p:cNvSpPr/>
          <p:nvPr/>
        </p:nvSpPr>
        <p:spPr>
          <a:xfrm>
            <a:off x="8001000" y="5715000"/>
            <a:ext cx="1280160" cy="384048"/>
          </a:xfrm>
          <a:prstGeom prst="roundRect">
            <a:avLst/>
          </a:prstGeom>
          <a:solidFill>
            <a:srgbClr val="11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01000" y="5751576"/>
            <a:ext cx="1280160" cy="292608"/>
          </a:xfrm>
          <a:prstGeom prst="rect">
            <a:avLst/>
          </a:prstGeom>
          <a:noFill/>
        </p:spPr>
        <p:txBody>
          <a:bodyPr wrap="square" anchor="t">
            <a:spAutoFit/>
          </a:bodyPr>
          <a:lstStyle/>
          <a:p>
            <a:pPr algn="ctr">
              <a:defRPr sz="1150" b="1">
                <a:solidFill>
                  <a:srgbClr val="FFFFFF"/>
                </a:solidFill>
                <a:latin typeface="Aptos"/>
              </a:defRPr>
            </a:pPr>
            <a:r>
              <a:t>VALIDATION</a:t>
            </a:r>
          </a:p>
        </p:txBody>
      </p:sp>
      <p:sp>
        <p:nvSpPr>
          <p:cNvPr id="22" name="Rectangle 21"/>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24" name="Slide Number Placeholder 23">
            <a:extLst>
              <a:ext uri="{FF2B5EF4-FFF2-40B4-BE49-F238E27FC236}">
                <a16:creationId xmlns:a16="http://schemas.microsoft.com/office/drawing/2014/main" id="{F149F75E-D809-D758-22FA-0E0206C29540}"/>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4688E-4D8D-DBA3-E333-0DA3A33FA14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B6B62D-7654-1AD6-7207-E8BFBBB1B7FC}"/>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09D29BD8-DA28-642E-61D6-865A8CC66FC9}"/>
              </a:ext>
            </a:extLst>
          </p:cNvPr>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E540AAF-59F0-B616-4D12-86CADD305952}"/>
              </a:ext>
            </a:extLst>
          </p:cNvPr>
          <p:cNvSpPr txBox="1"/>
          <p:nvPr/>
        </p:nvSpPr>
        <p:spPr>
          <a:xfrm>
            <a:off x="594360" y="384048"/>
            <a:ext cx="10972800" cy="523220"/>
          </a:xfrm>
          <a:prstGeom prst="rect">
            <a:avLst/>
          </a:prstGeom>
          <a:noFill/>
        </p:spPr>
        <p:txBody>
          <a:bodyPr wrap="square" anchor="t">
            <a:spAutoFit/>
          </a:bodyPr>
          <a:lstStyle/>
          <a:p>
            <a:pPr algn="l">
              <a:defRPr sz="2800" b="1">
                <a:solidFill>
                  <a:srgbClr val="111F35"/>
                </a:solidFill>
                <a:latin typeface="Aptos"/>
              </a:defRPr>
            </a:pPr>
            <a:r>
              <a:rPr lang="en-US" dirty="0"/>
              <a:t>Track Specific Prompt Demos</a:t>
            </a:r>
            <a:endParaRPr dirty="0"/>
          </a:p>
        </p:txBody>
      </p:sp>
      <p:sp>
        <p:nvSpPr>
          <p:cNvPr id="5" name="TextBox 4">
            <a:extLst>
              <a:ext uri="{FF2B5EF4-FFF2-40B4-BE49-F238E27FC236}">
                <a16:creationId xmlns:a16="http://schemas.microsoft.com/office/drawing/2014/main" id="{53AE93DD-C693-C5AD-552F-CD8E3F2AE224}"/>
              </a:ext>
            </a:extLst>
          </p:cNvPr>
          <p:cNvSpPr txBox="1"/>
          <p:nvPr/>
        </p:nvSpPr>
        <p:spPr>
          <a:xfrm>
            <a:off x="621792" y="960120"/>
            <a:ext cx="10789920" cy="284693"/>
          </a:xfrm>
          <a:prstGeom prst="rect">
            <a:avLst/>
          </a:prstGeom>
          <a:noFill/>
        </p:spPr>
        <p:txBody>
          <a:bodyPr wrap="square" anchor="t">
            <a:spAutoFit/>
          </a:bodyPr>
          <a:lstStyle/>
          <a:p>
            <a:pPr algn="l">
              <a:defRPr sz="1250" b="0">
                <a:solidFill>
                  <a:srgbClr val="647180"/>
                </a:solidFill>
                <a:latin typeface="Aptos"/>
              </a:defRPr>
            </a:pPr>
            <a:r>
              <a:rPr lang="en-US" dirty="0"/>
              <a:t>Data &amp; Enterprise Ops</a:t>
            </a:r>
            <a:endParaRPr dirty="0"/>
          </a:p>
        </p:txBody>
      </p:sp>
      <p:sp>
        <p:nvSpPr>
          <p:cNvPr id="6" name="Rounded Rectangle 5">
            <a:extLst>
              <a:ext uri="{FF2B5EF4-FFF2-40B4-BE49-F238E27FC236}">
                <a16:creationId xmlns:a16="http://schemas.microsoft.com/office/drawing/2014/main" id="{8193CE16-D6C3-7BBA-2C0A-B2037C5A0A04}"/>
              </a:ext>
            </a:extLst>
          </p:cNvPr>
          <p:cNvSpPr/>
          <p:nvPr/>
        </p:nvSpPr>
        <p:spPr>
          <a:xfrm>
            <a:off x="822960" y="1417320"/>
            <a:ext cx="10561320" cy="41605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F36DCDD7-2006-57DC-EED0-A9369A575CD6}"/>
              </a:ext>
            </a:extLst>
          </p:cNvPr>
          <p:cNvSpPr/>
          <p:nvPr/>
        </p:nvSpPr>
        <p:spPr>
          <a:xfrm>
            <a:off x="822960" y="1417320"/>
            <a:ext cx="73152" cy="416052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4730436-CCF4-7794-CB39-01BE5FBDF9F2}"/>
              </a:ext>
            </a:extLst>
          </p:cNvPr>
          <p:cNvSpPr txBox="1"/>
          <p:nvPr/>
        </p:nvSpPr>
        <p:spPr>
          <a:xfrm>
            <a:off x="1024128" y="1581912"/>
            <a:ext cx="10213848" cy="384048"/>
          </a:xfrm>
          <a:prstGeom prst="rect">
            <a:avLst/>
          </a:prstGeom>
          <a:noFill/>
        </p:spPr>
        <p:txBody>
          <a:bodyPr wrap="square" anchor="t">
            <a:spAutoFit/>
          </a:bodyPr>
          <a:lstStyle/>
          <a:p>
            <a:pPr algn="l">
              <a:defRPr sz="1800" b="1">
                <a:solidFill>
                  <a:srgbClr val="111F35"/>
                </a:solidFill>
                <a:latin typeface="Aptos"/>
              </a:defRPr>
            </a:pPr>
            <a:r>
              <a:rPr lang="en-US" dirty="0"/>
              <a:t>DATA TRACK </a:t>
            </a:r>
            <a:r>
              <a:rPr dirty="0"/>
              <a:t>PROMPT</a:t>
            </a:r>
          </a:p>
        </p:txBody>
      </p:sp>
      <p:sp>
        <p:nvSpPr>
          <p:cNvPr id="9" name="TextBox 8">
            <a:extLst>
              <a:ext uri="{FF2B5EF4-FFF2-40B4-BE49-F238E27FC236}">
                <a16:creationId xmlns:a16="http://schemas.microsoft.com/office/drawing/2014/main" id="{906E9AF7-37AF-425F-5676-55578329D267}"/>
              </a:ext>
            </a:extLst>
          </p:cNvPr>
          <p:cNvSpPr txBox="1"/>
          <p:nvPr/>
        </p:nvSpPr>
        <p:spPr>
          <a:xfrm>
            <a:off x="1024128" y="2039112"/>
            <a:ext cx="10213848" cy="830997"/>
          </a:xfrm>
          <a:prstGeom prst="rect">
            <a:avLst/>
          </a:prstGeom>
          <a:noFill/>
        </p:spPr>
        <p:txBody>
          <a:bodyPr wrap="square" anchor="t">
            <a:spAutoFit/>
          </a:bodyPr>
          <a:lstStyle/>
          <a:p>
            <a:pPr>
              <a:defRPr sz="1600" b="0">
                <a:solidFill>
                  <a:srgbClr val="25313F"/>
                </a:solidFill>
                <a:latin typeface="Aptos"/>
              </a:defRPr>
            </a:pPr>
            <a:r>
              <a:rPr lang="en-US" dirty="0"/>
              <a:t>Review the operations ticket data from a data-analysis perspective. Identify patterns that could indicate data-quality, reporting, integration or upstream-data issues. Separate genuine data signals from symptoms that may simply reflect application or infrastructure problems.</a:t>
            </a:r>
            <a:endParaRPr dirty="0"/>
          </a:p>
        </p:txBody>
      </p:sp>
      <p:sp>
        <p:nvSpPr>
          <p:cNvPr id="10" name="Rounded Rectangle 9">
            <a:extLst>
              <a:ext uri="{FF2B5EF4-FFF2-40B4-BE49-F238E27FC236}">
                <a16:creationId xmlns:a16="http://schemas.microsoft.com/office/drawing/2014/main" id="{6733908F-9665-44BD-599B-A66AA52E0C6C}"/>
              </a:ext>
            </a:extLst>
          </p:cNvPr>
          <p:cNvSpPr/>
          <p:nvPr/>
        </p:nvSpPr>
        <p:spPr>
          <a:xfrm>
            <a:off x="914400" y="5715000"/>
            <a:ext cx="960120" cy="384048"/>
          </a:xfrm>
          <a:prstGeom prst="round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98DDE3E-6CFB-3DFD-AE9D-4CD6A95C5A09}"/>
              </a:ext>
            </a:extLst>
          </p:cNvPr>
          <p:cNvSpPr txBox="1"/>
          <p:nvPr/>
        </p:nvSpPr>
        <p:spPr>
          <a:xfrm>
            <a:off x="914400" y="5751576"/>
            <a:ext cx="960120" cy="292608"/>
          </a:xfrm>
          <a:prstGeom prst="rect">
            <a:avLst/>
          </a:prstGeom>
          <a:noFill/>
        </p:spPr>
        <p:txBody>
          <a:bodyPr wrap="square" anchor="t">
            <a:spAutoFit/>
          </a:bodyPr>
          <a:lstStyle/>
          <a:p>
            <a:pPr algn="ctr">
              <a:defRPr sz="1150" b="1">
                <a:solidFill>
                  <a:srgbClr val="FFFFFF"/>
                </a:solidFill>
                <a:latin typeface="Aptos"/>
              </a:defRPr>
            </a:pPr>
            <a:r>
              <a:t>ROLE</a:t>
            </a:r>
          </a:p>
        </p:txBody>
      </p:sp>
      <p:sp>
        <p:nvSpPr>
          <p:cNvPr id="12" name="Rounded Rectangle 11">
            <a:extLst>
              <a:ext uri="{FF2B5EF4-FFF2-40B4-BE49-F238E27FC236}">
                <a16:creationId xmlns:a16="http://schemas.microsoft.com/office/drawing/2014/main" id="{5671B646-5AC0-C240-CD0E-1C2BB7239389}"/>
              </a:ext>
            </a:extLst>
          </p:cNvPr>
          <p:cNvSpPr/>
          <p:nvPr/>
        </p:nvSpPr>
        <p:spPr>
          <a:xfrm>
            <a:off x="2331720" y="5715000"/>
            <a:ext cx="114300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86EE76CC-BE92-F3D3-C358-FE120BA32EBE}"/>
              </a:ext>
            </a:extLst>
          </p:cNvPr>
          <p:cNvSpPr txBox="1"/>
          <p:nvPr/>
        </p:nvSpPr>
        <p:spPr>
          <a:xfrm>
            <a:off x="2331720" y="5751576"/>
            <a:ext cx="1143000" cy="292608"/>
          </a:xfrm>
          <a:prstGeom prst="rect">
            <a:avLst/>
          </a:prstGeom>
          <a:noFill/>
        </p:spPr>
        <p:txBody>
          <a:bodyPr wrap="square" anchor="t">
            <a:spAutoFit/>
          </a:bodyPr>
          <a:lstStyle/>
          <a:p>
            <a:pPr algn="ctr">
              <a:defRPr sz="1150" b="1">
                <a:solidFill>
                  <a:srgbClr val="FFFFFF"/>
                </a:solidFill>
                <a:latin typeface="Aptos"/>
              </a:defRPr>
            </a:pPr>
            <a:r>
              <a:t>CONTEXT</a:t>
            </a:r>
          </a:p>
        </p:txBody>
      </p:sp>
      <p:sp>
        <p:nvSpPr>
          <p:cNvPr id="14" name="Rounded Rectangle 13">
            <a:extLst>
              <a:ext uri="{FF2B5EF4-FFF2-40B4-BE49-F238E27FC236}">
                <a16:creationId xmlns:a16="http://schemas.microsoft.com/office/drawing/2014/main" id="{9BE6F0C7-17B2-68D1-8071-AD6CD53E08DC}"/>
              </a:ext>
            </a:extLst>
          </p:cNvPr>
          <p:cNvSpPr/>
          <p:nvPr/>
        </p:nvSpPr>
        <p:spPr>
          <a:xfrm>
            <a:off x="3749039" y="5715000"/>
            <a:ext cx="914400" cy="384048"/>
          </a:xfrm>
          <a:prstGeom prst="round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90E2EBC-D0E9-2AAF-F1D2-2C9AA70A0710}"/>
              </a:ext>
            </a:extLst>
          </p:cNvPr>
          <p:cNvSpPr txBox="1"/>
          <p:nvPr/>
        </p:nvSpPr>
        <p:spPr>
          <a:xfrm>
            <a:off x="3749039" y="5751576"/>
            <a:ext cx="914400" cy="292608"/>
          </a:xfrm>
          <a:prstGeom prst="rect">
            <a:avLst/>
          </a:prstGeom>
          <a:noFill/>
        </p:spPr>
        <p:txBody>
          <a:bodyPr wrap="square" anchor="t">
            <a:spAutoFit/>
          </a:bodyPr>
          <a:lstStyle/>
          <a:p>
            <a:pPr algn="ctr">
              <a:defRPr sz="1150" b="1">
                <a:solidFill>
                  <a:srgbClr val="FFFFFF"/>
                </a:solidFill>
                <a:latin typeface="Aptos"/>
              </a:defRPr>
            </a:pPr>
            <a:r>
              <a:t>TASK</a:t>
            </a:r>
          </a:p>
        </p:txBody>
      </p:sp>
      <p:sp>
        <p:nvSpPr>
          <p:cNvPr id="16" name="Rounded Rectangle 15">
            <a:extLst>
              <a:ext uri="{FF2B5EF4-FFF2-40B4-BE49-F238E27FC236}">
                <a16:creationId xmlns:a16="http://schemas.microsoft.com/office/drawing/2014/main" id="{CCED7E18-6830-393A-3579-F436BBBA270C}"/>
              </a:ext>
            </a:extLst>
          </p:cNvPr>
          <p:cNvSpPr/>
          <p:nvPr/>
        </p:nvSpPr>
        <p:spPr>
          <a:xfrm>
            <a:off x="5166360" y="5715000"/>
            <a:ext cx="1325880" cy="384048"/>
          </a:xfrm>
          <a:prstGeom prst="round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FB3DD439-CC09-0881-336E-0C2BED909903}"/>
              </a:ext>
            </a:extLst>
          </p:cNvPr>
          <p:cNvSpPr txBox="1"/>
          <p:nvPr/>
        </p:nvSpPr>
        <p:spPr>
          <a:xfrm>
            <a:off x="5166360" y="5751576"/>
            <a:ext cx="1325880" cy="292608"/>
          </a:xfrm>
          <a:prstGeom prst="rect">
            <a:avLst/>
          </a:prstGeom>
          <a:noFill/>
        </p:spPr>
        <p:txBody>
          <a:bodyPr wrap="square" anchor="t">
            <a:spAutoFit/>
          </a:bodyPr>
          <a:lstStyle/>
          <a:p>
            <a:pPr algn="ctr">
              <a:defRPr sz="1150" b="1">
                <a:solidFill>
                  <a:srgbClr val="FFFFFF"/>
                </a:solidFill>
                <a:latin typeface="Aptos"/>
              </a:defRPr>
            </a:pPr>
            <a:r>
              <a:t>CONSTRAINTS</a:t>
            </a:r>
          </a:p>
        </p:txBody>
      </p:sp>
      <p:sp>
        <p:nvSpPr>
          <p:cNvPr id="18" name="Rounded Rectangle 17">
            <a:extLst>
              <a:ext uri="{FF2B5EF4-FFF2-40B4-BE49-F238E27FC236}">
                <a16:creationId xmlns:a16="http://schemas.microsoft.com/office/drawing/2014/main" id="{18A7DE60-235D-395F-4478-F6AF1995EA3E}"/>
              </a:ext>
            </a:extLst>
          </p:cNvPr>
          <p:cNvSpPr/>
          <p:nvPr/>
        </p:nvSpPr>
        <p:spPr>
          <a:xfrm>
            <a:off x="6583680" y="5715000"/>
            <a:ext cx="1097280" cy="384048"/>
          </a:xfrm>
          <a:prstGeom prst="roundRect">
            <a:avLst/>
          </a:prstGeom>
          <a:solidFill>
            <a:srgbClr val="49B4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8A0A705C-6192-FAB8-41B7-8E5EBFF94DCB}"/>
              </a:ext>
            </a:extLst>
          </p:cNvPr>
          <p:cNvSpPr txBox="1"/>
          <p:nvPr/>
        </p:nvSpPr>
        <p:spPr>
          <a:xfrm>
            <a:off x="6583680" y="5751576"/>
            <a:ext cx="1097280" cy="292608"/>
          </a:xfrm>
          <a:prstGeom prst="rect">
            <a:avLst/>
          </a:prstGeom>
          <a:noFill/>
        </p:spPr>
        <p:txBody>
          <a:bodyPr wrap="square" anchor="t">
            <a:spAutoFit/>
          </a:bodyPr>
          <a:lstStyle/>
          <a:p>
            <a:pPr algn="ctr">
              <a:defRPr sz="1150" b="1">
                <a:solidFill>
                  <a:srgbClr val="FFFFFF"/>
                </a:solidFill>
                <a:latin typeface="Aptos"/>
              </a:defRPr>
            </a:pPr>
            <a:r>
              <a:t>OUTPUT</a:t>
            </a:r>
          </a:p>
        </p:txBody>
      </p:sp>
      <p:sp>
        <p:nvSpPr>
          <p:cNvPr id="20" name="Rounded Rectangle 19">
            <a:extLst>
              <a:ext uri="{FF2B5EF4-FFF2-40B4-BE49-F238E27FC236}">
                <a16:creationId xmlns:a16="http://schemas.microsoft.com/office/drawing/2014/main" id="{38178107-51ED-3089-5D5C-E1EC41F3B338}"/>
              </a:ext>
            </a:extLst>
          </p:cNvPr>
          <p:cNvSpPr/>
          <p:nvPr/>
        </p:nvSpPr>
        <p:spPr>
          <a:xfrm>
            <a:off x="8001000" y="5715000"/>
            <a:ext cx="1280160" cy="384048"/>
          </a:xfrm>
          <a:prstGeom prst="roundRect">
            <a:avLst/>
          </a:prstGeom>
          <a:solidFill>
            <a:srgbClr val="11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FE032677-B6C2-0BFD-DEE1-24F183E43B46}"/>
              </a:ext>
            </a:extLst>
          </p:cNvPr>
          <p:cNvSpPr txBox="1"/>
          <p:nvPr/>
        </p:nvSpPr>
        <p:spPr>
          <a:xfrm>
            <a:off x="8001000" y="5751576"/>
            <a:ext cx="1280160" cy="292608"/>
          </a:xfrm>
          <a:prstGeom prst="rect">
            <a:avLst/>
          </a:prstGeom>
          <a:noFill/>
        </p:spPr>
        <p:txBody>
          <a:bodyPr wrap="square" anchor="t">
            <a:spAutoFit/>
          </a:bodyPr>
          <a:lstStyle/>
          <a:p>
            <a:pPr algn="ctr">
              <a:defRPr sz="1150" b="1">
                <a:solidFill>
                  <a:srgbClr val="FFFFFF"/>
                </a:solidFill>
                <a:latin typeface="Aptos"/>
              </a:defRPr>
            </a:pPr>
            <a:r>
              <a:t>VALIDATION</a:t>
            </a:r>
          </a:p>
        </p:txBody>
      </p:sp>
      <p:sp>
        <p:nvSpPr>
          <p:cNvPr id="22" name="Rectangle 21">
            <a:extLst>
              <a:ext uri="{FF2B5EF4-FFF2-40B4-BE49-F238E27FC236}">
                <a16:creationId xmlns:a16="http://schemas.microsoft.com/office/drawing/2014/main" id="{DC75FD2E-DA23-52E9-7F7F-5137A35D26BA}"/>
              </a:ext>
            </a:extLst>
          </p:cNvPr>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6849117-3E56-4682-2445-5062144AE022}"/>
              </a:ext>
            </a:extLst>
          </p:cNvPr>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24" name="Slide Number Placeholder 23">
            <a:extLst>
              <a:ext uri="{FF2B5EF4-FFF2-40B4-BE49-F238E27FC236}">
                <a16:creationId xmlns:a16="http://schemas.microsoft.com/office/drawing/2014/main" id="{77961C13-9F75-EB1D-0B2D-DA7F3281E51A}"/>
              </a:ext>
            </a:extLst>
          </p:cNvPr>
          <p:cNvSpPr>
            <a:spLocks noGrp="1"/>
          </p:cNvSpPr>
          <p:nvPr>
            <p:ph type="sldNum" sz="quarter" idx="12"/>
          </p:nvPr>
        </p:nvSpPr>
        <p:spPr/>
        <p:txBody>
          <a:bodyPr/>
          <a:lstStyle/>
          <a:p>
            <a:fld id="{C1FF6DA9-008F-8B48-92A6-B652298478BF}" type="slidenum">
              <a:rPr lang="en-US" smtClean="0"/>
              <a:t>18</a:t>
            </a:fld>
            <a:endParaRPr lang="en-US"/>
          </a:p>
        </p:txBody>
      </p:sp>
      <p:sp>
        <p:nvSpPr>
          <p:cNvPr id="26" name="TextBox 25">
            <a:extLst>
              <a:ext uri="{FF2B5EF4-FFF2-40B4-BE49-F238E27FC236}">
                <a16:creationId xmlns:a16="http://schemas.microsoft.com/office/drawing/2014/main" id="{8646B0CF-CD99-11A8-32B1-717B9047EA08}"/>
              </a:ext>
            </a:extLst>
          </p:cNvPr>
          <p:cNvSpPr txBox="1"/>
          <p:nvPr/>
        </p:nvSpPr>
        <p:spPr>
          <a:xfrm>
            <a:off x="1033272" y="3021402"/>
            <a:ext cx="10213848" cy="384048"/>
          </a:xfrm>
          <a:prstGeom prst="rect">
            <a:avLst/>
          </a:prstGeom>
          <a:noFill/>
        </p:spPr>
        <p:txBody>
          <a:bodyPr wrap="square" anchor="t">
            <a:spAutoFit/>
          </a:bodyPr>
          <a:lstStyle/>
          <a:p>
            <a:pPr algn="l">
              <a:defRPr sz="1800" b="1">
                <a:solidFill>
                  <a:srgbClr val="111F35"/>
                </a:solidFill>
                <a:latin typeface="Aptos"/>
              </a:defRPr>
            </a:pPr>
            <a:r>
              <a:rPr lang="en-US" dirty="0"/>
              <a:t>ENTERPRISE OPS TRACK </a:t>
            </a:r>
            <a:r>
              <a:rPr dirty="0"/>
              <a:t>PROMPT</a:t>
            </a:r>
          </a:p>
        </p:txBody>
      </p:sp>
      <p:sp>
        <p:nvSpPr>
          <p:cNvPr id="28" name="TextBox 27">
            <a:extLst>
              <a:ext uri="{FF2B5EF4-FFF2-40B4-BE49-F238E27FC236}">
                <a16:creationId xmlns:a16="http://schemas.microsoft.com/office/drawing/2014/main" id="{78FED419-EA6A-C851-670C-15AFF5426C25}"/>
              </a:ext>
            </a:extLst>
          </p:cNvPr>
          <p:cNvSpPr txBox="1"/>
          <p:nvPr/>
        </p:nvSpPr>
        <p:spPr>
          <a:xfrm>
            <a:off x="1033272" y="3478602"/>
            <a:ext cx="10213848" cy="830997"/>
          </a:xfrm>
          <a:prstGeom prst="rect">
            <a:avLst/>
          </a:prstGeom>
          <a:noFill/>
        </p:spPr>
        <p:txBody>
          <a:bodyPr wrap="square" anchor="t">
            <a:spAutoFit/>
          </a:bodyPr>
          <a:lstStyle/>
          <a:p>
            <a:pPr>
              <a:defRPr sz="1600" b="0">
                <a:solidFill>
                  <a:srgbClr val="25313F"/>
                </a:solidFill>
                <a:latin typeface="Aptos"/>
              </a:defRPr>
            </a:pPr>
            <a:r>
              <a:rPr lang="en-US" dirty="0"/>
              <a:t>Review the operations tickets from an operations-management perspective. Identify tickets that require escalation based on severity, customer criticality, SLA exposure and affected transactions. Return Ticket ID, reason, urgency and recommended next action. Use only evidence from the dataset and SLA policy.</a:t>
            </a:r>
            <a:endParaRPr dirty="0"/>
          </a:p>
        </p:txBody>
      </p:sp>
    </p:spTree>
    <p:extLst>
      <p:ext uri="{BB962C8B-B14F-4D97-AF65-F5344CB8AC3E}">
        <p14:creationId xmlns:p14="http://schemas.microsoft.com/office/powerpoint/2010/main" val="2977683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Prompt Quality Test</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Before you press Enter</a:t>
            </a:r>
          </a:p>
        </p:txBody>
      </p:sp>
      <p:sp>
        <p:nvSpPr>
          <p:cNvPr id="6" name="Rounded Rectangle 5"/>
          <p:cNvSpPr/>
          <p:nvPr/>
        </p:nvSpPr>
        <p:spPr>
          <a:xfrm>
            <a:off x="868680" y="1417320"/>
            <a:ext cx="50292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53896"/>
            <a:ext cx="502920" cy="292608"/>
          </a:xfrm>
          <a:prstGeom prst="rect">
            <a:avLst/>
          </a:prstGeom>
          <a:noFill/>
        </p:spPr>
        <p:txBody>
          <a:bodyPr wrap="square" anchor="t">
            <a:spAutoFit/>
          </a:bodyPr>
          <a:lstStyle/>
          <a:p>
            <a:pPr algn="ctr">
              <a:defRPr sz="1150" b="1">
                <a:solidFill>
                  <a:srgbClr val="FFFFFF"/>
                </a:solidFill>
                <a:latin typeface="Aptos"/>
              </a:defRPr>
            </a:pPr>
            <a:r>
              <a:t>1</a:t>
            </a:r>
          </a:p>
        </p:txBody>
      </p:sp>
      <p:sp>
        <p:nvSpPr>
          <p:cNvPr id="8" name="TextBox 7"/>
          <p:cNvSpPr txBox="1"/>
          <p:nvPr/>
        </p:nvSpPr>
        <p:spPr>
          <a:xfrm>
            <a:off x="1581912" y="1435608"/>
            <a:ext cx="4572000" cy="457200"/>
          </a:xfrm>
          <a:prstGeom prst="rect">
            <a:avLst/>
          </a:prstGeom>
          <a:noFill/>
        </p:spPr>
        <p:txBody>
          <a:bodyPr wrap="square" anchor="t">
            <a:spAutoFit/>
          </a:bodyPr>
          <a:lstStyle/>
          <a:p>
            <a:pPr algn="l">
              <a:defRPr sz="1900" b="1">
                <a:solidFill>
                  <a:srgbClr val="111F35"/>
                </a:solidFill>
                <a:latin typeface="Aptos"/>
              </a:defRPr>
            </a:pPr>
            <a:r>
              <a:t>Is the task unambiguous?</a:t>
            </a:r>
          </a:p>
        </p:txBody>
      </p:sp>
      <p:sp>
        <p:nvSpPr>
          <p:cNvPr id="9" name="Rounded Rectangle 8"/>
          <p:cNvSpPr/>
          <p:nvPr/>
        </p:nvSpPr>
        <p:spPr>
          <a:xfrm>
            <a:off x="6400800" y="1417320"/>
            <a:ext cx="50292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53896"/>
            <a:ext cx="502920" cy="292608"/>
          </a:xfrm>
          <a:prstGeom prst="rect">
            <a:avLst/>
          </a:prstGeom>
          <a:noFill/>
        </p:spPr>
        <p:txBody>
          <a:bodyPr wrap="square" anchor="t">
            <a:spAutoFit/>
          </a:bodyPr>
          <a:lstStyle/>
          <a:p>
            <a:pPr algn="ctr">
              <a:defRPr sz="1150" b="1">
                <a:solidFill>
                  <a:srgbClr val="FFFFFF"/>
                </a:solidFill>
                <a:latin typeface="Aptos"/>
              </a:defRPr>
            </a:pPr>
            <a:r>
              <a:t>2</a:t>
            </a:r>
          </a:p>
        </p:txBody>
      </p:sp>
      <p:sp>
        <p:nvSpPr>
          <p:cNvPr id="11" name="TextBox 10"/>
          <p:cNvSpPr txBox="1"/>
          <p:nvPr/>
        </p:nvSpPr>
        <p:spPr>
          <a:xfrm>
            <a:off x="7114032" y="1435608"/>
            <a:ext cx="4572000" cy="457200"/>
          </a:xfrm>
          <a:prstGeom prst="rect">
            <a:avLst/>
          </a:prstGeom>
          <a:noFill/>
        </p:spPr>
        <p:txBody>
          <a:bodyPr wrap="square" anchor="t">
            <a:spAutoFit/>
          </a:bodyPr>
          <a:lstStyle/>
          <a:p>
            <a:pPr algn="l">
              <a:defRPr sz="1900" b="1">
                <a:solidFill>
                  <a:srgbClr val="111F35"/>
                </a:solidFill>
                <a:latin typeface="Aptos"/>
              </a:defRPr>
            </a:pPr>
            <a:r>
              <a:t>Does AI have enough context?</a:t>
            </a:r>
          </a:p>
        </p:txBody>
      </p:sp>
      <p:sp>
        <p:nvSpPr>
          <p:cNvPr id="12" name="Rounded Rectangle 11"/>
          <p:cNvSpPr/>
          <p:nvPr/>
        </p:nvSpPr>
        <p:spPr>
          <a:xfrm>
            <a:off x="868680" y="2834640"/>
            <a:ext cx="50292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2871216"/>
            <a:ext cx="502920" cy="292608"/>
          </a:xfrm>
          <a:prstGeom prst="rect">
            <a:avLst/>
          </a:prstGeom>
          <a:noFill/>
        </p:spPr>
        <p:txBody>
          <a:bodyPr wrap="square" anchor="t">
            <a:spAutoFit/>
          </a:bodyPr>
          <a:lstStyle/>
          <a:p>
            <a:pPr algn="ctr">
              <a:defRPr sz="1150" b="1">
                <a:solidFill>
                  <a:srgbClr val="FFFFFF"/>
                </a:solidFill>
                <a:latin typeface="Aptos"/>
              </a:defRPr>
            </a:pPr>
            <a:r>
              <a:t>3</a:t>
            </a:r>
          </a:p>
        </p:txBody>
      </p:sp>
      <p:sp>
        <p:nvSpPr>
          <p:cNvPr id="14" name="TextBox 13"/>
          <p:cNvSpPr txBox="1"/>
          <p:nvPr/>
        </p:nvSpPr>
        <p:spPr>
          <a:xfrm>
            <a:off x="1581912" y="2852928"/>
            <a:ext cx="4572000" cy="457200"/>
          </a:xfrm>
          <a:prstGeom prst="rect">
            <a:avLst/>
          </a:prstGeom>
          <a:noFill/>
        </p:spPr>
        <p:txBody>
          <a:bodyPr wrap="square" anchor="t">
            <a:spAutoFit/>
          </a:bodyPr>
          <a:lstStyle/>
          <a:p>
            <a:pPr algn="l">
              <a:defRPr sz="1900" b="1">
                <a:solidFill>
                  <a:srgbClr val="111F35"/>
                </a:solidFill>
                <a:latin typeface="Aptos"/>
              </a:defRPr>
            </a:pPr>
            <a:r>
              <a:t>Have I defined “good”?</a:t>
            </a:r>
          </a:p>
        </p:txBody>
      </p:sp>
      <p:sp>
        <p:nvSpPr>
          <p:cNvPr id="15" name="Rounded Rectangle 14"/>
          <p:cNvSpPr/>
          <p:nvPr/>
        </p:nvSpPr>
        <p:spPr>
          <a:xfrm>
            <a:off x="6400800" y="2834640"/>
            <a:ext cx="50292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2871216"/>
            <a:ext cx="502920" cy="292608"/>
          </a:xfrm>
          <a:prstGeom prst="rect">
            <a:avLst/>
          </a:prstGeom>
          <a:noFill/>
        </p:spPr>
        <p:txBody>
          <a:bodyPr wrap="square" anchor="t">
            <a:spAutoFit/>
          </a:bodyPr>
          <a:lstStyle/>
          <a:p>
            <a:pPr algn="ctr">
              <a:defRPr sz="1150" b="1">
                <a:solidFill>
                  <a:srgbClr val="FFFFFF"/>
                </a:solidFill>
                <a:latin typeface="Aptos"/>
              </a:defRPr>
            </a:pPr>
            <a:r>
              <a:t>4</a:t>
            </a:r>
          </a:p>
        </p:txBody>
      </p:sp>
      <p:sp>
        <p:nvSpPr>
          <p:cNvPr id="17" name="TextBox 16"/>
          <p:cNvSpPr txBox="1"/>
          <p:nvPr/>
        </p:nvSpPr>
        <p:spPr>
          <a:xfrm>
            <a:off x="7114032" y="2852928"/>
            <a:ext cx="4572000" cy="457200"/>
          </a:xfrm>
          <a:prstGeom prst="rect">
            <a:avLst/>
          </a:prstGeom>
          <a:noFill/>
        </p:spPr>
        <p:txBody>
          <a:bodyPr wrap="square" anchor="t">
            <a:spAutoFit/>
          </a:bodyPr>
          <a:lstStyle/>
          <a:p>
            <a:pPr algn="l">
              <a:defRPr sz="1900" b="1">
                <a:solidFill>
                  <a:srgbClr val="111F35"/>
                </a:solidFill>
                <a:latin typeface="Aptos"/>
              </a:defRPr>
            </a:pPr>
            <a:r>
              <a:t>Have I constrained assumptions?</a:t>
            </a:r>
          </a:p>
        </p:txBody>
      </p:sp>
      <p:sp>
        <p:nvSpPr>
          <p:cNvPr id="18" name="Rounded Rectangle 17"/>
          <p:cNvSpPr/>
          <p:nvPr/>
        </p:nvSpPr>
        <p:spPr>
          <a:xfrm>
            <a:off x="868680" y="4251960"/>
            <a:ext cx="50292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4288536"/>
            <a:ext cx="502920" cy="292608"/>
          </a:xfrm>
          <a:prstGeom prst="rect">
            <a:avLst/>
          </a:prstGeom>
          <a:noFill/>
        </p:spPr>
        <p:txBody>
          <a:bodyPr wrap="square" anchor="t">
            <a:spAutoFit/>
          </a:bodyPr>
          <a:lstStyle/>
          <a:p>
            <a:pPr algn="ctr">
              <a:defRPr sz="1150" b="1">
                <a:solidFill>
                  <a:srgbClr val="FFFFFF"/>
                </a:solidFill>
                <a:latin typeface="Aptos"/>
              </a:defRPr>
            </a:pPr>
            <a:r>
              <a:t>5</a:t>
            </a:r>
          </a:p>
        </p:txBody>
      </p:sp>
      <p:sp>
        <p:nvSpPr>
          <p:cNvPr id="20" name="TextBox 19"/>
          <p:cNvSpPr txBox="1"/>
          <p:nvPr/>
        </p:nvSpPr>
        <p:spPr>
          <a:xfrm>
            <a:off x="1581912" y="4270248"/>
            <a:ext cx="4572000" cy="457200"/>
          </a:xfrm>
          <a:prstGeom prst="rect">
            <a:avLst/>
          </a:prstGeom>
          <a:noFill/>
        </p:spPr>
        <p:txBody>
          <a:bodyPr wrap="square" anchor="t">
            <a:spAutoFit/>
          </a:bodyPr>
          <a:lstStyle/>
          <a:p>
            <a:pPr algn="l">
              <a:defRPr sz="1900" b="1">
                <a:solidFill>
                  <a:srgbClr val="111F35"/>
                </a:solidFill>
                <a:latin typeface="Aptos"/>
              </a:defRPr>
            </a:pPr>
            <a:r>
              <a:t>Is the output usable?</a:t>
            </a:r>
          </a:p>
        </p:txBody>
      </p:sp>
      <p:sp>
        <p:nvSpPr>
          <p:cNvPr id="21" name="Rounded Rectangle 20"/>
          <p:cNvSpPr/>
          <p:nvPr/>
        </p:nvSpPr>
        <p:spPr>
          <a:xfrm>
            <a:off x="6400800" y="4251960"/>
            <a:ext cx="50292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4288536"/>
            <a:ext cx="502920" cy="292608"/>
          </a:xfrm>
          <a:prstGeom prst="rect">
            <a:avLst/>
          </a:prstGeom>
          <a:noFill/>
        </p:spPr>
        <p:txBody>
          <a:bodyPr wrap="square" anchor="t">
            <a:spAutoFit/>
          </a:bodyPr>
          <a:lstStyle/>
          <a:p>
            <a:pPr algn="ctr">
              <a:defRPr sz="1150" b="1">
                <a:solidFill>
                  <a:srgbClr val="FFFFFF"/>
                </a:solidFill>
                <a:latin typeface="Aptos"/>
              </a:defRPr>
            </a:pPr>
            <a:r>
              <a:t>6</a:t>
            </a:r>
          </a:p>
        </p:txBody>
      </p:sp>
      <p:sp>
        <p:nvSpPr>
          <p:cNvPr id="23" name="TextBox 22"/>
          <p:cNvSpPr txBox="1"/>
          <p:nvPr/>
        </p:nvSpPr>
        <p:spPr>
          <a:xfrm>
            <a:off x="7114032" y="4270248"/>
            <a:ext cx="4572000" cy="457200"/>
          </a:xfrm>
          <a:prstGeom prst="rect">
            <a:avLst/>
          </a:prstGeom>
          <a:noFill/>
        </p:spPr>
        <p:txBody>
          <a:bodyPr wrap="square" anchor="t">
            <a:spAutoFit/>
          </a:bodyPr>
          <a:lstStyle/>
          <a:p>
            <a:pPr algn="l">
              <a:defRPr sz="1900" b="1">
                <a:solidFill>
                  <a:srgbClr val="111F35"/>
                </a:solidFill>
                <a:latin typeface="Aptos"/>
              </a:defRPr>
            </a:pPr>
            <a:r>
              <a:t>Can I validate the answer?</a:t>
            </a:r>
          </a:p>
        </p:txBody>
      </p:sp>
      <p:sp>
        <p:nvSpPr>
          <p:cNvPr id="24" name="TextBox 23"/>
          <p:cNvSpPr txBox="1"/>
          <p:nvPr/>
        </p:nvSpPr>
        <p:spPr>
          <a:xfrm>
            <a:off x="914400" y="5897880"/>
            <a:ext cx="10241280" cy="411480"/>
          </a:xfrm>
          <a:prstGeom prst="rect">
            <a:avLst/>
          </a:prstGeom>
          <a:noFill/>
        </p:spPr>
        <p:txBody>
          <a:bodyPr wrap="square" anchor="t">
            <a:spAutoFit/>
          </a:bodyPr>
          <a:lstStyle/>
          <a:p>
            <a:pPr algn="ctr">
              <a:defRPr sz="1800" b="1">
                <a:solidFill>
                  <a:srgbClr val="B94343"/>
                </a:solidFill>
                <a:latin typeface="Aptos"/>
              </a:defRPr>
            </a:pPr>
            <a:r>
              <a:t>If your prompt fails several checks, fix the prompt before blaming the model.</a:t>
            </a:r>
          </a:p>
        </p:txBody>
      </p:sp>
      <p:sp>
        <p:nvSpPr>
          <p:cNvPr id="25" name="Rectangle 24"/>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27" name="Slide Number Placeholder 26">
            <a:extLst>
              <a:ext uri="{FF2B5EF4-FFF2-40B4-BE49-F238E27FC236}">
                <a16:creationId xmlns:a16="http://schemas.microsoft.com/office/drawing/2014/main" id="{6CBDD209-6914-EB47-7090-F3D3419FD98D}"/>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Prompt Doctor Framework</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Use this checklist for every weak prompt.</a:t>
            </a:r>
          </a:p>
        </p:txBody>
      </p:sp>
      <p:sp>
        <p:nvSpPr>
          <p:cNvPr id="6" name="Rounded Rectangle 5"/>
          <p:cNvSpPr/>
          <p:nvPr/>
        </p:nvSpPr>
        <p:spPr>
          <a:xfrm>
            <a:off x="685800" y="1508760"/>
            <a:ext cx="2514600" cy="16002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508760"/>
            <a:ext cx="73152" cy="1600200"/>
          </a:xfrm>
          <a:prstGeom prst="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673351"/>
            <a:ext cx="2167128" cy="384048"/>
          </a:xfrm>
          <a:prstGeom prst="rect">
            <a:avLst/>
          </a:prstGeom>
          <a:noFill/>
        </p:spPr>
        <p:txBody>
          <a:bodyPr wrap="square" anchor="t">
            <a:spAutoFit/>
          </a:bodyPr>
          <a:lstStyle/>
          <a:p>
            <a:pPr algn="l">
              <a:defRPr sz="1500" b="1">
                <a:solidFill>
                  <a:srgbClr val="111F35"/>
                </a:solidFill>
                <a:latin typeface="Aptos"/>
              </a:defRPr>
            </a:pPr>
            <a:r>
              <a:t>ROLE</a:t>
            </a:r>
          </a:p>
        </p:txBody>
      </p:sp>
      <p:sp>
        <p:nvSpPr>
          <p:cNvPr id="9" name="TextBox 8"/>
          <p:cNvSpPr txBox="1"/>
          <p:nvPr/>
        </p:nvSpPr>
        <p:spPr>
          <a:xfrm>
            <a:off x="886968" y="2130552"/>
            <a:ext cx="2167128" cy="850392"/>
          </a:xfrm>
          <a:prstGeom prst="rect">
            <a:avLst/>
          </a:prstGeom>
          <a:noFill/>
        </p:spPr>
        <p:txBody>
          <a:bodyPr wrap="square" anchor="t">
            <a:spAutoFit/>
          </a:bodyPr>
          <a:lstStyle/>
          <a:p>
            <a:pPr algn="l">
              <a:defRPr sz="1250" b="0">
                <a:solidFill>
                  <a:srgbClr val="25313F"/>
                </a:solidFill>
                <a:latin typeface="Aptos"/>
              </a:defRPr>
            </a:pPr>
            <a:r>
              <a:t>Who should AI be?</a:t>
            </a:r>
          </a:p>
        </p:txBody>
      </p:sp>
      <p:sp>
        <p:nvSpPr>
          <p:cNvPr id="10" name="Rounded Rectangle 9"/>
          <p:cNvSpPr/>
          <p:nvPr/>
        </p:nvSpPr>
        <p:spPr>
          <a:xfrm>
            <a:off x="3474720" y="1508760"/>
            <a:ext cx="2514600" cy="16002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74720" y="1508760"/>
            <a:ext cx="73152" cy="16002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75887" y="1673351"/>
            <a:ext cx="2167128" cy="384048"/>
          </a:xfrm>
          <a:prstGeom prst="rect">
            <a:avLst/>
          </a:prstGeom>
          <a:noFill/>
        </p:spPr>
        <p:txBody>
          <a:bodyPr wrap="square" anchor="t">
            <a:spAutoFit/>
          </a:bodyPr>
          <a:lstStyle/>
          <a:p>
            <a:pPr algn="l">
              <a:defRPr sz="1500" b="1">
                <a:solidFill>
                  <a:srgbClr val="111F35"/>
                </a:solidFill>
                <a:latin typeface="Aptos"/>
              </a:defRPr>
            </a:pPr>
            <a:r>
              <a:t>CONTEXT</a:t>
            </a:r>
          </a:p>
        </p:txBody>
      </p:sp>
      <p:sp>
        <p:nvSpPr>
          <p:cNvPr id="13" name="TextBox 12"/>
          <p:cNvSpPr txBox="1"/>
          <p:nvPr/>
        </p:nvSpPr>
        <p:spPr>
          <a:xfrm>
            <a:off x="3675887" y="2130552"/>
            <a:ext cx="2167128" cy="850392"/>
          </a:xfrm>
          <a:prstGeom prst="rect">
            <a:avLst/>
          </a:prstGeom>
          <a:noFill/>
        </p:spPr>
        <p:txBody>
          <a:bodyPr wrap="square" anchor="t">
            <a:spAutoFit/>
          </a:bodyPr>
          <a:lstStyle/>
          <a:p>
            <a:pPr algn="l">
              <a:defRPr sz="1250" b="0">
                <a:solidFill>
                  <a:srgbClr val="25313F"/>
                </a:solidFill>
                <a:latin typeface="Aptos"/>
              </a:defRPr>
            </a:pPr>
            <a:r>
              <a:t>What does it need to know?</a:t>
            </a:r>
          </a:p>
        </p:txBody>
      </p:sp>
      <p:sp>
        <p:nvSpPr>
          <p:cNvPr id="14" name="Rounded Rectangle 13"/>
          <p:cNvSpPr/>
          <p:nvPr/>
        </p:nvSpPr>
        <p:spPr>
          <a:xfrm>
            <a:off x="6263640" y="1508760"/>
            <a:ext cx="2514600" cy="16002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508760"/>
            <a:ext cx="73152" cy="1600200"/>
          </a:xfrm>
          <a:prstGeom prst="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64807" y="1673351"/>
            <a:ext cx="2167128" cy="384048"/>
          </a:xfrm>
          <a:prstGeom prst="rect">
            <a:avLst/>
          </a:prstGeom>
          <a:noFill/>
        </p:spPr>
        <p:txBody>
          <a:bodyPr wrap="square" anchor="t">
            <a:spAutoFit/>
          </a:bodyPr>
          <a:lstStyle/>
          <a:p>
            <a:pPr algn="l">
              <a:defRPr sz="1500" b="1">
                <a:solidFill>
                  <a:srgbClr val="111F35"/>
                </a:solidFill>
                <a:latin typeface="Aptos"/>
              </a:defRPr>
            </a:pPr>
            <a:r>
              <a:t>TASK</a:t>
            </a:r>
          </a:p>
        </p:txBody>
      </p:sp>
      <p:sp>
        <p:nvSpPr>
          <p:cNvPr id="17" name="TextBox 16"/>
          <p:cNvSpPr txBox="1"/>
          <p:nvPr/>
        </p:nvSpPr>
        <p:spPr>
          <a:xfrm>
            <a:off x="6464807" y="2130552"/>
            <a:ext cx="2167128" cy="850392"/>
          </a:xfrm>
          <a:prstGeom prst="rect">
            <a:avLst/>
          </a:prstGeom>
          <a:noFill/>
        </p:spPr>
        <p:txBody>
          <a:bodyPr wrap="square" anchor="t">
            <a:spAutoFit/>
          </a:bodyPr>
          <a:lstStyle/>
          <a:p>
            <a:pPr algn="l">
              <a:defRPr sz="1250" b="0">
                <a:solidFill>
                  <a:srgbClr val="25313F"/>
                </a:solidFill>
                <a:latin typeface="Aptos"/>
              </a:defRPr>
            </a:pPr>
            <a:r>
              <a:t>What exactly should it do?</a:t>
            </a:r>
          </a:p>
        </p:txBody>
      </p:sp>
      <p:sp>
        <p:nvSpPr>
          <p:cNvPr id="18" name="Rounded Rectangle 17"/>
          <p:cNvSpPr/>
          <p:nvPr/>
        </p:nvSpPr>
        <p:spPr>
          <a:xfrm>
            <a:off x="9052559" y="1508760"/>
            <a:ext cx="2514600" cy="16002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52559" y="1508760"/>
            <a:ext cx="73152" cy="1600200"/>
          </a:xfrm>
          <a:prstGeom prst="rect">
            <a:avLst/>
          </a:prstGeom>
          <a:solidFill>
            <a:srgbClr val="49B4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53728" y="1673351"/>
            <a:ext cx="2167128" cy="384048"/>
          </a:xfrm>
          <a:prstGeom prst="rect">
            <a:avLst/>
          </a:prstGeom>
          <a:noFill/>
        </p:spPr>
        <p:txBody>
          <a:bodyPr wrap="square" anchor="t">
            <a:spAutoFit/>
          </a:bodyPr>
          <a:lstStyle/>
          <a:p>
            <a:pPr algn="l">
              <a:defRPr sz="1500" b="1">
                <a:solidFill>
                  <a:srgbClr val="111F35"/>
                </a:solidFill>
                <a:latin typeface="Aptos"/>
              </a:defRPr>
            </a:pPr>
            <a:r>
              <a:t>CRITERIA</a:t>
            </a:r>
          </a:p>
        </p:txBody>
      </p:sp>
      <p:sp>
        <p:nvSpPr>
          <p:cNvPr id="21" name="TextBox 20"/>
          <p:cNvSpPr txBox="1"/>
          <p:nvPr/>
        </p:nvSpPr>
        <p:spPr>
          <a:xfrm>
            <a:off x="9253728" y="2130552"/>
            <a:ext cx="2167128" cy="850392"/>
          </a:xfrm>
          <a:prstGeom prst="rect">
            <a:avLst/>
          </a:prstGeom>
          <a:noFill/>
        </p:spPr>
        <p:txBody>
          <a:bodyPr wrap="square" anchor="t">
            <a:spAutoFit/>
          </a:bodyPr>
          <a:lstStyle/>
          <a:p>
            <a:pPr algn="l">
              <a:defRPr sz="1250" b="0">
                <a:solidFill>
                  <a:srgbClr val="25313F"/>
                </a:solidFill>
                <a:latin typeface="Aptos"/>
              </a:defRPr>
            </a:pPr>
            <a:r>
              <a:t>What makes the answer good?</a:t>
            </a:r>
          </a:p>
        </p:txBody>
      </p:sp>
      <p:sp>
        <p:nvSpPr>
          <p:cNvPr id="22" name="Rounded Rectangle 21"/>
          <p:cNvSpPr/>
          <p:nvPr/>
        </p:nvSpPr>
        <p:spPr>
          <a:xfrm>
            <a:off x="685800" y="3566160"/>
            <a:ext cx="2514600" cy="16002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5800" y="3566160"/>
            <a:ext cx="73152" cy="1600200"/>
          </a:xfrm>
          <a:prstGeom prst="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6968" y="3730752"/>
            <a:ext cx="2167128" cy="384048"/>
          </a:xfrm>
          <a:prstGeom prst="rect">
            <a:avLst/>
          </a:prstGeom>
          <a:noFill/>
        </p:spPr>
        <p:txBody>
          <a:bodyPr wrap="square" anchor="t">
            <a:spAutoFit/>
          </a:bodyPr>
          <a:lstStyle/>
          <a:p>
            <a:pPr algn="l">
              <a:defRPr sz="1500" b="1">
                <a:solidFill>
                  <a:srgbClr val="111F35"/>
                </a:solidFill>
                <a:latin typeface="Aptos"/>
              </a:defRPr>
            </a:pPr>
            <a:r>
              <a:t>CONSTRAINTS</a:t>
            </a:r>
          </a:p>
        </p:txBody>
      </p:sp>
      <p:sp>
        <p:nvSpPr>
          <p:cNvPr id="25" name="TextBox 24"/>
          <p:cNvSpPr txBox="1"/>
          <p:nvPr/>
        </p:nvSpPr>
        <p:spPr>
          <a:xfrm>
            <a:off x="886968" y="4187952"/>
            <a:ext cx="2167128" cy="850392"/>
          </a:xfrm>
          <a:prstGeom prst="rect">
            <a:avLst/>
          </a:prstGeom>
          <a:noFill/>
        </p:spPr>
        <p:txBody>
          <a:bodyPr wrap="square" anchor="t">
            <a:spAutoFit/>
          </a:bodyPr>
          <a:lstStyle/>
          <a:p>
            <a:pPr algn="l">
              <a:defRPr sz="1250" b="0">
                <a:solidFill>
                  <a:srgbClr val="25313F"/>
                </a:solidFill>
                <a:latin typeface="Aptos"/>
              </a:defRPr>
            </a:pPr>
            <a:r>
              <a:t>What must it not assume/do?</a:t>
            </a:r>
          </a:p>
        </p:txBody>
      </p:sp>
      <p:sp>
        <p:nvSpPr>
          <p:cNvPr id="26" name="Rounded Rectangle 25"/>
          <p:cNvSpPr/>
          <p:nvPr/>
        </p:nvSpPr>
        <p:spPr>
          <a:xfrm>
            <a:off x="3474720" y="3566160"/>
            <a:ext cx="2514600" cy="16002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474720" y="3566160"/>
            <a:ext cx="73152" cy="1600200"/>
          </a:xfrm>
          <a:prstGeom prst="rect">
            <a:avLst/>
          </a:prstGeom>
          <a:solidFill>
            <a:srgbClr val="11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75887" y="3730752"/>
            <a:ext cx="2167128" cy="384048"/>
          </a:xfrm>
          <a:prstGeom prst="rect">
            <a:avLst/>
          </a:prstGeom>
          <a:noFill/>
        </p:spPr>
        <p:txBody>
          <a:bodyPr wrap="square" anchor="t">
            <a:spAutoFit/>
          </a:bodyPr>
          <a:lstStyle/>
          <a:p>
            <a:pPr algn="l">
              <a:defRPr sz="1500" b="1">
                <a:solidFill>
                  <a:srgbClr val="111F35"/>
                </a:solidFill>
                <a:latin typeface="Aptos"/>
              </a:defRPr>
            </a:pPr>
            <a:r>
              <a:t>OUTPUT</a:t>
            </a:r>
          </a:p>
        </p:txBody>
      </p:sp>
      <p:sp>
        <p:nvSpPr>
          <p:cNvPr id="29" name="TextBox 28"/>
          <p:cNvSpPr txBox="1"/>
          <p:nvPr/>
        </p:nvSpPr>
        <p:spPr>
          <a:xfrm>
            <a:off x="3675887" y="4187952"/>
            <a:ext cx="2167128" cy="850392"/>
          </a:xfrm>
          <a:prstGeom prst="rect">
            <a:avLst/>
          </a:prstGeom>
          <a:noFill/>
        </p:spPr>
        <p:txBody>
          <a:bodyPr wrap="square" anchor="t">
            <a:spAutoFit/>
          </a:bodyPr>
          <a:lstStyle/>
          <a:p>
            <a:pPr algn="l">
              <a:defRPr sz="1250" b="0">
                <a:solidFill>
                  <a:srgbClr val="25313F"/>
                </a:solidFill>
                <a:latin typeface="Aptos"/>
              </a:defRPr>
            </a:pPr>
            <a:r>
              <a:t>What should I receive?</a:t>
            </a:r>
          </a:p>
        </p:txBody>
      </p:sp>
      <p:sp>
        <p:nvSpPr>
          <p:cNvPr id="30" name="Rounded Rectangle 29"/>
          <p:cNvSpPr/>
          <p:nvPr/>
        </p:nvSpPr>
        <p:spPr>
          <a:xfrm>
            <a:off x="6263640" y="3566160"/>
            <a:ext cx="2514600" cy="160020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63640" y="3566160"/>
            <a:ext cx="73152" cy="1600200"/>
          </a:xfrm>
          <a:prstGeom prst="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64807" y="3730752"/>
            <a:ext cx="2167128" cy="384048"/>
          </a:xfrm>
          <a:prstGeom prst="rect">
            <a:avLst/>
          </a:prstGeom>
          <a:noFill/>
        </p:spPr>
        <p:txBody>
          <a:bodyPr wrap="square" anchor="t">
            <a:spAutoFit/>
          </a:bodyPr>
          <a:lstStyle/>
          <a:p>
            <a:pPr algn="l">
              <a:defRPr sz="1500" b="1">
                <a:solidFill>
                  <a:srgbClr val="111F35"/>
                </a:solidFill>
                <a:latin typeface="Aptos"/>
              </a:defRPr>
            </a:pPr>
            <a:r>
              <a:t>VALIDATION</a:t>
            </a:r>
          </a:p>
        </p:txBody>
      </p:sp>
      <p:sp>
        <p:nvSpPr>
          <p:cNvPr id="33" name="TextBox 32"/>
          <p:cNvSpPr txBox="1"/>
          <p:nvPr/>
        </p:nvSpPr>
        <p:spPr>
          <a:xfrm>
            <a:off x="6464807" y="4187952"/>
            <a:ext cx="2167128" cy="850392"/>
          </a:xfrm>
          <a:prstGeom prst="rect">
            <a:avLst/>
          </a:prstGeom>
          <a:noFill/>
        </p:spPr>
        <p:txBody>
          <a:bodyPr wrap="square" anchor="t">
            <a:spAutoFit/>
          </a:bodyPr>
          <a:lstStyle/>
          <a:p>
            <a:pPr algn="l">
              <a:defRPr sz="1250" b="0">
                <a:solidFill>
                  <a:srgbClr val="25313F"/>
                </a:solidFill>
                <a:latin typeface="Aptos"/>
              </a:defRPr>
            </a:pPr>
            <a:r>
              <a:t>How will I check it?</a:t>
            </a:r>
          </a:p>
        </p:txBody>
      </p:sp>
      <p:sp>
        <p:nvSpPr>
          <p:cNvPr id="34" name="TextBox 33"/>
          <p:cNvSpPr txBox="1"/>
          <p:nvPr/>
        </p:nvSpPr>
        <p:spPr>
          <a:xfrm>
            <a:off x="914400" y="5897880"/>
            <a:ext cx="10241280" cy="365760"/>
          </a:xfrm>
          <a:prstGeom prst="rect">
            <a:avLst/>
          </a:prstGeom>
          <a:noFill/>
        </p:spPr>
        <p:txBody>
          <a:bodyPr wrap="square" anchor="t">
            <a:spAutoFit/>
          </a:bodyPr>
          <a:lstStyle/>
          <a:p>
            <a:pPr algn="ctr">
              <a:defRPr sz="1500" b="1">
                <a:solidFill>
                  <a:srgbClr val="647180"/>
                </a:solidFill>
                <a:latin typeface="Aptos"/>
              </a:defRPr>
            </a:pPr>
            <a:r>
              <a:t>Use the components that reduce ambiguity. Not every prompt needs the same amount of detail.</a:t>
            </a:r>
          </a:p>
        </p:txBody>
      </p:sp>
      <p:sp>
        <p:nvSpPr>
          <p:cNvPr id="35" name="Rectangle 34"/>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37" name="Slide Number Placeholder 36">
            <a:extLst>
              <a:ext uri="{FF2B5EF4-FFF2-40B4-BE49-F238E27FC236}">
                <a16:creationId xmlns:a16="http://schemas.microsoft.com/office/drawing/2014/main" id="{352D78FC-66FB-30E4-29F5-24DF6427601B}"/>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Prompt Doctor: Data Example</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From “find problems” to rule-based investigation.</a:t>
            </a:r>
          </a:p>
        </p:txBody>
      </p:sp>
      <p:sp>
        <p:nvSpPr>
          <p:cNvPr id="6" name="Rounded Rectangle 5"/>
          <p:cNvSpPr/>
          <p:nvPr/>
        </p:nvSpPr>
        <p:spPr>
          <a:xfrm>
            <a:off x="822960" y="1463040"/>
            <a:ext cx="4297680" cy="34747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1463040"/>
            <a:ext cx="73152" cy="3474720"/>
          </a:xfrm>
          <a:prstGeom prst="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627632"/>
            <a:ext cx="3950208" cy="384048"/>
          </a:xfrm>
          <a:prstGeom prst="rect">
            <a:avLst/>
          </a:prstGeom>
          <a:noFill/>
        </p:spPr>
        <p:txBody>
          <a:bodyPr wrap="square" anchor="t">
            <a:spAutoFit/>
          </a:bodyPr>
          <a:lstStyle/>
          <a:p>
            <a:pPr algn="l">
              <a:defRPr sz="1900" b="1">
                <a:solidFill>
                  <a:srgbClr val="111F35"/>
                </a:solidFill>
                <a:latin typeface="Aptos"/>
              </a:defRPr>
            </a:pPr>
            <a:r>
              <a:t>WEAK</a:t>
            </a:r>
          </a:p>
        </p:txBody>
      </p:sp>
      <p:sp>
        <p:nvSpPr>
          <p:cNvPr id="9" name="TextBox 8"/>
          <p:cNvSpPr txBox="1"/>
          <p:nvPr/>
        </p:nvSpPr>
        <p:spPr>
          <a:xfrm>
            <a:off x="1024128" y="2084832"/>
            <a:ext cx="3950208" cy="2724912"/>
          </a:xfrm>
          <a:prstGeom prst="rect">
            <a:avLst/>
          </a:prstGeom>
          <a:noFill/>
        </p:spPr>
        <p:txBody>
          <a:bodyPr wrap="square" anchor="t">
            <a:spAutoFit/>
          </a:bodyPr>
          <a:lstStyle/>
          <a:p>
            <a:pPr algn="l">
              <a:defRPr sz="2200" b="0">
                <a:solidFill>
                  <a:srgbClr val="25313F"/>
                </a:solidFill>
                <a:latin typeface="Aptos"/>
              </a:defRPr>
            </a:pPr>
            <a:r>
              <a:t>“Find the data quality problems in this file.”</a:t>
            </a:r>
          </a:p>
        </p:txBody>
      </p:sp>
      <p:sp>
        <p:nvSpPr>
          <p:cNvPr id="10" name="Rounded Rectangle 9"/>
          <p:cNvSpPr/>
          <p:nvPr/>
        </p:nvSpPr>
        <p:spPr>
          <a:xfrm>
            <a:off x="6080760" y="1463040"/>
            <a:ext cx="5257800" cy="34747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80760" y="1463040"/>
            <a:ext cx="73152" cy="3474720"/>
          </a:xfrm>
          <a:prstGeom prst="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81928" y="1627632"/>
            <a:ext cx="4910328" cy="384048"/>
          </a:xfrm>
          <a:prstGeom prst="rect">
            <a:avLst/>
          </a:prstGeom>
          <a:noFill/>
        </p:spPr>
        <p:txBody>
          <a:bodyPr wrap="square" anchor="t">
            <a:spAutoFit/>
          </a:bodyPr>
          <a:lstStyle/>
          <a:p>
            <a:pPr algn="l">
              <a:defRPr sz="1900" b="1">
                <a:solidFill>
                  <a:srgbClr val="111F35"/>
                </a:solidFill>
                <a:latin typeface="Aptos"/>
              </a:defRPr>
            </a:pPr>
            <a:r>
              <a:t>BETTER</a:t>
            </a:r>
          </a:p>
        </p:txBody>
      </p:sp>
      <p:sp>
        <p:nvSpPr>
          <p:cNvPr id="13" name="TextBox 12"/>
          <p:cNvSpPr txBox="1"/>
          <p:nvPr/>
        </p:nvSpPr>
        <p:spPr>
          <a:xfrm>
            <a:off x="6281928" y="2084832"/>
            <a:ext cx="4910328" cy="2724912"/>
          </a:xfrm>
          <a:prstGeom prst="rect">
            <a:avLst/>
          </a:prstGeom>
          <a:noFill/>
        </p:spPr>
        <p:txBody>
          <a:bodyPr wrap="square" anchor="t">
            <a:spAutoFit/>
          </a:bodyPr>
          <a:lstStyle/>
          <a:p>
            <a:pPr algn="l">
              <a:defRPr sz="1350" b="0">
                <a:solidFill>
                  <a:srgbClr val="25313F"/>
                </a:solidFill>
                <a:latin typeface="Aptos"/>
              </a:defRPr>
            </a:pPr>
            <a:r>
              <a:rPr dirty="0"/>
              <a:t>You are a data-quality analyst.</a:t>
            </a:r>
            <a:br>
              <a:rPr dirty="0"/>
            </a:br>
            <a:br>
              <a:rPr dirty="0"/>
            </a:br>
            <a:r>
              <a:rPr dirty="0"/>
              <a:t>Review the supplied transaction dataset against the approved </a:t>
            </a:r>
            <a:r>
              <a:rPr dirty="0" err="1"/>
              <a:t>WinTrust</a:t>
            </a:r>
            <a:r>
              <a:rPr dirty="0"/>
              <a:t> data-quality rules.</a:t>
            </a:r>
            <a:br>
              <a:rPr dirty="0"/>
            </a:br>
            <a:br>
              <a:rPr dirty="0"/>
            </a:br>
            <a:r>
              <a:rPr dirty="0"/>
              <a:t>For each issue provide: Record ID | Field | Rule Violated | Evidence | Severity | Recommended Action.</a:t>
            </a:r>
            <a:br>
              <a:rPr dirty="0"/>
            </a:br>
            <a:br>
              <a:rPr dirty="0"/>
            </a:br>
            <a:r>
              <a:rPr dirty="0"/>
              <a:t>Do not classify unusual values as errors unless a defined rule is violated. Do not invent missing values.</a:t>
            </a:r>
          </a:p>
        </p:txBody>
      </p:sp>
      <p:sp>
        <p:nvSpPr>
          <p:cNvPr id="14" name="TextBox 13"/>
          <p:cNvSpPr txBox="1"/>
          <p:nvPr/>
        </p:nvSpPr>
        <p:spPr>
          <a:xfrm>
            <a:off x="914400" y="5303520"/>
            <a:ext cx="10241280" cy="502920"/>
          </a:xfrm>
          <a:prstGeom prst="rect">
            <a:avLst/>
          </a:prstGeom>
          <a:noFill/>
        </p:spPr>
        <p:txBody>
          <a:bodyPr wrap="square" anchor="t">
            <a:spAutoFit/>
          </a:bodyPr>
          <a:lstStyle/>
          <a:p>
            <a:pPr algn="ctr">
              <a:defRPr sz="1900" b="1">
                <a:solidFill>
                  <a:srgbClr val="111F35"/>
                </a:solidFill>
                <a:latin typeface="Aptos"/>
              </a:defRPr>
            </a:pPr>
            <a:r>
              <a:t>Key distinction: an anomaly is not automatically a data-quality error.</a:t>
            </a:r>
          </a:p>
        </p:txBody>
      </p:sp>
      <p:sp>
        <p:nvSpPr>
          <p:cNvPr id="15" name="Rectangle 14"/>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7" name="Slide Number Placeholder 16">
            <a:extLst>
              <a:ext uri="{FF2B5EF4-FFF2-40B4-BE49-F238E27FC236}">
                <a16:creationId xmlns:a16="http://schemas.microsoft.com/office/drawing/2014/main" id="{473BB6B9-EEA3-2706-5B39-7B120F1B3EF1}"/>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Prompt Doctor: Enterprise Operations Example</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Evidence first. Assumptions visible.</a:t>
            </a:r>
          </a:p>
        </p:txBody>
      </p:sp>
      <p:sp>
        <p:nvSpPr>
          <p:cNvPr id="6" name="Rounded Rectangle 5"/>
          <p:cNvSpPr/>
          <p:nvPr/>
        </p:nvSpPr>
        <p:spPr>
          <a:xfrm>
            <a:off x="822960" y="1463040"/>
            <a:ext cx="4297680" cy="34747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22960" y="1463040"/>
            <a:ext cx="73152" cy="3474720"/>
          </a:xfrm>
          <a:prstGeom prst="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627632"/>
            <a:ext cx="3950208" cy="384048"/>
          </a:xfrm>
          <a:prstGeom prst="rect">
            <a:avLst/>
          </a:prstGeom>
          <a:noFill/>
        </p:spPr>
        <p:txBody>
          <a:bodyPr wrap="square" anchor="t">
            <a:spAutoFit/>
          </a:bodyPr>
          <a:lstStyle/>
          <a:p>
            <a:pPr algn="l">
              <a:defRPr sz="1900" b="1">
                <a:solidFill>
                  <a:srgbClr val="111F35"/>
                </a:solidFill>
                <a:latin typeface="Aptos"/>
              </a:defRPr>
            </a:pPr>
            <a:r>
              <a:t>WEAK</a:t>
            </a:r>
          </a:p>
        </p:txBody>
      </p:sp>
      <p:sp>
        <p:nvSpPr>
          <p:cNvPr id="9" name="TextBox 8"/>
          <p:cNvSpPr txBox="1"/>
          <p:nvPr/>
        </p:nvSpPr>
        <p:spPr>
          <a:xfrm>
            <a:off x="1024128" y="2084832"/>
            <a:ext cx="3950208" cy="2724912"/>
          </a:xfrm>
          <a:prstGeom prst="rect">
            <a:avLst/>
          </a:prstGeom>
          <a:noFill/>
        </p:spPr>
        <p:txBody>
          <a:bodyPr wrap="square" anchor="t">
            <a:spAutoFit/>
          </a:bodyPr>
          <a:lstStyle/>
          <a:p>
            <a:pPr algn="l">
              <a:defRPr sz="2200" b="0">
                <a:solidFill>
                  <a:srgbClr val="25313F"/>
                </a:solidFill>
                <a:latin typeface="Aptos"/>
              </a:defRPr>
            </a:pPr>
            <a:r>
              <a:t>“Analyze these tickets and tell me what is important.”</a:t>
            </a:r>
          </a:p>
        </p:txBody>
      </p:sp>
      <p:sp>
        <p:nvSpPr>
          <p:cNvPr id="10" name="Rounded Rectangle 9"/>
          <p:cNvSpPr/>
          <p:nvPr/>
        </p:nvSpPr>
        <p:spPr>
          <a:xfrm>
            <a:off x="6080760" y="1463040"/>
            <a:ext cx="5257800" cy="34747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80760" y="1463040"/>
            <a:ext cx="73152" cy="3474720"/>
          </a:xfrm>
          <a:prstGeom prst="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81928" y="1627632"/>
            <a:ext cx="4910328" cy="384048"/>
          </a:xfrm>
          <a:prstGeom prst="rect">
            <a:avLst/>
          </a:prstGeom>
          <a:noFill/>
        </p:spPr>
        <p:txBody>
          <a:bodyPr wrap="square" anchor="t">
            <a:spAutoFit/>
          </a:bodyPr>
          <a:lstStyle/>
          <a:p>
            <a:pPr algn="l">
              <a:defRPr sz="1900" b="1">
                <a:solidFill>
                  <a:srgbClr val="111F35"/>
                </a:solidFill>
                <a:latin typeface="Aptos"/>
              </a:defRPr>
            </a:pPr>
            <a:r>
              <a:t>BETTER</a:t>
            </a:r>
          </a:p>
        </p:txBody>
      </p:sp>
      <p:sp>
        <p:nvSpPr>
          <p:cNvPr id="13" name="TextBox 12"/>
          <p:cNvSpPr txBox="1"/>
          <p:nvPr/>
        </p:nvSpPr>
        <p:spPr>
          <a:xfrm>
            <a:off x="6281928" y="2084832"/>
            <a:ext cx="4910328" cy="2724912"/>
          </a:xfrm>
          <a:prstGeom prst="rect">
            <a:avLst/>
          </a:prstGeom>
          <a:noFill/>
        </p:spPr>
        <p:txBody>
          <a:bodyPr wrap="square" anchor="t">
            <a:spAutoFit/>
          </a:bodyPr>
          <a:lstStyle/>
          <a:p>
            <a:pPr algn="l">
              <a:defRPr sz="1320" b="0">
                <a:solidFill>
                  <a:srgbClr val="25313F"/>
                </a:solidFill>
                <a:latin typeface="Aptos"/>
              </a:defRPr>
            </a:pPr>
            <a:r>
              <a:t>You are a WinTrust operations analyst.</a:t>
            </a:r>
            <a:br/>
            <a:br/>
            <a:r>
              <a:t>Review the supplied tickets against the WinTrust Operations SLA Policy.</a:t>
            </a:r>
            <a:br/>
            <a:br/>
            <a:r>
              <a:t>Identify SLA breaches and tickets requiring escalation.</a:t>
            </a:r>
            <a:br/>
            <a:br/>
            <a:r>
              <a:t>For each finding provide: Ticket ID | Severity | SLA Status | Evidence | Escalation Recommendation.</a:t>
            </a:r>
            <a:br/>
            <a:br/>
            <a:r>
              <a:t>Use only information in the ticket and policy. Clearly identify missing information. Do not infer a root cause unless evidence supports it.</a:t>
            </a:r>
          </a:p>
        </p:txBody>
      </p:sp>
      <p:sp>
        <p:nvSpPr>
          <p:cNvPr id="14" name="TextBox 13"/>
          <p:cNvSpPr txBox="1"/>
          <p:nvPr/>
        </p:nvSpPr>
        <p:spPr>
          <a:xfrm>
            <a:off x="914400" y="5303520"/>
            <a:ext cx="10241280" cy="502920"/>
          </a:xfrm>
          <a:prstGeom prst="rect">
            <a:avLst/>
          </a:prstGeom>
          <a:noFill/>
        </p:spPr>
        <p:txBody>
          <a:bodyPr wrap="square" anchor="t">
            <a:spAutoFit/>
          </a:bodyPr>
          <a:lstStyle/>
          <a:p>
            <a:pPr algn="ctr">
              <a:defRPr sz="1900" b="1">
                <a:solidFill>
                  <a:srgbClr val="B94343"/>
                </a:solidFill>
                <a:latin typeface="Aptos"/>
              </a:defRPr>
            </a:pPr>
            <a:r>
              <a:t>Do not let the model silently convert a symptom into a root cause.</a:t>
            </a:r>
          </a:p>
        </p:txBody>
      </p:sp>
      <p:sp>
        <p:nvSpPr>
          <p:cNvPr id="15" name="Rectangle 14"/>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7" name="Slide Number Placeholder 16">
            <a:extLst>
              <a:ext uri="{FF2B5EF4-FFF2-40B4-BE49-F238E27FC236}">
                <a16:creationId xmlns:a16="http://schemas.microsoft.com/office/drawing/2014/main" id="{43E3ABDA-B67E-675A-4CD6-7EF3E307DABC}"/>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Compare the Outputs</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Evaluate quality, not writing style.</a:t>
            </a:r>
          </a:p>
        </p:txBody>
      </p:sp>
      <p:graphicFrame>
        <p:nvGraphicFramePr>
          <p:cNvPr id="6" name="Table 5"/>
          <p:cNvGraphicFramePr>
            <a:graphicFrameLocks noGrp="1"/>
          </p:cNvGraphicFramePr>
          <p:nvPr/>
        </p:nvGraphicFramePr>
        <p:xfrm>
          <a:off x="868680" y="1508760"/>
          <a:ext cx="10469880" cy="41605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594360">
                <a:tc>
                  <a:txBody>
                    <a:bodyPr/>
                    <a:lstStyle/>
                    <a:p>
                      <a:pPr>
                        <a:defRPr sz="1500" b="1">
                          <a:solidFill>
                            <a:srgbClr val="FFFFFF"/>
                          </a:solidFill>
                          <a:latin typeface="Aptos"/>
                        </a:defRPr>
                      </a:pPr>
                      <a:r>
                        <a:t>Dimension</a:t>
                      </a:r>
                    </a:p>
                  </a:txBody>
                  <a:tcPr>
                    <a:solidFill>
                      <a:srgbClr val="111F35"/>
                    </a:solidFill>
                  </a:tcPr>
                </a:tc>
                <a:tc>
                  <a:txBody>
                    <a:bodyPr/>
                    <a:lstStyle/>
                    <a:p>
                      <a:pPr>
                        <a:defRPr sz="1500" b="1">
                          <a:solidFill>
                            <a:srgbClr val="FFFFFF"/>
                          </a:solidFill>
                          <a:latin typeface="Aptos"/>
                        </a:defRPr>
                      </a:pPr>
                      <a:r>
                        <a:t>Original</a:t>
                      </a:r>
                    </a:p>
                  </a:txBody>
                  <a:tcPr>
                    <a:solidFill>
                      <a:srgbClr val="111F35"/>
                    </a:solidFill>
                  </a:tcPr>
                </a:tc>
                <a:tc>
                  <a:txBody>
                    <a:bodyPr/>
                    <a:lstStyle/>
                    <a:p>
                      <a:pPr>
                        <a:defRPr sz="1500" b="1">
                          <a:solidFill>
                            <a:srgbClr val="FFFFFF"/>
                          </a:solidFill>
                          <a:latin typeface="Aptos"/>
                        </a:defRPr>
                      </a:pPr>
                      <a:r>
                        <a:t>Revised</a:t>
                      </a:r>
                    </a:p>
                  </a:txBody>
                  <a:tcPr>
                    <a:solidFill>
                      <a:srgbClr val="111F35"/>
                    </a:solidFill>
                  </a:tcPr>
                </a:tc>
                <a:extLst>
                  <a:ext uri="{0D108BD9-81ED-4DB2-BD59-A6C34878D82A}">
                    <a16:rowId xmlns:a16="http://schemas.microsoft.com/office/drawing/2014/main" val="10000"/>
                  </a:ext>
                </a:extLst>
              </a:tr>
              <a:tr h="594360">
                <a:tc>
                  <a:txBody>
                    <a:bodyPr/>
                    <a:lstStyle/>
                    <a:p>
                      <a:pPr>
                        <a:defRPr sz="1500">
                          <a:solidFill>
                            <a:srgbClr val="25313F"/>
                          </a:solidFill>
                          <a:latin typeface="Aptos"/>
                        </a:defRPr>
                      </a:pPr>
                      <a:r>
                        <a:t>Completeness</a:t>
                      </a:r>
                    </a:p>
                  </a:txBody>
                  <a:tcPr>
                    <a:solidFill>
                      <a:srgbClr val="FFFFFF"/>
                    </a:solidFill>
                  </a:tcPr>
                </a:tc>
                <a:tc>
                  <a:txBody>
                    <a:bodyPr/>
                    <a:lstStyle/>
                    <a:p>
                      <a:pPr>
                        <a:defRPr sz="1500">
                          <a:solidFill>
                            <a:srgbClr val="25313F"/>
                          </a:solidFill>
                          <a:latin typeface="Aptos"/>
                        </a:defRPr>
                      </a:pPr>
                      <a:endParaRPr/>
                    </a:p>
                  </a:txBody>
                  <a:tcPr>
                    <a:solidFill>
                      <a:srgbClr val="FFFFFF"/>
                    </a:solidFill>
                  </a:tcPr>
                </a:tc>
                <a:tc>
                  <a:txBody>
                    <a:bodyPr/>
                    <a:lstStyle/>
                    <a:p>
                      <a:pPr>
                        <a:defRPr sz="1500">
                          <a:solidFill>
                            <a:srgbClr val="25313F"/>
                          </a:solidFill>
                          <a:latin typeface="Aptos"/>
                        </a:defRPr>
                      </a:pPr>
                      <a:endParaRPr/>
                    </a:p>
                  </a:txBody>
                  <a:tcPr>
                    <a:solidFill>
                      <a:srgbClr val="FFFFFF"/>
                    </a:solidFill>
                  </a:tcPr>
                </a:tc>
                <a:extLst>
                  <a:ext uri="{0D108BD9-81ED-4DB2-BD59-A6C34878D82A}">
                    <a16:rowId xmlns:a16="http://schemas.microsoft.com/office/drawing/2014/main" val="10001"/>
                  </a:ext>
                </a:extLst>
              </a:tr>
              <a:tr h="594360">
                <a:tc>
                  <a:txBody>
                    <a:bodyPr/>
                    <a:lstStyle/>
                    <a:p>
                      <a:pPr>
                        <a:defRPr sz="1500">
                          <a:solidFill>
                            <a:srgbClr val="25313F"/>
                          </a:solidFill>
                          <a:latin typeface="Aptos"/>
                        </a:defRPr>
                      </a:pPr>
                      <a:r>
                        <a:t>Evidence</a:t>
                      </a:r>
                    </a:p>
                  </a:txBody>
                  <a:tcPr>
                    <a:solidFill>
                      <a:srgbClr val="F4F7FA"/>
                    </a:solidFill>
                  </a:tcPr>
                </a:tc>
                <a:tc>
                  <a:txBody>
                    <a:bodyPr/>
                    <a:lstStyle/>
                    <a:p>
                      <a:pPr>
                        <a:defRPr sz="1500">
                          <a:solidFill>
                            <a:srgbClr val="25313F"/>
                          </a:solidFill>
                          <a:latin typeface="Aptos"/>
                        </a:defRPr>
                      </a:pPr>
                      <a:endParaRPr/>
                    </a:p>
                  </a:txBody>
                  <a:tcPr>
                    <a:solidFill>
                      <a:srgbClr val="F4F7FA"/>
                    </a:solidFill>
                  </a:tcPr>
                </a:tc>
                <a:tc>
                  <a:txBody>
                    <a:bodyPr/>
                    <a:lstStyle/>
                    <a:p>
                      <a:pPr>
                        <a:defRPr sz="1500">
                          <a:solidFill>
                            <a:srgbClr val="25313F"/>
                          </a:solidFill>
                          <a:latin typeface="Aptos"/>
                        </a:defRPr>
                      </a:pPr>
                      <a:endParaRPr/>
                    </a:p>
                  </a:txBody>
                  <a:tcPr>
                    <a:solidFill>
                      <a:srgbClr val="F4F7FA"/>
                    </a:solidFill>
                  </a:tcPr>
                </a:tc>
                <a:extLst>
                  <a:ext uri="{0D108BD9-81ED-4DB2-BD59-A6C34878D82A}">
                    <a16:rowId xmlns:a16="http://schemas.microsoft.com/office/drawing/2014/main" val="10002"/>
                  </a:ext>
                </a:extLst>
              </a:tr>
              <a:tr h="594360">
                <a:tc>
                  <a:txBody>
                    <a:bodyPr/>
                    <a:lstStyle/>
                    <a:p>
                      <a:pPr>
                        <a:defRPr sz="1500">
                          <a:solidFill>
                            <a:srgbClr val="25313F"/>
                          </a:solidFill>
                          <a:latin typeface="Aptos"/>
                        </a:defRPr>
                      </a:pPr>
                      <a:r>
                        <a:t>Assumptions</a:t>
                      </a:r>
                    </a:p>
                  </a:txBody>
                  <a:tcPr>
                    <a:solidFill>
                      <a:srgbClr val="FFFFFF"/>
                    </a:solidFill>
                  </a:tcPr>
                </a:tc>
                <a:tc>
                  <a:txBody>
                    <a:bodyPr/>
                    <a:lstStyle/>
                    <a:p>
                      <a:pPr>
                        <a:defRPr sz="1500">
                          <a:solidFill>
                            <a:srgbClr val="25313F"/>
                          </a:solidFill>
                          <a:latin typeface="Aptos"/>
                        </a:defRPr>
                      </a:pPr>
                      <a:endParaRPr/>
                    </a:p>
                  </a:txBody>
                  <a:tcPr>
                    <a:solidFill>
                      <a:srgbClr val="FFFFFF"/>
                    </a:solidFill>
                  </a:tcPr>
                </a:tc>
                <a:tc>
                  <a:txBody>
                    <a:bodyPr/>
                    <a:lstStyle/>
                    <a:p>
                      <a:pPr>
                        <a:defRPr sz="1500">
                          <a:solidFill>
                            <a:srgbClr val="25313F"/>
                          </a:solidFill>
                          <a:latin typeface="Aptos"/>
                        </a:defRPr>
                      </a:pPr>
                      <a:endParaRPr/>
                    </a:p>
                  </a:txBody>
                  <a:tcPr>
                    <a:solidFill>
                      <a:srgbClr val="FFFFFF"/>
                    </a:solidFill>
                  </a:tcPr>
                </a:tc>
                <a:extLst>
                  <a:ext uri="{0D108BD9-81ED-4DB2-BD59-A6C34878D82A}">
                    <a16:rowId xmlns:a16="http://schemas.microsoft.com/office/drawing/2014/main" val="10003"/>
                  </a:ext>
                </a:extLst>
              </a:tr>
              <a:tr h="594360">
                <a:tc>
                  <a:txBody>
                    <a:bodyPr/>
                    <a:lstStyle/>
                    <a:p>
                      <a:pPr>
                        <a:defRPr sz="1500">
                          <a:solidFill>
                            <a:srgbClr val="25313F"/>
                          </a:solidFill>
                          <a:latin typeface="Aptos"/>
                        </a:defRPr>
                      </a:pPr>
                      <a:r>
                        <a:t>Consistency</a:t>
                      </a:r>
                    </a:p>
                  </a:txBody>
                  <a:tcPr>
                    <a:solidFill>
                      <a:srgbClr val="F4F7FA"/>
                    </a:solidFill>
                  </a:tcPr>
                </a:tc>
                <a:tc>
                  <a:txBody>
                    <a:bodyPr/>
                    <a:lstStyle/>
                    <a:p>
                      <a:pPr>
                        <a:defRPr sz="1500">
                          <a:solidFill>
                            <a:srgbClr val="25313F"/>
                          </a:solidFill>
                          <a:latin typeface="Aptos"/>
                        </a:defRPr>
                      </a:pPr>
                      <a:endParaRPr/>
                    </a:p>
                  </a:txBody>
                  <a:tcPr>
                    <a:solidFill>
                      <a:srgbClr val="F4F7FA"/>
                    </a:solidFill>
                  </a:tcPr>
                </a:tc>
                <a:tc>
                  <a:txBody>
                    <a:bodyPr/>
                    <a:lstStyle/>
                    <a:p>
                      <a:pPr>
                        <a:defRPr sz="1500">
                          <a:solidFill>
                            <a:srgbClr val="25313F"/>
                          </a:solidFill>
                          <a:latin typeface="Aptos"/>
                        </a:defRPr>
                      </a:pPr>
                      <a:endParaRPr/>
                    </a:p>
                  </a:txBody>
                  <a:tcPr>
                    <a:solidFill>
                      <a:srgbClr val="F4F7FA"/>
                    </a:solidFill>
                  </a:tcPr>
                </a:tc>
                <a:extLst>
                  <a:ext uri="{0D108BD9-81ED-4DB2-BD59-A6C34878D82A}">
                    <a16:rowId xmlns:a16="http://schemas.microsoft.com/office/drawing/2014/main" val="10004"/>
                  </a:ext>
                </a:extLst>
              </a:tr>
              <a:tr h="594360">
                <a:tc>
                  <a:txBody>
                    <a:bodyPr/>
                    <a:lstStyle/>
                    <a:p>
                      <a:pPr>
                        <a:defRPr sz="1500">
                          <a:solidFill>
                            <a:srgbClr val="25313F"/>
                          </a:solidFill>
                          <a:latin typeface="Aptos"/>
                        </a:defRPr>
                      </a:pPr>
                      <a:r>
                        <a:t>Usability</a:t>
                      </a:r>
                    </a:p>
                  </a:txBody>
                  <a:tcPr>
                    <a:solidFill>
                      <a:srgbClr val="FFFFFF"/>
                    </a:solidFill>
                  </a:tcPr>
                </a:tc>
                <a:tc>
                  <a:txBody>
                    <a:bodyPr/>
                    <a:lstStyle/>
                    <a:p>
                      <a:pPr>
                        <a:defRPr sz="1500">
                          <a:solidFill>
                            <a:srgbClr val="25313F"/>
                          </a:solidFill>
                          <a:latin typeface="Aptos"/>
                        </a:defRPr>
                      </a:pPr>
                      <a:endParaRPr/>
                    </a:p>
                  </a:txBody>
                  <a:tcPr>
                    <a:solidFill>
                      <a:srgbClr val="FFFFFF"/>
                    </a:solidFill>
                  </a:tcPr>
                </a:tc>
                <a:tc>
                  <a:txBody>
                    <a:bodyPr/>
                    <a:lstStyle/>
                    <a:p>
                      <a:pPr>
                        <a:defRPr sz="1500">
                          <a:solidFill>
                            <a:srgbClr val="25313F"/>
                          </a:solidFill>
                          <a:latin typeface="Aptos"/>
                        </a:defRPr>
                      </a:pPr>
                      <a:endParaRPr/>
                    </a:p>
                  </a:txBody>
                  <a:tcPr>
                    <a:solidFill>
                      <a:srgbClr val="FFFFFF"/>
                    </a:solidFill>
                  </a:tcPr>
                </a:tc>
                <a:extLst>
                  <a:ext uri="{0D108BD9-81ED-4DB2-BD59-A6C34878D82A}">
                    <a16:rowId xmlns:a16="http://schemas.microsoft.com/office/drawing/2014/main" val="10005"/>
                  </a:ext>
                </a:extLst>
              </a:tr>
              <a:tr h="594360">
                <a:tc>
                  <a:txBody>
                    <a:bodyPr/>
                    <a:lstStyle/>
                    <a:p>
                      <a:pPr>
                        <a:defRPr sz="1500">
                          <a:solidFill>
                            <a:srgbClr val="25313F"/>
                          </a:solidFill>
                          <a:latin typeface="Aptos"/>
                        </a:defRPr>
                      </a:pPr>
                      <a:r>
                        <a:t>Validation</a:t>
                      </a:r>
                    </a:p>
                  </a:txBody>
                  <a:tcPr>
                    <a:solidFill>
                      <a:srgbClr val="F4F7FA"/>
                    </a:solidFill>
                  </a:tcPr>
                </a:tc>
                <a:tc>
                  <a:txBody>
                    <a:bodyPr/>
                    <a:lstStyle/>
                    <a:p>
                      <a:pPr>
                        <a:defRPr sz="1500">
                          <a:solidFill>
                            <a:srgbClr val="25313F"/>
                          </a:solidFill>
                          <a:latin typeface="Aptos"/>
                        </a:defRPr>
                      </a:pPr>
                      <a:endParaRPr/>
                    </a:p>
                  </a:txBody>
                  <a:tcPr>
                    <a:solidFill>
                      <a:srgbClr val="F4F7FA"/>
                    </a:solidFill>
                  </a:tcPr>
                </a:tc>
                <a:tc>
                  <a:txBody>
                    <a:bodyPr/>
                    <a:lstStyle/>
                    <a:p>
                      <a:pPr>
                        <a:defRPr sz="1500">
                          <a:solidFill>
                            <a:srgbClr val="25313F"/>
                          </a:solidFill>
                          <a:latin typeface="Aptos"/>
                        </a:defRPr>
                      </a:pPr>
                      <a:endParaRPr/>
                    </a:p>
                  </a:txBody>
                  <a:tcPr>
                    <a:solidFill>
                      <a:srgbClr val="F4F7FA"/>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868680" y="5897880"/>
            <a:ext cx="10469880" cy="411480"/>
          </a:xfrm>
          <a:prstGeom prst="rect">
            <a:avLst/>
          </a:prstGeom>
          <a:noFill/>
        </p:spPr>
        <p:txBody>
          <a:bodyPr wrap="square" anchor="t">
            <a:spAutoFit/>
          </a:bodyPr>
          <a:lstStyle/>
          <a:p>
            <a:pPr algn="ctr">
              <a:defRPr sz="1600" b="1">
                <a:solidFill>
                  <a:srgbClr val="148F96"/>
                </a:solidFill>
                <a:latin typeface="Aptos"/>
              </a:defRPr>
            </a:pPr>
            <a:r>
              <a:t>Which output would you trust more in a real business workflow, and what would you still verify?</a:t>
            </a:r>
          </a:p>
        </p:txBody>
      </p:sp>
      <p:sp>
        <p:nvSpPr>
          <p:cNvPr id="8" name="Rectangle 7"/>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0" name="Slide Number Placeholder 9">
            <a:extLst>
              <a:ext uri="{FF2B5EF4-FFF2-40B4-BE49-F238E27FC236}">
                <a16:creationId xmlns:a16="http://schemas.microsoft.com/office/drawing/2014/main" id="{EC28C38F-55F1-B66F-A049-054E9CB056D1}"/>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Prompting Is Iterative</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The first prompt is rarely the final prompt.</a:t>
            </a:r>
          </a:p>
        </p:txBody>
      </p:sp>
      <p:sp>
        <p:nvSpPr>
          <p:cNvPr id="6" name="Rounded Rectangle 5"/>
          <p:cNvSpPr/>
          <p:nvPr/>
        </p:nvSpPr>
        <p:spPr>
          <a:xfrm>
            <a:off x="594360" y="2514600"/>
            <a:ext cx="1417320" cy="384048"/>
          </a:xfrm>
          <a:prstGeom prst="round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551176"/>
            <a:ext cx="1417320" cy="292608"/>
          </a:xfrm>
          <a:prstGeom prst="rect">
            <a:avLst/>
          </a:prstGeom>
          <a:noFill/>
        </p:spPr>
        <p:txBody>
          <a:bodyPr wrap="square" anchor="t">
            <a:spAutoFit/>
          </a:bodyPr>
          <a:lstStyle/>
          <a:p>
            <a:pPr algn="ctr">
              <a:defRPr sz="1150" b="1">
                <a:solidFill>
                  <a:srgbClr val="FFFFFF"/>
                </a:solidFill>
                <a:latin typeface="Aptos"/>
              </a:defRPr>
            </a:pPr>
            <a:r>
              <a:t>PROMPT</a:t>
            </a:r>
          </a:p>
        </p:txBody>
      </p:sp>
      <p:sp>
        <p:nvSpPr>
          <p:cNvPr id="8" name="Rounded Rectangle 7"/>
          <p:cNvSpPr/>
          <p:nvPr/>
        </p:nvSpPr>
        <p:spPr>
          <a:xfrm>
            <a:off x="2240280" y="2514600"/>
            <a:ext cx="141732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40280" y="2551176"/>
            <a:ext cx="1417320" cy="292608"/>
          </a:xfrm>
          <a:prstGeom prst="rect">
            <a:avLst/>
          </a:prstGeom>
          <a:noFill/>
        </p:spPr>
        <p:txBody>
          <a:bodyPr wrap="square" anchor="t">
            <a:spAutoFit/>
          </a:bodyPr>
          <a:lstStyle/>
          <a:p>
            <a:pPr algn="ctr">
              <a:defRPr sz="1150" b="1">
                <a:solidFill>
                  <a:srgbClr val="FFFFFF"/>
                </a:solidFill>
                <a:latin typeface="Aptos"/>
              </a:defRPr>
            </a:pPr>
            <a:r>
              <a:t>OUTPUT</a:t>
            </a:r>
          </a:p>
        </p:txBody>
      </p:sp>
      <p:sp>
        <p:nvSpPr>
          <p:cNvPr id="10" name="Rounded Rectangle 9"/>
          <p:cNvSpPr/>
          <p:nvPr/>
        </p:nvSpPr>
        <p:spPr>
          <a:xfrm>
            <a:off x="3886200" y="2514600"/>
            <a:ext cx="1417320" cy="384048"/>
          </a:xfrm>
          <a:prstGeom prst="round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86200" y="2551176"/>
            <a:ext cx="1417320" cy="292608"/>
          </a:xfrm>
          <a:prstGeom prst="rect">
            <a:avLst/>
          </a:prstGeom>
          <a:noFill/>
        </p:spPr>
        <p:txBody>
          <a:bodyPr wrap="square" anchor="t">
            <a:spAutoFit/>
          </a:bodyPr>
          <a:lstStyle/>
          <a:p>
            <a:pPr algn="ctr">
              <a:defRPr sz="1150" b="1">
                <a:solidFill>
                  <a:srgbClr val="FFFFFF"/>
                </a:solidFill>
                <a:latin typeface="Aptos"/>
              </a:defRPr>
            </a:pPr>
            <a:r>
              <a:t>REVIEW</a:t>
            </a:r>
          </a:p>
        </p:txBody>
      </p:sp>
      <p:sp>
        <p:nvSpPr>
          <p:cNvPr id="12" name="Rounded Rectangle 11"/>
          <p:cNvSpPr/>
          <p:nvPr/>
        </p:nvSpPr>
        <p:spPr>
          <a:xfrm>
            <a:off x="5532120" y="2514600"/>
            <a:ext cx="1417320" cy="384048"/>
          </a:xfrm>
          <a:prstGeom prst="round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32120" y="2551176"/>
            <a:ext cx="1417320" cy="292608"/>
          </a:xfrm>
          <a:prstGeom prst="rect">
            <a:avLst/>
          </a:prstGeom>
          <a:noFill/>
        </p:spPr>
        <p:txBody>
          <a:bodyPr wrap="square" anchor="t">
            <a:spAutoFit/>
          </a:bodyPr>
          <a:lstStyle/>
          <a:p>
            <a:pPr algn="ctr">
              <a:defRPr sz="1150" b="1">
                <a:solidFill>
                  <a:srgbClr val="FFFFFF"/>
                </a:solidFill>
                <a:latin typeface="Aptos"/>
              </a:defRPr>
            </a:pPr>
            <a:r>
              <a:t>IDENTIFY GAP</a:t>
            </a:r>
          </a:p>
        </p:txBody>
      </p:sp>
      <p:sp>
        <p:nvSpPr>
          <p:cNvPr id="14" name="Rounded Rectangle 13"/>
          <p:cNvSpPr/>
          <p:nvPr/>
        </p:nvSpPr>
        <p:spPr>
          <a:xfrm>
            <a:off x="7178040" y="2514600"/>
            <a:ext cx="1417320" cy="384048"/>
          </a:xfrm>
          <a:prstGeom prst="round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78040" y="2551176"/>
            <a:ext cx="1417320" cy="292608"/>
          </a:xfrm>
          <a:prstGeom prst="rect">
            <a:avLst/>
          </a:prstGeom>
          <a:noFill/>
        </p:spPr>
        <p:txBody>
          <a:bodyPr wrap="square" anchor="t">
            <a:spAutoFit/>
          </a:bodyPr>
          <a:lstStyle/>
          <a:p>
            <a:pPr algn="ctr">
              <a:defRPr sz="1150" b="1">
                <a:solidFill>
                  <a:srgbClr val="FFFFFF"/>
                </a:solidFill>
                <a:latin typeface="Aptos"/>
              </a:defRPr>
            </a:pPr>
            <a:r>
              <a:t>REFINE</a:t>
            </a:r>
          </a:p>
        </p:txBody>
      </p:sp>
      <p:sp>
        <p:nvSpPr>
          <p:cNvPr id="16" name="Rounded Rectangle 15"/>
          <p:cNvSpPr/>
          <p:nvPr/>
        </p:nvSpPr>
        <p:spPr>
          <a:xfrm>
            <a:off x="8823960" y="2514600"/>
            <a:ext cx="1417320" cy="384048"/>
          </a:xfrm>
          <a:prstGeom prst="roundRect">
            <a:avLst/>
          </a:prstGeom>
          <a:solidFill>
            <a:srgbClr val="49B4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23960" y="2551176"/>
            <a:ext cx="1417320" cy="292608"/>
          </a:xfrm>
          <a:prstGeom prst="rect">
            <a:avLst/>
          </a:prstGeom>
          <a:noFill/>
        </p:spPr>
        <p:txBody>
          <a:bodyPr wrap="square" anchor="t">
            <a:spAutoFit/>
          </a:bodyPr>
          <a:lstStyle/>
          <a:p>
            <a:pPr algn="ctr">
              <a:defRPr sz="1150" b="1">
                <a:solidFill>
                  <a:srgbClr val="FFFFFF"/>
                </a:solidFill>
                <a:latin typeface="Aptos"/>
              </a:defRPr>
            </a:pPr>
            <a:r>
              <a:t>NEW OUTPUT</a:t>
            </a:r>
          </a:p>
        </p:txBody>
      </p:sp>
      <p:sp>
        <p:nvSpPr>
          <p:cNvPr id="18" name="Rounded Rectangle 17"/>
          <p:cNvSpPr/>
          <p:nvPr/>
        </p:nvSpPr>
        <p:spPr>
          <a:xfrm>
            <a:off x="10469880" y="2514600"/>
            <a:ext cx="1417320" cy="384048"/>
          </a:xfrm>
          <a:prstGeom prst="roundRect">
            <a:avLst/>
          </a:prstGeom>
          <a:solidFill>
            <a:srgbClr val="11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469880" y="2551176"/>
            <a:ext cx="1417320" cy="292608"/>
          </a:xfrm>
          <a:prstGeom prst="rect">
            <a:avLst/>
          </a:prstGeom>
          <a:noFill/>
        </p:spPr>
        <p:txBody>
          <a:bodyPr wrap="square" anchor="t">
            <a:spAutoFit/>
          </a:bodyPr>
          <a:lstStyle/>
          <a:p>
            <a:pPr algn="ctr">
              <a:defRPr sz="1150" b="1">
                <a:solidFill>
                  <a:srgbClr val="FFFFFF"/>
                </a:solidFill>
                <a:latin typeface="Aptos"/>
              </a:defRPr>
            </a:pPr>
            <a:r>
              <a:t>VALIDATE</a:t>
            </a:r>
          </a:p>
        </p:txBody>
      </p:sp>
      <p:sp>
        <p:nvSpPr>
          <p:cNvPr id="20" name="TextBox 19"/>
          <p:cNvSpPr txBox="1"/>
          <p:nvPr/>
        </p:nvSpPr>
        <p:spPr>
          <a:xfrm>
            <a:off x="1097280" y="4206240"/>
            <a:ext cx="9966960" cy="502920"/>
          </a:xfrm>
          <a:prstGeom prst="rect">
            <a:avLst/>
          </a:prstGeom>
          <a:noFill/>
        </p:spPr>
        <p:txBody>
          <a:bodyPr wrap="square" anchor="t">
            <a:spAutoFit/>
          </a:bodyPr>
          <a:lstStyle/>
          <a:p>
            <a:pPr algn="ctr">
              <a:defRPr sz="2400" b="1">
                <a:solidFill>
                  <a:srgbClr val="111F35"/>
                </a:solidFill>
                <a:latin typeface="Aptos"/>
              </a:defRPr>
            </a:pPr>
            <a:r>
              <a:t>Prompt → output → inspect → refine → test → validate</a:t>
            </a:r>
          </a:p>
        </p:txBody>
      </p:sp>
      <p:sp>
        <p:nvSpPr>
          <p:cNvPr id="21" name="Rectangle 20"/>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23" name="Slide Number Placeholder 22">
            <a:extLst>
              <a:ext uri="{FF2B5EF4-FFF2-40B4-BE49-F238E27FC236}">
                <a16:creationId xmlns:a16="http://schemas.microsoft.com/office/drawing/2014/main" id="{9F8842FC-1B44-C9A9-67D7-21931DD9C601}"/>
              </a:ext>
            </a:extLst>
          </p:cNvPr>
          <p:cNvSpPr>
            <a:spLocks noGrp="1"/>
          </p:cNvSpPr>
          <p:nvPr>
            <p:ph type="sldNum" sz="quarter" idx="12"/>
          </p:nvPr>
        </p:nvSpPr>
        <p:spPr/>
        <p:txBody>
          <a:bodyPr/>
          <a:lstStyle/>
          <a:p>
            <a:fld id="{C1FF6DA9-008F-8B48-92A6-B652298478BF}" type="slidenum">
              <a:rPr lang="en-US" smtClean="0"/>
              <a:t>24</a:t>
            </a:fld>
            <a:endParaRPr lang="en-US"/>
          </a:p>
        </p:txBody>
      </p:sp>
      <p:sp>
        <p:nvSpPr>
          <p:cNvPr id="24" name="Arrow: Notched Right 23">
            <a:extLst>
              <a:ext uri="{FF2B5EF4-FFF2-40B4-BE49-F238E27FC236}">
                <a16:creationId xmlns:a16="http://schemas.microsoft.com/office/drawing/2014/main" id="{E04ADF1B-AFD1-7295-2805-D92CD655A87C}"/>
              </a:ext>
            </a:extLst>
          </p:cNvPr>
          <p:cNvSpPr/>
          <p:nvPr/>
        </p:nvSpPr>
        <p:spPr>
          <a:xfrm>
            <a:off x="2011680" y="2624328"/>
            <a:ext cx="228600" cy="164592"/>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Arrow: Notched Right 25">
            <a:extLst>
              <a:ext uri="{FF2B5EF4-FFF2-40B4-BE49-F238E27FC236}">
                <a16:creationId xmlns:a16="http://schemas.microsoft.com/office/drawing/2014/main" id="{C4ECDB1C-E33F-740E-573B-2895098C5EC8}"/>
              </a:ext>
            </a:extLst>
          </p:cNvPr>
          <p:cNvSpPr/>
          <p:nvPr/>
        </p:nvSpPr>
        <p:spPr>
          <a:xfrm>
            <a:off x="3645408" y="2630424"/>
            <a:ext cx="228600" cy="164592"/>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8" name="Arrow: Notched Right 27">
            <a:extLst>
              <a:ext uri="{FF2B5EF4-FFF2-40B4-BE49-F238E27FC236}">
                <a16:creationId xmlns:a16="http://schemas.microsoft.com/office/drawing/2014/main" id="{37BB6FE6-A2D4-1E4E-F1ED-DCE69D36CBD2}"/>
              </a:ext>
            </a:extLst>
          </p:cNvPr>
          <p:cNvSpPr/>
          <p:nvPr/>
        </p:nvSpPr>
        <p:spPr>
          <a:xfrm>
            <a:off x="5291328" y="2639568"/>
            <a:ext cx="228600" cy="164592"/>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0" name="Arrow: Notched Right 29">
            <a:extLst>
              <a:ext uri="{FF2B5EF4-FFF2-40B4-BE49-F238E27FC236}">
                <a16:creationId xmlns:a16="http://schemas.microsoft.com/office/drawing/2014/main" id="{8756135A-98F6-16D2-B607-711A439787D1}"/>
              </a:ext>
            </a:extLst>
          </p:cNvPr>
          <p:cNvSpPr/>
          <p:nvPr/>
        </p:nvSpPr>
        <p:spPr>
          <a:xfrm>
            <a:off x="6943344" y="2645664"/>
            <a:ext cx="228600" cy="164592"/>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2" name="Arrow: Notched Right 31">
            <a:extLst>
              <a:ext uri="{FF2B5EF4-FFF2-40B4-BE49-F238E27FC236}">
                <a16:creationId xmlns:a16="http://schemas.microsoft.com/office/drawing/2014/main" id="{2AA82823-D847-B532-D50B-7D8563C3A55F}"/>
              </a:ext>
            </a:extLst>
          </p:cNvPr>
          <p:cNvSpPr/>
          <p:nvPr/>
        </p:nvSpPr>
        <p:spPr>
          <a:xfrm>
            <a:off x="8583168" y="2639568"/>
            <a:ext cx="228600" cy="164592"/>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Arrow: Notched Right 33">
            <a:extLst>
              <a:ext uri="{FF2B5EF4-FFF2-40B4-BE49-F238E27FC236}">
                <a16:creationId xmlns:a16="http://schemas.microsoft.com/office/drawing/2014/main" id="{264FBF2F-3611-BB45-BAD2-4DA9AF248289}"/>
              </a:ext>
            </a:extLst>
          </p:cNvPr>
          <p:cNvSpPr/>
          <p:nvPr/>
        </p:nvSpPr>
        <p:spPr>
          <a:xfrm>
            <a:off x="10235184" y="2645664"/>
            <a:ext cx="228600" cy="164592"/>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Don't Fix the Prompt Until You Understand the Failure</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A poor answer does not always mean a poor prompt.</a:t>
            </a:r>
          </a:p>
        </p:txBody>
      </p:sp>
      <p:sp>
        <p:nvSpPr>
          <p:cNvPr id="6" name="Rounded Rectangle 5"/>
          <p:cNvSpPr/>
          <p:nvPr/>
        </p:nvSpPr>
        <p:spPr>
          <a:xfrm>
            <a:off x="685800" y="150876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508760"/>
            <a:ext cx="73152" cy="1508760"/>
          </a:xfrm>
          <a:prstGeom prst="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673351"/>
            <a:ext cx="2898648" cy="384048"/>
          </a:xfrm>
          <a:prstGeom prst="rect">
            <a:avLst/>
          </a:prstGeom>
          <a:noFill/>
        </p:spPr>
        <p:txBody>
          <a:bodyPr wrap="square" anchor="t">
            <a:spAutoFit/>
          </a:bodyPr>
          <a:lstStyle/>
          <a:p>
            <a:pPr algn="l">
              <a:defRPr sz="1600" b="1">
                <a:solidFill>
                  <a:srgbClr val="111F35"/>
                </a:solidFill>
                <a:latin typeface="Aptos"/>
              </a:defRPr>
            </a:pPr>
            <a:r>
              <a:t>Missing context</a:t>
            </a:r>
          </a:p>
        </p:txBody>
      </p:sp>
      <p:sp>
        <p:nvSpPr>
          <p:cNvPr id="9" name="TextBox 8"/>
          <p:cNvSpPr txBox="1"/>
          <p:nvPr/>
        </p:nvSpPr>
        <p:spPr>
          <a:xfrm>
            <a:off x="886968" y="2130552"/>
            <a:ext cx="2898648" cy="758952"/>
          </a:xfrm>
          <a:prstGeom prst="rect">
            <a:avLst/>
          </a:prstGeom>
          <a:noFill/>
        </p:spPr>
        <p:txBody>
          <a:bodyPr wrap="square" anchor="t">
            <a:spAutoFit/>
          </a:bodyPr>
          <a:lstStyle/>
          <a:p>
            <a:pPr algn="l">
              <a:defRPr sz="1300" b="0">
                <a:solidFill>
                  <a:srgbClr val="25313F"/>
                </a:solidFill>
                <a:latin typeface="Aptos"/>
              </a:defRPr>
            </a:pPr>
            <a:r>
              <a:t>AI does not have the information it needs.</a:t>
            </a:r>
          </a:p>
        </p:txBody>
      </p:sp>
      <p:sp>
        <p:nvSpPr>
          <p:cNvPr id="10" name="Rounded Rectangle 9"/>
          <p:cNvSpPr/>
          <p:nvPr/>
        </p:nvSpPr>
        <p:spPr>
          <a:xfrm>
            <a:off x="4389120" y="150876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508760"/>
            <a:ext cx="73152" cy="150876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0288" y="1673351"/>
            <a:ext cx="2898648" cy="384048"/>
          </a:xfrm>
          <a:prstGeom prst="rect">
            <a:avLst/>
          </a:prstGeom>
          <a:noFill/>
        </p:spPr>
        <p:txBody>
          <a:bodyPr wrap="square" anchor="t">
            <a:spAutoFit/>
          </a:bodyPr>
          <a:lstStyle/>
          <a:p>
            <a:pPr algn="l">
              <a:defRPr sz="1600" b="1">
                <a:solidFill>
                  <a:srgbClr val="111F35"/>
                </a:solidFill>
                <a:latin typeface="Aptos"/>
              </a:defRPr>
            </a:pPr>
            <a:r>
              <a:t>Ambiguous task</a:t>
            </a:r>
          </a:p>
        </p:txBody>
      </p:sp>
      <p:sp>
        <p:nvSpPr>
          <p:cNvPr id="13" name="TextBox 12"/>
          <p:cNvSpPr txBox="1"/>
          <p:nvPr/>
        </p:nvSpPr>
        <p:spPr>
          <a:xfrm>
            <a:off x="4590288" y="2130552"/>
            <a:ext cx="2898648" cy="758952"/>
          </a:xfrm>
          <a:prstGeom prst="rect">
            <a:avLst/>
          </a:prstGeom>
          <a:noFill/>
        </p:spPr>
        <p:txBody>
          <a:bodyPr wrap="square" anchor="t">
            <a:spAutoFit/>
          </a:bodyPr>
          <a:lstStyle/>
          <a:p>
            <a:pPr algn="l">
              <a:defRPr sz="1300" b="0">
                <a:solidFill>
                  <a:srgbClr val="25313F"/>
                </a:solidFill>
                <a:latin typeface="Aptos"/>
              </a:defRPr>
            </a:pPr>
            <a:r>
              <a:t>Multiple reasonable interpretations exist.</a:t>
            </a:r>
          </a:p>
        </p:txBody>
      </p:sp>
      <p:sp>
        <p:nvSpPr>
          <p:cNvPr id="14" name="Rounded Rectangle 13"/>
          <p:cNvSpPr/>
          <p:nvPr/>
        </p:nvSpPr>
        <p:spPr>
          <a:xfrm>
            <a:off x="8092440" y="150876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508760"/>
            <a:ext cx="73152" cy="1508760"/>
          </a:xfrm>
          <a:prstGeom prst="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93608" y="1673351"/>
            <a:ext cx="2898648" cy="384048"/>
          </a:xfrm>
          <a:prstGeom prst="rect">
            <a:avLst/>
          </a:prstGeom>
          <a:noFill/>
        </p:spPr>
        <p:txBody>
          <a:bodyPr wrap="square" anchor="t">
            <a:spAutoFit/>
          </a:bodyPr>
          <a:lstStyle/>
          <a:p>
            <a:pPr algn="l">
              <a:defRPr sz="1600" b="1">
                <a:solidFill>
                  <a:srgbClr val="111F35"/>
                </a:solidFill>
                <a:latin typeface="Aptos"/>
              </a:defRPr>
            </a:pPr>
            <a:r>
              <a:t>Wrong assumptions</a:t>
            </a:r>
          </a:p>
        </p:txBody>
      </p:sp>
      <p:sp>
        <p:nvSpPr>
          <p:cNvPr id="17" name="TextBox 16"/>
          <p:cNvSpPr txBox="1"/>
          <p:nvPr/>
        </p:nvSpPr>
        <p:spPr>
          <a:xfrm>
            <a:off x="8293608" y="2130552"/>
            <a:ext cx="2898648" cy="758952"/>
          </a:xfrm>
          <a:prstGeom prst="rect">
            <a:avLst/>
          </a:prstGeom>
          <a:noFill/>
        </p:spPr>
        <p:txBody>
          <a:bodyPr wrap="square" anchor="t">
            <a:spAutoFit/>
          </a:bodyPr>
          <a:lstStyle/>
          <a:p>
            <a:pPr algn="l">
              <a:defRPr sz="1300" b="0">
                <a:solidFill>
                  <a:srgbClr val="25313F"/>
                </a:solidFill>
                <a:latin typeface="Aptos"/>
              </a:defRPr>
            </a:pPr>
            <a:r>
              <a:t>The prompt silently embeds an assumption.</a:t>
            </a:r>
          </a:p>
        </p:txBody>
      </p:sp>
      <p:sp>
        <p:nvSpPr>
          <p:cNvPr id="18" name="Rounded Rectangle 17"/>
          <p:cNvSpPr/>
          <p:nvPr/>
        </p:nvSpPr>
        <p:spPr>
          <a:xfrm>
            <a:off x="685800" y="347472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 y="3474720"/>
            <a:ext cx="73152" cy="1508760"/>
          </a:xfrm>
          <a:prstGeom prst="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968" y="3639312"/>
            <a:ext cx="2898648" cy="384048"/>
          </a:xfrm>
          <a:prstGeom prst="rect">
            <a:avLst/>
          </a:prstGeom>
          <a:noFill/>
        </p:spPr>
        <p:txBody>
          <a:bodyPr wrap="square" anchor="t">
            <a:spAutoFit/>
          </a:bodyPr>
          <a:lstStyle/>
          <a:p>
            <a:pPr algn="l">
              <a:defRPr sz="1600" b="1">
                <a:solidFill>
                  <a:srgbClr val="111F35"/>
                </a:solidFill>
                <a:latin typeface="Aptos"/>
              </a:defRPr>
            </a:pPr>
            <a:r>
              <a:t>Bad source data</a:t>
            </a:r>
          </a:p>
        </p:txBody>
      </p:sp>
      <p:sp>
        <p:nvSpPr>
          <p:cNvPr id="21" name="TextBox 20"/>
          <p:cNvSpPr txBox="1"/>
          <p:nvPr/>
        </p:nvSpPr>
        <p:spPr>
          <a:xfrm>
            <a:off x="886968" y="4096511"/>
            <a:ext cx="2898648" cy="758952"/>
          </a:xfrm>
          <a:prstGeom prst="rect">
            <a:avLst/>
          </a:prstGeom>
          <a:noFill/>
        </p:spPr>
        <p:txBody>
          <a:bodyPr wrap="square" anchor="t">
            <a:spAutoFit/>
          </a:bodyPr>
          <a:lstStyle/>
          <a:p>
            <a:pPr algn="l">
              <a:defRPr sz="1300" b="0">
                <a:solidFill>
                  <a:srgbClr val="25313F"/>
                </a:solidFill>
                <a:latin typeface="Aptos"/>
              </a:defRPr>
            </a:pPr>
            <a:r>
              <a:t>The input itself is incomplete or wrong.</a:t>
            </a:r>
          </a:p>
        </p:txBody>
      </p:sp>
      <p:sp>
        <p:nvSpPr>
          <p:cNvPr id="22" name="Rounded Rectangle 21"/>
          <p:cNvSpPr/>
          <p:nvPr/>
        </p:nvSpPr>
        <p:spPr>
          <a:xfrm>
            <a:off x="4389120" y="347472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3474720"/>
            <a:ext cx="73152" cy="1508760"/>
          </a:xfrm>
          <a:prstGeom prst="rect">
            <a:avLst/>
          </a:prstGeom>
          <a:solidFill>
            <a:srgbClr val="11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0288" y="3639312"/>
            <a:ext cx="2898648" cy="384048"/>
          </a:xfrm>
          <a:prstGeom prst="rect">
            <a:avLst/>
          </a:prstGeom>
          <a:noFill/>
        </p:spPr>
        <p:txBody>
          <a:bodyPr wrap="square" anchor="t">
            <a:spAutoFit/>
          </a:bodyPr>
          <a:lstStyle/>
          <a:p>
            <a:pPr algn="l">
              <a:defRPr sz="1600" b="1">
                <a:solidFill>
                  <a:srgbClr val="111F35"/>
                </a:solidFill>
                <a:latin typeface="Aptos"/>
              </a:defRPr>
            </a:pPr>
            <a:r>
              <a:t>Capability limit</a:t>
            </a:r>
          </a:p>
        </p:txBody>
      </p:sp>
      <p:sp>
        <p:nvSpPr>
          <p:cNvPr id="25" name="TextBox 24"/>
          <p:cNvSpPr txBox="1"/>
          <p:nvPr/>
        </p:nvSpPr>
        <p:spPr>
          <a:xfrm>
            <a:off x="4590288" y="4096511"/>
            <a:ext cx="2898648" cy="758952"/>
          </a:xfrm>
          <a:prstGeom prst="rect">
            <a:avLst/>
          </a:prstGeom>
          <a:noFill/>
        </p:spPr>
        <p:txBody>
          <a:bodyPr wrap="square" anchor="t">
            <a:spAutoFit/>
          </a:bodyPr>
          <a:lstStyle/>
          <a:p>
            <a:pPr algn="l">
              <a:defRPr sz="1300" b="0">
                <a:solidFill>
                  <a:srgbClr val="25313F"/>
                </a:solidFill>
                <a:latin typeface="Aptos"/>
              </a:defRPr>
            </a:pPr>
            <a:r>
              <a:t>The task is beyond what the model can reliably do.</a:t>
            </a:r>
          </a:p>
        </p:txBody>
      </p:sp>
      <p:sp>
        <p:nvSpPr>
          <p:cNvPr id="26" name="Rounded Rectangle 25"/>
          <p:cNvSpPr/>
          <p:nvPr/>
        </p:nvSpPr>
        <p:spPr>
          <a:xfrm>
            <a:off x="8092440" y="3474720"/>
            <a:ext cx="3246120" cy="150876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092440" y="3474720"/>
            <a:ext cx="73152" cy="1508760"/>
          </a:xfrm>
          <a:prstGeom prst="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93608" y="3639312"/>
            <a:ext cx="2898648" cy="384048"/>
          </a:xfrm>
          <a:prstGeom prst="rect">
            <a:avLst/>
          </a:prstGeom>
          <a:noFill/>
        </p:spPr>
        <p:txBody>
          <a:bodyPr wrap="square" anchor="t">
            <a:spAutoFit/>
          </a:bodyPr>
          <a:lstStyle/>
          <a:p>
            <a:pPr algn="l">
              <a:defRPr sz="1600" b="1">
                <a:solidFill>
                  <a:srgbClr val="111F35"/>
                </a:solidFill>
                <a:latin typeface="Aptos"/>
              </a:defRPr>
            </a:pPr>
            <a:r>
              <a:t>Wrong tool</a:t>
            </a:r>
          </a:p>
        </p:txBody>
      </p:sp>
      <p:sp>
        <p:nvSpPr>
          <p:cNvPr id="29" name="TextBox 28"/>
          <p:cNvSpPr txBox="1"/>
          <p:nvPr/>
        </p:nvSpPr>
        <p:spPr>
          <a:xfrm>
            <a:off x="8293608" y="4096511"/>
            <a:ext cx="2898648" cy="758952"/>
          </a:xfrm>
          <a:prstGeom prst="rect">
            <a:avLst/>
          </a:prstGeom>
          <a:noFill/>
        </p:spPr>
        <p:txBody>
          <a:bodyPr wrap="square" anchor="t">
            <a:spAutoFit/>
          </a:bodyPr>
          <a:lstStyle/>
          <a:p>
            <a:pPr algn="l">
              <a:defRPr sz="1300" b="0">
                <a:solidFill>
                  <a:srgbClr val="25313F"/>
                </a:solidFill>
                <a:latin typeface="Aptos"/>
              </a:defRPr>
            </a:pPr>
            <a:r>
              <a:t>A deterministic or specialist tool is more appropriate.</a:t>
            </a:r>
          </a:p>
        </p:txBody>
      </p:sp>
      <p:sp>
        <p:nvSpPr>
          <p:cNvPr id="30" name="Rectangle 29"/>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32" name="Slide Number Placeholder 31">
            <a:extLst>
              <a:ext uri="{FF2B5EF4-FFF2-40B4-BE49-F238E27FC236}">
                <a16:creationId xmlns:a16="http://schemas.microsoft.com/office/drawing/2014/main" id="{C0F2FA70-6459-F1CA-5785-E6FCD8470C08}"/>
              </a:ext>
            </a:extLst>
          </p:cNvPr>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Prompting Anti-Patterns</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Five common mistakes to watch for.</a:t>
            </a:r>
          </a:p>
        </p:txBody>
      </p:sp>
      <p:sp>
        <p:nvSpPr>
          <p:cNvPr id="6" name="Rounded Rectangle 5"/>
          <p:cNvSpPr/>
          <p:nvPr/>
        </p:nvSpPr>
        <p:spPr>
          <a:xfrm>
            <a:off x="502920" y="1600200"/>
            <a:ext cx="2057400" cy="306324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600200"/>
            <a:ext cx="73152" cy="3063240"/>
          </a:xfrm>
          <a:prstGeom prst="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764792"/>
            <a:ext cx="1709928" cy="384048"/>
          </a:xfrm>
          <a:prstGeom prst="rect">
            <a:avLst/>
          </a:prstGeom>
          <a:noFill/>
        </p:spPr>
        <p:txBody>
          <a:bodyPr wrap="square" anchor="t">
            <a:spAutoFit/>
          </a:bodyPr>
          <a:lstStyle/>
          <a:p>
            <a:pPr algn="l">
              <a:defRPr sz="1500" b="1">
                <a:solidFill>
                  <a:srgbClr val="111F35"/>
                </a:solidFill>
                <a:latin typeface="Aptos"/>
              </a:defRPr>
            </a:pPr>
            <a:r>
              <a:t>TOO VAGUE</a:t>
            </a:r>
          </a:p>
        </p:txBody>
      </p:sp>
      <p:sp>
        <p:nvSpPr>
          <p:cNvPr id="9" name="TextBox 8"/>
          <p:cNvSpPr txBox="1"/>
          <p:nvPr/>
        </p:nvSpPr>
        <p:spPr>
          <a:xfrm>
            <a:off x="704088" y="2221992"/>
            <a:ext cx="1709928" cy="2313432"/>
          </a:xfrm>
          <a:prstGeom prst="rect">
            <a:avLst/>
          </a:prstGeom>
          <a:noFill/>
        </p:spPr>
        <p:txBody>
          <a:bodyPr wrap="square" anchor="t">
            <a:spAutoFit/>
          </a:bodyPr>
          <a:lstStyle/>
          <a:p>
            <a:pPr algn="l">
              <a:defRPr sz="1500" b="0">
                <a:solidFill>
                  <a:srgbClr val="25313F"/>
                </a:solidFill>
                <a:latin typeface="Aptos"/>
              </a:defRPr>
            </a:pPr>
            <a:r>
              <a:t>“Analyze this.”</a:t>
            </a:r>
          </a:p>
        </p:txBody>
      </p:sp>
      <p:sp>
        <p:nvSpPr>
          <p:cNvPr id="10" name="Rounded Rectangle 9"/>
          <p:cNvSpPr/>
          <p:nvPr/>
        </p:nvSpPr>
        <p:spPr>
          <a:xfrm>
            <a:off x="2807208" y="1600200"/>
            <a:ext cx="2057400" cy="306324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807208" y="1600200"/>
            <a:ext cx="73152" cy="3063240"/>
          </a:xfrm>
          <a:prstGeom prst="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08376" y="1764792"/>
            <a:ext cx="1709928" cy="384048"/>
          </a:xfrm>
          <a:prstGeom prst="rect">
            <a:avLst/>
          </a:prstGeom>
          <a:noFill/>
        </p:spPr>
        <p:txBody>
          <a:bodyPr wrap="square" anchor="t">
            <a:spAutoFit/>
          </a:bodyPr>
          <a:lstStyle/>
          <a:p>
            <a:pPr algn="l">
              <a:defRPr sz="1500" b="1">
                <a:solidFill>
                  <a:srgbClr val="111F35"/>
                </a:solidFill>
                <a:latin typeface="Aptos"/>
              </a:defRPr>
            </a:pPr>
            <a:r>
              <a:t>TOO LITTLE CONTEXT</a:t>
            </a:r>
          </a:p>
        </p:txBody>
      </p:sp>
      <p:sp>
        <p:nvSpPr>
          <p:cNvPr id="13" name="TextBox 12"/>
          <p:cNvSpPr txBox="1"/>
          <p:nvPr/>
        </p:nvSpPr>
        <p:spPr>
          <a:xfrm>
            <a:off x="3008376" y="2221992"/>
            <a:ext cx="1709928" cy="2313432"/>
          </a:xfrm>
          <a:prstGeom prst="rect">
            <a:avLst/>
          </a:prstGeom>
          <a:noFill/>
        </p:spPr>
        <p:txBody>
          <a:bodyPr wrap="square" anchor="t">
            <a:spAutoFit/>
          </a:bodyPr>
          <a:lstStyle/>
          <a:p>
            <a:pPr algn="l">
              <a:defRPr sz="1500" b="0">
                <a:solidFill>
                  <a:srgbClr val="25313F"/>
                </a:solidFill>
                <a:latin typeface="Aptos"/>
              </a:defRPr>
            </a:pPr>
            <a:r>
              <a:t>“What's the best option?”</a:t>
            </a:r>
          </a:p>
        </p:txBody>
      </p:sp>
      <p:sp>
        <p:nvSpPr>
          <p:cNvPr id="14" name="Rounded Rectangle 13"/>
          <p:cNvSpPr/>
          <p:nvPr/>
        </p:nvSpPr>
        <p:spPr>
          <a:xfrm>
            <a:off x="5111496" y="1600200"/>
            <a:ext cx="2057400" cy="306324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111496" y="1600200"/>
            <a:ext cx="73152" cy="3063240"/>
          </a:xfrm>
          <a:prstGeom prst="rect">
            <a:avLst/>
          </a:prstGeom>
          <a:solidFill>
            <a:srgbClr val="B94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12664" y="1764792"/>
            <a:ext cx="1709928" cy="384048"/>
          </a:xfrm>
          <a:prstGeom prst="rect">
            <a:avLst/>
          </a:prstGeom>
          <a:noFill/>
        </p:spPr>
        <p:txBody>
          <a:bodyPr wrap="square" anchor="t">
            <a:spAutoFit/>
          </a:bodyPr>
          <a:lstStyle/>
          <a:p>
            <a:pPr algn="l">
              <a:defRPr sz="1500" b="1">
                <a:solidFill>
                  <a:srgbClr val="111F35"/>
                </a:solidFill>
                <a:latin typeface="Aptos"/>
              </a:defRPr>
            </a:pPr>
            <a:r>
              <a:t>HIDDEN ASSUMPTIONS</a:t>
            </a:r>
          </a:p>
        </p:txBody>
      </p:sp>
      <p:sp>
        <p:nvSpPr>
          <p:cNvPr id="17" name="TextBox 16"/>
          <p:cNvSpPr txBox="1"/>
          <p:nvPr/>
        </p:nvSpPr>
        <p:spPr>
          <a:xfrm>
            <a:off x="5312664" y="2221992"/>
            <a:ext cx="1709928" cy="2313432"/>
          </a:xfrm>
          <a:prstGeom prst="rect">
            <a:avLst/>
          </a:prstGeom>
          <a:noFill/>
        </p:spPr>
        <p:txBody>
          <a:bodyPr wrap="square" anchor="t">
            <a:spAutoFit/>
          </a:bodyPr>
          <a:lstStyle/>
          <a:p>
            <a:pPr algn="l">
              <a:defRPr sz="1500" b="0">
                <a:solidFill>
                  <a:srgbClr val="25313F"/>
                </a:solidFill>
                <a:latin typeface="Aptos"/>
              </a:defRPr>
            </a:pPr>
            <a:r>
              <a:t>“Explain why the customer is unhappy.”</a:t>
            </a:r>
          </a:p>
        </p:txBody>
      </p:sp>
      <p:sp>
        <p:nvSpPr>
          <p:cNvPr id="18" name="Rounded Rectangle 17"/>
          <p:cNvSpPr/>
          <p:nvPr/>
        </p:nvSpPr>
        <p:spPr>
          <a:xfrm>
            <a:off x="7415784" y="1600200"/>
            <a:ext cx="2057400" cy="306324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15784" y="1600200"/>
            <a:ext cx="73152" cy="3063240"/>
          </a:xfrm>
          <a:prstGeom prst="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16952" y="1764792"/>
            <a:ext cx="1709928" cy="384048"/>
          </a:xfrm>
          <a:prstGeom prst="rect">
            <a:avLst/>
          </a:prstGeom>
          <a:noFill/>
        </p:spPr>
        <p:txBody>
          <a:bodyPr wrap="square" anchor="t">
            <a:spAutoFit/>
          </a:bodyPr>
          <a:lstStyle/>
          <a:p>
            <a:pPr algn="l">
              <a:defRPr sz="1500" b="1">
                <a:solidFill>
                  <a:srgbClr val="111F35"/>
                </a:solidFill>
                <a:latin typeface="Aptos"/>
              </a:defRPr>
            </a:pPr>
            <a:r>
              <a:t>NO OUTPUT SPEC</a:t>
            </a:r>
          </a:p>
        </p:txBody>
      </p:sp>
      <p:sp>
        <p:nvSpPr>
          <p:cNvPr id="21" name="TextBox 20"/>
          <p:cNvSpPr txBox="1"/>
          <p:nvPr/>
        </p:nvSpPr>
        <p:spPr>
          <a:xfrm>
            <a:off x="7616952" y="2221992"/>
            <a:ext cx="1709928" cy="2313432"/>
          </a:xfrm>
          <a:prstGeom prst="rect">
            <a:avLst/>
          </a:prstGeom>
          <a:noFill/>
        </p:spPr>
        <p:txBody>
          <a:bodyPr wrap="square" anchor="t">
            <a:spAutoFit/>
          </a:bodyPr>
          <a:lstStyle/>
          <a:p>
            <a:pPr algn="l">
              <a:defRPr sz="1500" b="0">
                <a:solidFill>
                  <a:srgbClr val="25313F"/>
                </a:solidFill>
                <a:latin typeface="Aptos"/>
              </a:defRPr>
            </a:pPr>
            <a:r>
              <a:t>“Give me some insights.”</a:t>
            </a:r>
          </a:p>
        </p:txBody>
      </p:sp>
      <p:sp>
        <p:nvSpPr>
          <p:cNvPr id="22" name="Rounded Rectangle 21"/>
          <p:cNvSpPr/>
          <p:nvPr/>
        </p:nvSpPr>
        <p:spPr>
          <a:xfrm>
            <a:off x="9720072" y="1600200"/>
            <a:ext cx="2057400" cy="306324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720072" y="1600200"/>
            <a:ext cx="73152" cy="3063240"/>
          </a:xfrm>
          <a:prstGeom prst="rect">
            <a:avLst/>
          </a:prstGeom>
          <a:solidFill>
            <a:srgbClr val="11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921240" y="1764792"/>
            <a:ext cx="1709928" cy="384048"/>
          </a:xfrm>
          <a:prstGeom prst="rect">
            <a:avLst/>
          </a:prstGeom>
          <a:noFill/>
        </p:spPr>
        <p:txBody>
          <a:bodyPr wrap="square" anchor="t">
            <a:spAutoFit/>
          </a:bodyPr>
          <a:lstStyle/>
          <a:p>
            <a:pPr algn="l">
              <a:defRPr sz="1500" b="1">
                <a:solidFill>
                  <a:srgbClr val="111F35"/>
                </a:solidFill>
                <a:latin typeface="Aptos"/>
              </a:defRPr>
            </a:pPr>
            <a:r>
              <a:t>NO VALIDATION</a:t>
            </a:r>
          </a:p>
        </p:txBody>
      </p:sp>
      <p:sp>
        <p:nvSpPr>
          <p:cNvPr id="25" name="TextBox 24"/>
          <p:cNvSpPr txBox="1"/>
          <p:nvPr/>
        </p:nvSpPr>
        <p:spPr>
          <a:xfrm>
            <a:off x="9921240" y="2221992"/>
            <a:ext cx="1709928" cy="2313432"/>
          </a:xfrm>
          <a:prstGeom prst="rect">
            <a:avLst/>
          </a:prstGeom>
          <a:noFill/>
        </p:spPr>
        <p:txBody>
          <a:bodyPr wrap="square" anchor="t">
            <a:spAutoFit/>
          </a:bodyPr>
          <a:lstStyle/>
          <a:p>
            <a:pPr algn="l">
              <a:defRPr sz="1500" b="0">
                <a:solidFill>
                  <a:srgbClr val="25313F"/>
                </a:solidFill>
                <a:latin typeface="Aptos"/>
              </a:defRPr>
            </a:pPr>
            <a:r>
              <a:t>“Tell me the answer.”</a:t>
            </a:r>
          </a:p>
        </p:txBody>
      </p:sp>
      <p:sp>
        <p:nvSpPr>
          <p:cNvPr id="26" name="TextBox 25"/>
          <p:cNvSpPr txBox="1"/>
          <p:nvPr/>
        </p:nvSpPr>
        <p:spPr>
          <a:xfrm>
            <a:off x="868680" y="5166360"/>
            <a:ext cx="10424160" cy="457200"/>
          </a:xfrm>
          <a:prstGeom prst="rect">
            <a:avLst/>
          </a:prstGeom>
          <a:noFill/>
        </p:spPr>
        <p:txBody>
          <a:bodyPr wrap="square" anchor="t">
            <a:spAutoFit/>
          </a:bodyPr>
          <a:lstStyle/>
          <a:p>
            <a:pPr algn="ctr">
              <a:defRPr sz="1900" b="1">
                <a:solidFill>
                  <a:srgbClr val="2C895B"/>
                </a:solidFill>
                <a:latin typeface="Aptos"/>
              </a:defRPr>
            </a:pPr>
            <a:r>
              <a:t>Safer wording: distinguish facts, evidence, interpretation and recommendation.</a:t>
            </a:r>
          </a:p>
        </p:txBody>
      </p:sp>
      <p:sp>
        <p:nvSpPr>
          <p:cNvPr id="27" name="Rectangle 26"/>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29" name="Slide Number Placeholder 28">
            <a:extLst>
              <a:ext uri="{FF2B5EF4-FFF2-40B4-BE49-F238E27FC236}">
                <a16:creationId xmlns:a16="http://schemas.microsoft.com/office/drawing/2014/main" id="{8164C193-C65A-BEFD-9153-B301D24E2266}"/>
              </a:ext>
            </a:extLst>
          </p:cNvPr>
          <p:cNvSpPr>
            <a:spLocks noGrp="1"/>
          </p:cNvSpPr>
          <p:nvPr>
            <p:ph type="sldNum" sz="quarter" idx="12"/>
          </p:nvPr>
        </p:nvSpPr>
        <p:spPr/>
        <p:txBody>
          <a:bodyPr/>
          <a:lstStyle/>
          <a:p>
            <a:fld id="{C1FF6DA9-008F-8B48-92A6-B652298478BF}"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Enterprise Prompting = Quality + Control</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A production-grade prompt supports a repeatable business task.</a:t>
            </a:r>
          </a:p>
        </p:txBody>
      </p:sp>
      <p:sp>
        <p:nvSpPr>
          <p:cNvPr id="6" name="Rounded Rectangle 5"/>
          <p:cNvSpPr/>
          <p:nvPr/>
        </p:nvSpPr>
        <p:spPr>
          <a:xfrm>
            <a:off x="5180076" y="1325880"/>
            <a:ext cx="1828800" cy="512064"/>
          </a:xfrm>
          <a:prstGeom prst="round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180076" y="1380744"/>
            <a:ext cx="1828800" cy="365760"/>
          </a:xfrm>
          <a:prstGeom prst="rect">
            <a:avLst/>
          </a:prstGeom>
          <a:noFill/>
        </p:spPr>
        <p:txBody>
          <a:bodyPr wrap="square" anchor="t">
            <a:spAutoFit/>
          </a:bodyPr>
          <a:lstStyle/>
          <a:p>
            <a:pPr algn="ctr">
              <a:defRPr sz="1300" b="1">
                <a:solidFill>
                  <a:srgbClr val="FFFFFF"/>
                </a:solidFill>
                <a:latin typeface="Aptos"/>
              </a:defRPr>
            </a:pPr>
            <a:r>
              <a:t>USEFUL</a:t>
            </a:r>
          </a:p>
        </p:txBody>
      </p:sp>
      <p:sp>
        <p:nvSpPr>
          <p:cNvPr id="8" name="Rounded Rectangle 7"/>
          <p:cNvSpPr/>
          <p:nvPr/>
        </p:nvSpPr>
        <p:spPr>
          <a:xfrm>
            <a:off x="4974336" y="1984248"/>
            <a:ext cx="2240280" cy="512064"/>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74336" y="2039112"/>
            <a:ext cx="2240280" cy="365760"/>
          </a:xfrm>
          <a:prstGeom prst="rect">
            <a:avLst/>
          </a:prstGeom>
          <a:noFill/>
        </p:spPr>
        <p:txBody>
          <a:bodyPr wrap="square" anchor="t">
            <a:spAutoFit/>
          </a:bodyPr>
          <a:lstStyle/>
          <a:p>
            <a:pPr algn="ctr">
              <a:defRPr sz="1300" b="1">
                <a:solidFill>
                  <a:srgbClr val="FFFFFF"/>
                </a:solidFill>
                <a:latin typeface="Aptos"/>
              </a:defRPr>
            </a:pPr>
            <a:r>
              <a:t>SPECIFIC</a:t>
            </a:r>
          </a:p>
        </p:txBody>
      </p:sp>
      <p:sp>
        <p:nvSpPr>
          <p:cNvPr id="10" name="Rounded Rectangle 9"/>
          <p:cNvSpPr/>
          <p:nvPr/>
        </p:nvSpPr>
        <p:spPr>
          <a:xfrm>
            <a:off x="4768596" y="2642615"/>
            <a:ext cx="2651760" cy="512064"/>
          </a:xfrm>
          <a:prstGeom prst="roundRect">
            <a:avLst/>
          </a:prstGeom>
          <a:solidFill>
            <a:srgbClr val="49B4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68596" y="2697479"/>
            <a:ext cx="2651760" cy="365760"/>
          </a:xfrm>
          <a:prstGeom prst="rect">
            <a:avLst/>
          </a:prstGeom>
          <a:noFill/>
        </p:spPr>
        <p:txBody>
          <a:bodyPr wrap="square" anchor="t">
            <a:spAutoFit/>
          </a:bodyPr>
          <a:lstStyle/>
          <a:p>
            <a:pPr algn="ctr">
              <a:defRPr sz="1300" b="1">
                <a:solidFill>
                  <a:srgbClr val="FFFFFF"/>
                </a:solidFill>
                <a:latin typeface="Aptos"/>
              </a:defRPr>
            </a:pPr>
            <a:r>
              <a:t>EVIDENCE-BASED</a:t>
            </a:r>
          </a:p>
        </p:txBody>
      </p:sp>
      <p:sp>
        <p:nvSpPr>
          <p:cNvPr id="12" name="Rounded Rectangle 11"/>
          <p:cNvSpPr/>
          <p:nvPr/>
        </p:nvSpPr>
        <p:spPr>
          <a:xfrm>
            <a:off x="4562856" y="3300984"/>
            <a:ext cx="3063240" cy="512064"/>
          </a:xfrm>
          <a:prstGeom prst="round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62856" y="3355848"/>
            <a:ext cx="3063240" cy="365760"/>
          </a:xfrm>
          <a:prstGeom prst="rect">
            <a:avLst/>
          </a:prstGeom>
          <a:noFill/>
        </p:spPr>
        <p:txBody>
          <a:bodyPr wrap="square" anchor="t">
            <a:spAutoFit/>
          </a:bodyPr>
          <a:lstStyle/>
          <a:p>
            <a:pPr algn="ctr">
              <a:defRPr sz="1300" b="1">
                <a:solidFill>
                  <a:srgbClr val="FFFFFF"/>
                </a:solidFill>
                <a:latin typeface="Aptos"/>
              </a:defRPr>
            </a:pPr>
            <a:r>
              <a:t>REPEATABLE</a:t>
            </a:r>
          </a:p>
        </p:txBody>
      </p:sp>
      <p:sp>
        <p:nvSpPr>
          <p:cNvPr id="14" name="Rounded Rectangle 13"/>
          <p:cNvSpPr/>
          <p:nvPr/>
        </p:nvSpPr>
        <p:spPr>
          <a:xfrm>
            <a:off x="4357116" y="3959352"/>
            <a:ext cx="3474720" cy="512064"/>
          </a:xfrm>
          <a:prstGeom prst="round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7116" y="4014215"/>
            <a:ext cx="3474720" cy="365760"/>
          </a:xfrm>
          <a:prstGeom prst="rect">
            <a:avLst/>
          </a:prstGeom>
          <a:noFill/>
        </p:spPr>
        <p:txBody>
          <a:bodyPr wrap="square" anchor="t">
            <a:spAutoFit/>
          </a:bodyPr>
          <a:lstStyle/>
          <a:p>
            <a:pPr algn="ctr">
              <a:defRPr sz="1300" b="1">
                <a:solidFill>
                  <a:srgbClr val="FFFFFF"/>
                </a:solidFill>
                <a:latin typeface="Aptos"/>
              </a:defRPr>
            </a:pPr>
            <a:r>
              <a:t>REVIEWABLE</a:t>
            </a:r>
          </a:p>
        </p:txBody>
      </p:sp>
      <p:sp>
        <p:nvSpPr>
          <p:cNvPr id="16" name="Rounded Rectangle 15"/>
          <p:cNvSpPr/>
          <p:nvPr/>
        </p:nvSpPr>
        <p:spPr>
          <a:xfrm>
            <a:off x="4151376" y="4617720"/>
            <a:ext cx="3886200" cy="512064"/>
          </a:xfrm>
          <a:prstGeom prst="roundRect">
            <a:avLst/>
          </a:prstGeom>
          <a:solidFill>
            <a:srgbClr val="11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51376" y="4672583"/>
            <a:ext cx="3886200" cy="365760"/>
          </a:xfrm>
          <a:prstGeom prst="rect">
            <a:avLst/>
          </a:prstGeom>
          <a:noFill/>
        </p:spPr>
        <p:txBody>
          <a:bodyPr wrap="square" anchor="t">
            <a:spAutoFit/>
          </a:bodyPr>
          <a:lstStyle/>
          <a:p>
            <a:pPr algn="ctr">
              <a:defRPr sz="1300" b="1">
                <a:solidFill>
                  <a:srgbClr val="FFFFFF"/>
                </a:solidFill>
                <a:latin typeface="Aptos"/>
              </a:defRPr>
            </a:pPr>
            <a:r>
              <a:t>SAFE</a:t>
            </a:r>
          </a:p>
        </p:txBody>
      </p:sp>
      <p:sp>
        <p:nvSpPr>
          <p:cNvPr id="18" name="TextBox 17"/>
          <p:cNvSpPr txBox="1"/>
          <p:nvPr/>
        </p:nvSpPr>
        <p:spPr>
          <a:xfrm>
            <a:off x="868680" y="5669280"/>
            <a:ext cx="10424160" cy="502920"/>
          </a:xfrm>
          <a:prstGeom prst="rect">
            <a:avLst/>
          </a:prstGeom>
          <a:noFill/>
        </p:spPr>
        <p:txBody>
          <a:bodyPr wrap="square" anchor="t">
            <a:spAutoFit/>
          </a:bodyPr>
          <a:lstStyle/>
          <a:p>
            <a:pPr algn="ctr">
              <a:defRPr sz="1700" b="1">
                <a:solidFill>
                  <a:srgbClr val="111F35"/>
                </a:solidFill>
                <a:latin typeface="Aptos"/>
              </a:defRPr>
            </a:pPr>
            <a:r>
              <a:t>“Production-grade” does not mean “very long”. It means clear boundaries, useful outputs and appropriate validation.</a:t>
            </a:r>
          </a:p>
        </p:txBody>
      </p:sp>
      <p:sp>
        <p:nvSpPr>
          <p:cNvPr id="19" name="Rectangle 18"/>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21" name="Slide Number Placeholder 20">
            <a:extLst>
              <a:ext uri="{FF2B5EF4-FFF2-40B4-BE49-F238E27FC236}">
                <a16:creationId xmlns:a16="http://schemas.microsoft.com/office/drawing/2014/main" id="{0454856D-3345-9EAB-0FED-FFCF46B79278}"/>
              </a:ext>
            </a:extLst>
          </p:cNvPr>
          <p:cNvSpPr>
            <a:spLocks noGrp="1"/>
          </p:cNvSpPr>
          <p:nvPr>
            <p:ph type="sldNum" sz="quarter" idx="12"/>
          </p:nvPr>
        </p:nvSpPr>
        <p:spPr/>
        <p:txBody>
          <a:bodyPr/>
          <a:lstStyle/>
          <a:p>
            <a:fld id="{C1FF6DA9-008F-8B48-92A6-B652298478BF}"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Start Building Your Prompt Library Today</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Capture what works, what fails and how you validated it.</a:t>
            </a:r>
          </a:p>
        </p:txBody>
      </p:sp>
      <p:graphicFrame>
        <p:nvGraphicFramePr>
          <p:cNvPr id="6" name="Table 5"/>
          <p:cNvGraphicFramePr>
            <a:graphicFrameLocks noGrp="1"/>
          </p:cNvGraphicFramePr>
          <p:nvPr/>
        </p:nvGraphicFramePr>
        <p:xfrm>
          <a:off x="868680" y="1417320"/>
          <a:ext cx="10469880" cy="452628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565785">
                <a:tc>
                  <a:txBody>
                    <a:bodyPr/>
                    <a:lstStyle/>
                    <a:p>
                      <a:pPr>
                        <a:defRPr sz="1400" b="1">
                          <a:solidFill>
                            <a:srgbClr val="FFFFFF"/>
                          </a:solidFill>
                          <a:latin typeface="Aptos"/>
                        </a:defRPr>
                      </a:pPr>
                      <a:r>
                        <a:t>Capture</a:t>
                      </a:r>
                    </a:p>
                  </a:txBody>
                  <a:tcPr>
                    <a:solidFill>
                      <a:srgbClr val="111F35"/>
                    </a:solidFill>
                  </a:tcPr>
                </a:tc>
                <a:tc>
                  <a:txBody>
                    <a:bodyPr/>
                    <a:lstStyle/>
                    <a:p>
                      <a:pPr>
                        <a:defRPr sz="1400" b="1">
                          <a:solidFill>
                            <a:srgbClr val="FFFFFF"/>
                          </a:solidFill>
                          <a:latin typeface="Aptos"/>
                        </a:defRPr>
                      </a:pPr>
                      <a:r>
                        <a:t>Why it matters</a:t>
                      </a:r>
                    </a:p>
                  </a:txBody>
                  <a:tcPr>
                    <a:solidFill>
                      <a:srgbClr val="111F35"/>
                    </a:solidFill>
                  </a:tcPr>
                </a:tc>
                <a:extLst>
                  <a:ext uri="{0D108BD9-81ED-4DB2-BD59-A6C34878D82A}">
                    <a16:rowId xmlns:a16="http://schemas.microsoft.com/office/drawing/2014/main" val="10000"/>
                  </a:ext>
                </a:extLst>
              </a:tr>
              <a:tr h="565785">
                <a:tc>
                  <a:txBody>
                    <a:bodyPr/>
                    <a:lstStyle/>
                    <a:p>
                      <a:pPr>
                        <a:defRPr sz="1400">
                          <a:solidFill>
                            <a:srgbClr val="25313F"/>
                          </a:solidFill>
                          <a:latin typeface="Aptos"/>
                        </a:defRPr>
                      </a:pPr>
                      <a:r>
                        <a:t>Prompt</a:t>
                      </a:r>
                    </a:p>
                  </a:txBody>
                  <a:tcPr>
                    <a:solidFill>
                      <a:srgbClr val="FFFFFF"/>
                    </a:solidFill>
                  </a:tcPr>
                </a:tc>
                <a:tc>
                  <a:txBody>
                    <a:bodyPr/>
                    <a:lstStyle/>
                    <a:p>
                      <a:pPr>
                        <a:defRPr sz="1400">
                          <a:solidFill>
                            <a:srgbClr val="25313F"/>
                          </a:solidFill>
                          <a:latin typeface="Aptos"/>
                        </a:defRPr>
                      </a:pPr>
                      <a:r>
                        <a:t>Reusable instruction</a:t>
                      </a:r>
                    </a:p>
                  </a:txBody>
                  <a:tcPr>
                    <a:solidFill>
                      <a:srgbClr val="FFFFFF"/>
                    </a:solidFill>
                  </a:tcPr>
                </a:tc>
                <a:extLst>
                  <a:ext uri="{0D108BD9-81ED-4DB2-BD59-A6C34878D82A}">
                    <a16:rowId xmlns:a16="http://schemas.microsoft.com/office/drawing/2014/main" val="10001"/>
                  </a:ext>
                </a:extLst>
              </a:tr>
              <a:tr h="565785">
                <a:tc>
                  <a:txBody>
                    <a:bodyPr/>
                    <a:lstStyle/>
                    <a:p>
                      <a:pPr>
                        <a:defRPr sz="1400">
                          <a:solidFill>
                            <a:srgbClr val="25313F"/>
                          </a:solidFill>
                          <a:latin typeface="Aptos"/>
                        </a:defRPr>
                      </a:pPr>
                      <a:r>
                        <a:t>Use Case</a:t>
                      </a:r>
                    </a:p>
                  </a:txBody>
                  <a:tcPr>
                    <a:solidFill>
                      <a:srgbClr val="F4F7FA"/>
                    </a:solidFill>
                  </a:tcPr>
                </a:tc>
                <a:tc>
                  <a:txBody>
                    <a:bodyPr/>
                    <a:lstStyle/>
                    <a:p>
                      <a:pPr>
                        <a:defRPr sz="1400">
                          <a:solidFill>
                            <a:srgbClr val="25313F"/>
                          </a:solidFill>
                          <a:latin typeface="Aptos"/>
                        </a:defRPr>
                      </a:pPr>
                      <a:r>
                        <a:t>When to use it</a:t>
                      </a:r>
                    </a:p>
                  </a:txBody>
                  <a:tcPr>
                    <a:solidFill>
                      <a:srgbClr val="F4F7FA"/>
                    </a:solidFill>
                  </a:tcPr>
                </a:tc>
                <a:extLst>
                  <a:ext uri="{0D108BD9-81ED-4DB2-BD59-A6C34878D82A}">
                    <a16:rowId xmlns:a16="http://schemas.microsoft.com/office/drawing/2014/main" val="10002"/>
                  </a:ext>
                </a:extLst>
              </a:tr>
              <a:tr h="565785">
                <a:tc>
                  <a:txBody>
                    <a:bodyPr/>
                    <a:lstStyle/>
                    <a:p>
                      <a:pPr>
                        <a:defRPr sz="1400">
                          <a:solidFill>
                            <a:srgbClr val="25313F"/>
                          </a:solidFill>
                          <a:latin typeface="Aptos"/>
                        </a:defRPr>
                      </a:pPr>
                      <a:r>
                        <a:t>Input / Context</a:t>
                      </a:r>
                    </a:p>
                  </a:txBody>
                  <a:tcPr>
                    <a:solidFill>
                      <a:srgbClr val="FFFFFF"/>
                    </a:solidFill>
                  </a:tcPr>
                </a:tc>
                <a:tc>
                  <a:txBody>
                    <a:bodyPr/>
                    <a:lstStyle/>
                    <a:p>
                      <a:pPr>
                        <a:defRPr sz="1400">
                          <a:solidFill>
                            <a:srgbClr val="25313F"/>
                          </a:solidFill>
                          <a:latin typeface="Aptos"/>
                        </a:defRPr>
                      </a:pPr>
                      <a:r>
                        <a:t>What it needs</a:t>
                      </a:r>
                    </a:p>
                  </a:txBody>
                  <a:tcPr>
                    <a:solidFill>
                      <a:srgbClr val="FFFFFF"/>
                    </a:solidFill>
                  </a:tcPr>
                </a:tc>
                <a:extLst>
                  <a:ext uri="{0D108BD9-81ED-4DB2-BD59-A6C34878D82A}">
                    <a16:rowId xmlns:a16="http://schemas.microsoft.com/office/drawing/2014/main" val="10003"/>
                  </a:ext>
                </a:extLst>
              </a:tr>
              <a:tr h="565785">
                <a:tc>
                  <a:txBody>
                    <a:bodyPr/>
                    <a:lstStyle/>
                    <a:p>
                      <a:pPr>
                        <a:defRPr sz="1400">
                          <a:solidFill>
                            <a:srgbClr val="25313F"/>
                          </a:solidFill>
                          <a:latin typeface="Aptos"/>
                        </a:defRPr>
                      </a:pPr>
                      <a:r>
                        <a:t>Expected Output</a:t>
                      </a:r>
                    </a:p>
                  </a:txBody>
                  <a:tcPr>
                    <a:solidFill>
                      <a:srgbClr val="F4F7FA"/>
                    </a:solidFill>
                  </a:tcPr>
                </a:tc>
                <a:tc>
                  <a:txBody>
                    <a:bodyPr/>
                    <a:lstStyle/>
                    <a:p>
                      <a:pPr>
                        <a:defRPr sz="1400">
                          <a:solidFill>
                            <a:srgbClr val="25313F"/>
                          </a:solidFill>
                          <a:latin typeface="Aptos"/>
                        </a:defRPr>
                      </a:pPr>
                      <a:r>
                        <a:t>What good looks like</a:t>
                      </a:r>
                    </a:p>
                  </a:txBody>
                  <a:tcPr>
                    <a:solidFill>
                      <a:srgbClr val="F4F7FA"/>
                    </a:solidFill>
                  </a:tcPr>
                </a:tc>
                <a:extLst>
                  <a:ext uri="{0D108BD9-81ED-4DB2-BD59-A6C34878D82A}">
                    <a16:rowId xmlns:a16="http://schemas.microsoft.com/office/drawing/2014/main" val="10004"/>
                  </a:ext>
                </a:extLst>
              </a:tr>
              <a:tr h="565785">
                <a:tc>
                  <a:txBody>
                    <a:bodyPr/>
                    <a:lstStyle/>
                    <a:p>
                      <a:pPr>
                        <a:defRPr sz="1400">
                          <a:solidFill>
                            <a:srgbClr val="25313F"/>
                          </a:solidFill>
                          <a:latin typeface="Aptos"/>
                        </a:defRPr>
                      </a:pPr>
                      <a:r>
                        <a:t>What Worked / Failed</a:t>
                      </a:r>
                    </a:p>
                  </a:txBody>
                  <a:tcPr>
                    <a:solidFill>
                      <a:srgbClr val="FFFFFF"/>
                    </a:solidFill>
                  </a:tcPr>
                </a:tc>
                <a:tc>
                  <a:txBody>
                    <a:bodyPr/>
                    <a:lstStyle/>
                    <a:p>
                      <a:pPr>
                        <a:defRPr sz="1400">
                          <a:solidFill>
                            <a:srgbClr val="25313F"/>
                          </a:solidFill>
                          <a:latin typeface="Aptos"/>
                        </a:defRPr>
                      </a:pPr>
                      <a:r>
                        <a:t>Learning</a:t>
                      </a:r>
                    </a:p>
                  </a:txBody>
                  <a:tcPr>
                    <a:solidFill>
                      <a:srgbClr val="FFFFFF"/>
                    </a:solidFill>
                  </a:tcPr>
                </a:tc>
                <a:extLst>
                  <a:ext uri="{0D108BD9-81ED-4DB2-BD59-A6C34878D82A}">
                    <a16:rowId xmlns:a16="http://schemas.microsoft.com/office/drawing/2014/main" val="10005"/>
                  </a:ext>
                </a:extLst>
              </a:tr>
              <a:tr h="565785">
                <a:tc>
                  <a:txBody>
                    <a:bodyPr/>
                    <a:lstStyle/>
                    <a:p>
                      <a:pPr>
                        <a:defRPr sz="1400">
                          <a:solidFill>
                            <a:srgbClr val="25313F"/>
                          </a:solidFill>
                          <a:latin typeface="Aptos"/>
                        </a:defRPr>
                      </a:pPr>
                      <a:r>
                        <a:t>Validation Method</a:t>
                      </a:r>
                    </a:p>
                  </a:txBody>
                  <a:tcPr>
                    <a:solidFill>
                      <a:srgbClr val="F4F7FA"/>
                    </a:solidFill>
                  </a:tcPr>
                </a:tc>
                <a:tc>
                  <a:txBody>
                    <a:bodyPr/>
                    <a:lstStyle/>
                    <a:p>
                      <a:pPr>
                        <a:defRPr sz="1400">
                          <a:solidFill>
                            <a:srgbClr val="25313F"/>
                          </a:solidFill>
                          <a:latin typeface="Aptos"/>
                        </a:defRPr>
                      </a:pPr>
                      <a:r>
                        <a:t>How you checked it</a:t>
                      </a:r>
                    </a:p>
                  </a:txBody>
                  <a:tcPr>
                    <a:solidFill>
                      <a:srgbClr val="F4F7FA"/>
                    </a:solidFill>
                  </a:tcPr>
                </a:tc>
                <a:extLst>
                  <a:ext uri="{0D108BD9-81ED-4DB2-BD59-A6C34878D82A}">
                    <a16:rowId xmlns:a16="http://schemas.microsoft.com/office/drawing/2014/main" val="10006"/>
                  </a:ext>
                </a:extLst>
              </a:tr>
              <a:tr h="565785">
                <a:tc>
                  <a:txBody>
                    <a:bodyPr/>
                    <a:lstStyle/>
                    <a:p>
                      <a:pPr>
                        <a:defRPr sz="1400">
                          <a:solidFill>
                            <a:srgbClr val="25313F"/>
                          </a:solidFill>
                          <a:latin typeface="Aptos"/>
                        </a:defRPr>
                      </a:pPr>
                      <a:r>
                        <a:t>Improved Version</a:t>
                      </a:r>
                    </a:p>
                  </a:txBody>
                  <a:tcPr>
                    <a:solidFill>
                      <a:srgbClr val="FFFFFF"/>
                    </a:solidFill>
                  </a:tcPr>
                </a:tc>
                <a:tc>
                  <a:txBody>
                    <a:bodyPr/>
                    <a:lstStyle/>
                    <a:p>
                      <a:pPr>
                        <a:defRPr sz="1400">
                          <a:solidFill>
                            <a:srgbClr val="25313F"/>
                          </a:solidFill>
                          <a:latin typeface="Aptos"/>
                        </a:defRPr>
                      </a:pPr>
                      <a:r>
                        <a:t>Current best prompt</a:t>
                      </a:r>
                    </a:p>
                  </a:txBody>
                  <a:tcPr>
                    <a:solidFill>
                      <a:srgbClr val="FFFF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914400" y="5989320"/>
            <a:ext cx="10241280" cy="365760"/>
          </a:xfrm>
          <a:prstGeom prst="rect">
            <a:avLst/>
          </a:prstGeom>
          <a:noFill/>
        </p:spPr>
        <p:txBody>
          <a:bodyPr wrap="square" anchor="t">
            <a:spAutoFit/>
          </a:bodyPr>
          <a:lstStyle/>
          <a:p>
            <a:pPr algn="ctr">
              <a:defRPr sz="1700" b="1">
                <a:solidFill>
                  <a:srgbClr val="148F96"/>
                </a:solidFill>
                <a:latin typeface="Aptos"/>
              </a:defRPr>
            </a:pPr>
            <a:r>
              <a:t>The goal is not a collection of clever prompts. It is a reusable work asset.</a:t>
            </a:r>
          </a:p>
        </p:txBody>
      </p:sp>
      <p:sp>
        <p:nvSpPr>
          <p:cNvPr id="8" name="Rectangle 7"/>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0" name="Slide Number Placeholder 9">
            <a:extLst>
              <a:ext uri="{FF2B5EF4-FFF2-40B4-BE49-F238E27FC236}">
                <a16:creationId xmlns:a16="http://schemas.microsoft.com/office/drawing/2014/main" id="{70753F99-853C-EB00-836E-458BAB26F0E1}"/>
              </a:ext>
            </a:extLst>
          </p:cNvPr>
          <p:cNvSpPr>
            <a:spLocks noGrp="1"/>
          </p:cNvSpPr>
          <p:nvPr>
            <p:ph type="sldNum" sz="quarter" idx="12"/>
          </p:nvPr>
        </p:nvSpPr>
        <p:spPr/>
        <p:txBody>
          <a:bodyPr/>
          <a:lstStyle/>
          <a:p>
            <a:fld id="{C1FF6DA9-008F-8B48-92A6-B652298478BF}"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E9D44-2039-08E9-0880-2B5F9FC9E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F552F-294C-5685-8CD0-1DCBCBD15218}"/>
              </a:ext>
            </a:extLst>
          </p:cNvPr>
          <p:cNvSpPr>
            <a:spLocks noGrp="1"/>
          </p:cNvSpPr>
          <p:nvPr>
            <p:ph type="title"/>
          </p:nvPr>
        </p:nvSpPr>
        <p:spPr>
          <a:xfrm>
            <a:off x="457199" y="274638"/>
            <a:ext cx="11282855" cy="1143000"/>
          </a:xfrm>
        </p:spPr>
        <p:txBody>
          <a:bodyPr/>
          <a:lstStyle/>
          <a:p>
            <a:r>
              <a:rPr lang="en-US" dirty="0"/>
              <a:t>Feedback</a:t>
            </a:r>
            <a:endParaRPr lang="en-IN" dirty="0"/>
          </a:p>
        </p:txBody>
      </p:sp>
      <p:sp>
        <p:nvSpPr>
          <p:cNvPr id="3" name="Content Placeholder 2">
            <a:extLst>
              <a:ext uri="{FF2B5EF4-FFF2-40B4-BE49-F238E27FC236}">
                <a16:creationId xmlns:a16="http://schemas.microsoft.com/office/drawing/2014/main" id="{A6F2F58D-D62A-9619-586E-0F20E901E56D}"/>
              </a:ext>
            </a:extLst>
          </p:cNvPr>
          <p:cNvSpPr>
            <a:spLocks noGrp="1"/>
          </p:cNvSpPr>
          <p:nvPr>
            <p:ph idx="1"/>
          </p:nvPr>
        </p:nvSpPr>
        <p:spPr>
          <a:xfrm>
            <a:off x="457199" y="1600200"/>
            <a:ext cx="11282855" cy="4525963"/>
          </a:xfrm>
        </p:spPr>
        <p:txBody>
          <a:bodyPr/>
          <a:lstStyle/>
          <a:p>
            <a:pPr marL="0" indent="0" algn="ctr">
              <a:buNone/>
            </a:pPr>
            <a:r>
              <a:rPr lang="en-IN" dirty="0">
                <a:hlinkClick r:id="rId2"/>
              </a:rPr>
              <a:t>https://www.surveymonkey.com/r/TC5BGXZ</a:t>
            </a:r>
            <a:endParaRPr lang="en-IN" dirty="0"/>
          </a:p>
          <a:p>
            <a:pPr marL="0" indent="0" algn="ctr">
              <a:buNone/>
            </a:pPr>
            <a:endParaRPr lang="en-IN" dirty="0"/>
          </a:p>
        </p:txBody>
      </p:sp>
      <p:sp>
        <p:nvSpPr>
          <p:cNvPr id="4" name="Slide Number Placeholder 3">
            <a:extLst>
              <a:ext uri="{FF2B5EF4-FFF2-40B4-BE49-F238E27FC236}">
                <a16:creationId xmlns:a16="http://schemas.microsoft.com/office/drawing/2014/main" id="{2FF98606-978E-11FE-61F2-AC78BABAFF54}"/>
              </a:ext>
            </a:extLst>
          </p:cNvPr>
          <p:cNvSpPr>
            <a:spLocks noGrp="1"/>
          </p:cNvSpPr>
          <p:nvPr>
            <p:ph type="sldNum" sz="quarter" idx="12"/>
          </p:nvPr>
        </p:nvSpPr>
        <p:spPr/>
        <p:txBody>
          <a:bodyPr/>
          <a:lstStyle/>
          <a:p>
            <a:fld id="{C1FF6DA9-008F-8B48-92A6-B652298478BF}" type="slidenum">
              <a:rPr lang="en-US" smtClean="0"/>
              <a:t>29</a:t>
            </a:fld>
            <a:endParaRPr lang="en-US"/>
          </a:p>
        </p:txBody>
      </p:sp>
      <p:pic>
        <p:nvPicPr>
          <p:cNvPr id="6" name="Picture 5">
            <a:extLst>
              <a:ext uri="{FF2B5EF4-FFF2-40B4-BE49-F238E27FC236}">
                <a16:creationId xmlns:a16="http://schemas.microsoft.com/office/drawing/2014/main" id="{A2359A69-7D30-FAC6-0368-B843ACBF04DC}"/>
              </a:ext>
            </a:extLst>
          </p:cNvPr>
          <p:cNvPicPr>
            <a:picLocks noChangeAspect="1"/>
          </p:cNvPicPr>
          <p:nvPr/>
        </p:nvPicPr>
        <p:blipFill>
          <a:blip r:embed="rId3"/>
          <a:stretch>
            <a:fillRect/>
          </a:stretch>
        </p:blipFill>
        <p:spPr>
          <a:xfrm>
            <a:off x="3908679" y="2084070"/>
            <a:ext cx="4374642" cy="4374642"/>
          </a:xfrm>
          <a:prstGeom prst="rect">
            <a:avLst/>
          </a:prstGeom>
        </p:spPr>
      </p:pic>
    </p:spTree>
    <p:extLst>
      <p:ext uri="{BB962C8B-B14F-4D97-AF65-F5344CB8AC3E}">
        <p14:creationId xmlns:p14="http://schemas.microsoft.com/office/powerpoint/2010/main" val="2438642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Hands-on Lab: Prompt Doctor</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Diagnose → Rewrite → Test → Compare</a:t>
            </a:r>
          </a:p>
        </p:txBody>
      </p:sp>
      <p:sp>
        <p:nvSpPr>
          <p:cNvPr id="6" name="TextBox 5"/>
          <p:cNvSpPr txBox="1"/>
          <p:nvPr/>
        </p:nvSpPr>
        <p:spPr>
          <a:xfrm>
            <a:off x="868680" y="1417320"/>
            <a:ext cx="10424160" cy="502920"/>
          </a:xfrm>
          <a:prstGeom prst="rect">
            <a:avLst/>
          </a:prstGeom>
          <a:noFill/>
        </p:spPr>
        <p:txBody>
          <a:bodyPr wrap="square" anchor="t">
            <a:spAutoFit/>
          </a:bodyPr>
          <a:lstStyle/>
          <a:p>
            <a:pPr algn="ctr">
              <a:defRPr sz="2300" b="1">
                <a:solidFill>
                  <a:srgbClr val="111F35"/>
                </a:solidFill>
                <a:latin typeface="Aptos"/>
              </a:defRPr>
            </a:pPr>
            <a:r>
              <a:t>You will work with FIVE deliberately weak prompts.</a:t>
            </a:r>
          </a:p>
        </p:txBody>
      </p:sp>
      <p:sp>
        <p:nvSpPr>
          <p:cNvPr id="7" name="Rounded Rectangle 6"/>
          <p:cNvSpPr/>
          <p:nvPr/>
        </p:nvSpPr>
        <p:spPr>
          <a:xfrm>
            <a:off x="868680" y="2240280"/>
            <a:ext cx="2423160" cy="21031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68680" y="2240280"/>
            <a:ext cx="73152" cy="2103120"/>
          </a:xfrm>
          <a:prstGeom prst="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9848" y="2404872"/>
            <a:ext cx="2075688" cy="384048"/>
          </a:xfrm>
          <a:prstGeom prst="rect">
            <a:avLst/>
          </a:prstGeom>
          <a:noFill/>
        </p:spPr>
        <p:txBody>
          <a:bodyPr wrap="square" anchor="t">
            <a:spAutoFit/>
          </a:bodyPr>
          <a:lstStyle/>
          <a:p>
            <a:pPr algn="l">
              <a:defRPr sz="1700" b="1">
                <a:solidFill>
                  <a:srgbClr val="111F35"/>
                </a:solidFill>
                <a:latin typeface="Aptos"/>
              </a:defRPr>
            </a:pPr>
            <a:r>
              <a:t>1. DIAGNOSE</a:t>
            </a:r>
          </a:p>
        </p:txBody>
      </p:sp>
      <p:sp>
        <p:nvSpPr>
          <p:cNvPr id="10" name="TextBox 9"/>
          <p:cNvSpPr txBox="1"/>
          <p:nvPr/>
        </p:nvSpPr>
        <p:spPr>
          <a:xfrm>
            <a:off x="1069848" y="2862072"/>
            <a:ext cx="2075688" cy="1353312"/>
          </a:xfrm>
          <a:prstGeom prst="rect">
            <a:avLst/>
          </a:prstGeom>
          <a:noFill/>
        </p:spPr>
        <p:txBody>
          <a:bodyPr wrap="square" anchor="t">
            <a:spAutoFit/>
          </a:bodyPr>
          <a:lstStyle/>
          <a:p>
            <a:pPr algn="l">
              <a:defRPr sz="1500" b="0">
                <a:solidFill>
                  <a:srgbClr val="25313F"/>
                </a:solidFill>
                <a:latin typeface="Aptos"/>
              </a:defRPr>
            </a:pPr>
            <a:r>
              <a:t>What is missing?</a:t>
            </a:r>
            <a:br/>
            <a:r>
              <a:t>What is ambiguous?</a:t>
            </a:r>
            <a:br/>
            <a:r>
              <a:t>What could AI assume?</a:t>
            </a:r>
          </a:p>
        </p:txBody>
      </p:sp>
      <p:sp>
        <p:nvSpPr>
          <p:cNvPr id="11" name="Rounded Rectangle 10"/>
          <p:cNvSpPr/>
          <p:nvPr/>
        </p:nvSpPr>
        <p:spPr>
          <a:xfrm>
            <a:off x="3694176" y="2240280"/>
            <a:ext cx="2423160" cy="21031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94176" y="2240280"/>
            <a:ext cx="73152" cy="210312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95344" y="2404872"/>
            <a:ext cx="2075688" cy="384048"/>
          </a:xfrm>
          <a:prstGeom prst="rect">
            <a:avLst/>
          </a:prstGeom>
          <a:noFill/>
        </p:spPr>
        <p:txBody>
          <a:bodyPr wrap="square" anchor="t">
            <a:spAutoFit/>
          </a:bodyPr>
          <a:lstStyle/>
          <a:p>
            <a:pPr algn="l">
              <a:defRPr sz="1700" b="1">
                <a:solidFill>
                  <a:srgbClr val="111F35"/>
                </a:solidFill>
                <a:latin typeface="Aptos"/>
              </a:defRPr>
            </a:pPr>
            <a:r>
              <a:t>2. REWRITE</a:t>
            </a:r>
          </a:p>
        </p:txBody>
      </p:sp>
      <p:sp>
        <p:nvSpPr>
          <p:cNvPr id="14" name="TextBox 13"/>
          <p:cNvSpPr txBox="1"/>
          <p:nvPr/>
        </p:nvSpPr>
        <p:spPr>
          <a:xfrm>
            <a:off x="3895344" y="2862072"/>
            <a:ext cx="2075688" cy="1353312"/>
          </a:xfrm>
          <a:prstGeom prst="rect">
            <a:avLst/>
          </a:prstGeom>
          <a:noFill/>
        </p:spPr>
        <p:txBody>
          <a:bodyPr wrap="square" anchor="t">
            <a:spAutoFit/>
          </a:bodyPr>
          <a:lstStyle/>
          <a:p>
            <a:pPr algn="l">
              <a:defRPr sz="1500" b="0">
                <a:solidFill>
                  <a:srgbClr val="25313F"/>
                </a:solidFill>
                <a:latin typeface="Aptos"/>
              </a:defRPr>
            </a:pPr>
            <a:r>
              <a:rPr dirty="0"/>
              <a:t>Use the 7-part framework.</a:t>
            </a:r>
          </a:p>
        </p:txBody>
      </p:sp>
      <p:sp>
        <p:nvSpPr>
          <p:cNvPr id="15" name="Rounded Rectangle 14"/>
          <p:cNvSpPr/>
          <p:nvPr/>
        </p:nvSpPr>
        <p:spPr>
          <a:xfrm>
            <a:off x="6492240" y="2240280"/>
            <a:ext cx="2423160" cy="21031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92240" y="2240280"/>
            <a:ext cx="73152" cy="2103120"/>
          </a:xfrm>
          <a:prstGeom prst="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93408" y="2404872"/>
            <a:ext cx="2075688" cy="384048"/>
          </a:xfrm>
          <a:prstGeom prst="rect">
            <a:avLst/>
          </a:prstGeom>
          <a:noFill/>
        </p:spPr>
        <p:txBody>
          <a:bodyPr wrap="square" anchor="t">
            <a:spAutoFit/>
          </a:bodyPr>
          <a:lstStyle/>
          <a:p>
            <a:pPr algn="l">
              <a:defRPr sz="1700" b="1">
                <a:solidFill>
                  <a:srgbClr val="111F35"/>
                </a:solidFill>
                <a:latin typeface="Aptos"/>
              </a:defRPr>
            </a:pPr>
            <a:r>
              <a:rPr dirty="0"/>
              <a:t>3. TEST</a:t>
            </a:r>
          </a:p>
        </p:txBody>
      </p:sp>
      <p:sp>
        <p:nvSpPr>
          <p:cNvPr id="18" name="TextBox 17"/>
          <p:cNvSpPr txBox="1"/>
          <p:nvPr/>
        </p:nvSpPr>
        <p:spPr>
          <a:xfrm>
            <a:off x="6693408" y="2862072"/>
            <a:ext cx="2075688" cy="1353312"/>
          </a:xfrm>
          <a:prstGeom prst="rect">
            <a:avLst/>
          </a:prstGeom>
          <a:noFill/>
        </p:spPr>
        <p:txBody>
          <a:bodyPr wrap="square" anchor="t">
            <a:spAutoFit/>
          </a:bodyPr>
          <a:lstStyle/>
          <a:p>
            <a:pPr algn="l">
              <a:defRPr sz="1500" b="0">
                <a:solidFill>
                  <a:srgbClr val="25313F"/>
                </a:solidFill>
                <a:latin typeface="Aptos"/>
              </a:defRPr>
            </a:pPr>
            <a:r>
              <a:rPr dirty="0"/>
              <a:t>Run original and revised prompts.</a:t>
            </a:r>
          </a:p>
        </p:txBody>
      </p:sp>
      <p:sp>
        <p:nvSpPr>
          <p:cNvPr id="19" name="Rounded Rectangle 18"/>
          <p:cNvSpPr/>
          <p:nvPr/>
        </p:nvSpPr>
        <p:spPr>
          <a:xfrm>
            <a:off x="9272016" y="2240280"/>
            <a:ext cx="2350008" cy="2103120"/>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272016" y="2240280"/>
            <a:ext cx="73152" cy="2103120"/>
          </a:xfrm>
          <a:prstGeom prst="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28048" y="2404872"/>
            <a:ext cx="1572768" cy="353943"/>
          </a:xfrm>
          <a:prstGeom prst="rect">
            <a:avLst/>
          </a:prstGeom>
          <a:noFill/>
        </p:spPr>
        <p:txBody>
          <a:bodyPr wrap="square" anchor="t">
            <a:spAutoFit/>
          </a:bodyPr>
          <a:lstStyle/>
          <a:p>
            <a:pPr algn="l">
              <a:defRPr sz="1400" b="1">
                <a:solidFill>
                  <a:srgbClr val="111F35"/>
                </a:solidFill>
                <a:latin typeface="Aptos"/>
              </a:defRPr>
            </a:pPr>
            <a:r>
              <a:rPr sz="1700" dirty="0"/>
              <a:t>4. COMPARE</a:t>
            </a:r>
          </a:p>
        </p:txBody>
      </p:sp>
      <p:sp>
        <p:nvSpPr>
          <p:cNvPr id="22" name="TextBox 21"/>
          <p:cNvSpPr txBox="1"/>
          <p:nvPr/>
        </p:nvSpPr>
        <p:spPr>
          <a:xfrm>
            <a:off x="9528048" y="2862072"/>
            <a:ext cx="1572768" cy="553998"/>
          </a:xfrm>
          <a:prstGeom prst="rect">
            <a:avLst/>
          </a:prstGeom>
          <a:noFill/>
        </p:spPr>
        <p:txBody>
          <a:bodyPr wrap="square" anchor="t">
            <a:spAutoFit/>
          </a:bodyPr>
          <a:lstStyle/>
          <a:p>
            <a:pPr algn="l">
              <a:defRPr sz="1100" b="0">
                <a:solidFill>
                  <a:srgbClr val="25313F"/>
                </a:solidFill>
                <a:latin typeface="Aptos"/>
              </a:defRPr>
            </a:pPr>
            <a:r>
              <a:rPr sz="1500" dirty="0"/>
              <a:t>Which output is more useful?</a:t>
            </a:r>
          </a:p>
        </p:txBody>
      </p:sp>
      <p:sp>
        <p:nvSpPr>
          <p:cNvPr id="23" name="TextBox 22"/>
          <p:cNvSpPr txBox="1"/>
          <p:nvPr/>
        </p:nvSpPr>
        <p:spPr>
          <a:xfrm>
            <a:off x="914400" y="5897880"/>
            <a:ext cx="10241280" cy="292388"/>
          </a:xfrm>
          <a:prstGeom prst="rect">
            <a:avLst/>
          </a:prstGeom>
          <a:noFill/>
        </p:spPr>
        <p:txBody>
          <a:bodyPr wrap="square" anchor="t">
            <a:spAutoFit/>
          </a:bodyPr>
          <a:lstStyle/>
          <a:p>
            <a:pPr algn="ctr">
              <a:defRPr sz="1300" b="1">
                <a:solidFill>
                  <a:srgbClr val="647180"/>
                </a:solidFill>
                <a:latin typeface="Aptos"/>
              </a:defRPr>
            </a:pPr>
            <a:r>
              <a:rPr dirty="0"/>
              <a:t>Open: </a:t>
            </a:r>
            <a:r>
              <a:rPr lang="en-IN" dirty="0" err="1"/>
              <a:t>Participant_Handouts</a:t>
            </a:r>
            <a:r>
              <a:rPr lang="en-IN" dirty="0"/>
              <a:t>/</a:t>
            </a:r>
            <a:r>
              <a:rPr dirty="0"/>
              <a:t>Session_01_Prompt_Doctor.md</a:t>
            </a:r>
          </a:p>
        </p:txBody>
      </p:sp>
      <p:sp>
        <p:nvSpPr>
          <p:cNvPr id="24" name="Rectangle 23"/>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26" name="Slide Number Placeholder 25">
            <a:extLst>
              <a:ext uri="{FF2B5EF4-FFF2-40B4-BE49-F238E27FC236}">
                <a16:creationId xmlns:a16="http://schemas.microsoft.com/office/drawing/2014/main" id="{95951400-53C2-684D-1637-F055FD3438DE}"/>
              </a:ext>
            </a:extLst>
          </p:cNvPr>
          <p:cNvSpPr>
            <a:spLocks noGrp="1"/>
          </p:cNvSpPr>
          <p:nvPr>
            <p:ph type="sldNum" sz="quarter" idx="12"/>
          </p:nvPr>
        </p:nvSpPr>
        <p:spPr/>
        <p:txBody>
          <a:bodyPr/>
          <a:lstStyle/>
          <a:p>
            <a:fld id="{C1FF6DA9-008F-8B48-92A6-B652298478BF}" type="slidenum">
              <a:rPr lang="en-US" smtClean="0"/>
              <a:t>30</a:t>
            </a:fld>
            <a:endParaRPr lang="en-US"/>
          </a:p>
        </p:txBody>
      </p:sp>
      <p:sp>
        <p:nvSpPr>
          <p:cNvPr id="28" name="Rectangle: Rounded Corners 27">
            <a:extLst>
              <a:ext uri="{FF2B5EF4-FFF2-40B4-BE49-F238E27FC236}">
                <a16:creationId xmlns:a16="http://schemas.microsoft.com/office/drawing/2014/main" id="{14A9D201-8529-8A65-45BB-24156246FB8D}"/>
              </a:ext>
            </a:extLst>
          </p:cNvPr>
          <p:cNvSpPr/>
          <p:nvPr/>
        </p:nvSpPr>
        <p:spPr>
          <a:xfrm>
            <a:off x="5513832" y="4783506"/>
            <a:ext cx="914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Start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Track Challenge</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Turn one real task into a better prompt.</a:t>
            </a:r>
          </a:p>
        </p:txBody>
      </p:sp>
      <p:sp>
        <p:nvSpPr>
          <p:cNvPr id="6" name="Rounded Rectangle 5"/>
          <p:cNvSpPr/>
          <p:nvPr/>
        </p:nvSpPr>
        <p:spPr>
          <a:xfrm>
            <a:off x="777240" y="1508760"/>
            <a:ext cx="5166360" cy="3977639"/>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508760"/>
            <a:ext cx="73152" cy="3977639"/>
          </a:xfrm>
          <a:prstGeom prst="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8408" y="1673351"/>
            <a:ext cx="4818888" cy="384048"/>
          </a:xfrm>
          <a:prstGeom prst="rect">
            <a:avLst/>
          </a:prstGeom>
          <a:noFill/>
        </p:spPr>
        <p:txBody>
          <a:bodyPr wrap="square" anchor="t">
            <a:spAutoFit/>
          </a:bodyPr>
          <a:lstStyle/>
          <a:p>
            <a:pPr algn="l">
              <a:defRPr sz="2100" b="1">
                <a:solidFill>
                  <a:srgbClr val="111F35"/>
                </a:solidFill>
                <a:latin typeface="Aptos"/>
              </a:defRPr>
            </a:pPr>
            <a:r>
              <a:t>DATA</a:t>
            </a:r>
          </a:p>
        </p:txBody>
      </p:sp>
      <p:sp>
        <p:nvSpPr>
          <p:cNvPr id="9" name="TextBox 8"/>
          <p:cNvSpPr txBox="1"/>
          <p:nvPr/>
        </p:nvSpPr>
        <p:spPr>
          <a:xfrm>
            <a:off x="978408" y="2130552"/>
            <a:ext cx="4818888" cy="3227832"/>
          </a:xfrm>
          <a:prstGeom prst="rect">
            <a:avLst/>
          </a:prstGeom>
          <a:noFill/>
        </p:spPr>
        <p:txBody>
          <a:bodyPr wrap="square" anchor="t">
            <a:spAutoFit/>
          </a:bodyPr>
          <a:lstStyle/>
          <a:p>
            <a:pPr algn="l">
              <a:defRPr sz="1800" b="0">
                <a:solidFill>
                  <a:srgbClr val="25313F"/>
                </a:solidFill>
                <a:latin typeface="Aptos"/>
              </a:defRPr>
            </a:pPr>
            <a:r>
              <a:t>Choose one:</a:t>
            </a:r>
            <a:br/>
            <a:br/>
            <a:r>
              <a:t>SQL</a:t>
            </a:r>
            <a:br/>
            <a:r>
              <a:t>Data Quality</a:t>
            </a:r>
            <a:br/>
            <a:r>
              <a:t>ETL</a:t>
            </a:r>
            <a:br/>
            <a:r>
              <a:t>Analysis</a:t>
            </a:r>
            <a:br/>
            <a:br/>
            <a:r>
              <a:t>Rewrite it using the prompt framework.</a:t>
            </a:r>
          </a:p>
        </p:txBody>
      </p:sp>
      <p:sp>
        <p:nvSpPr>
          <p:cNvPr id="10" name="Rounded Rectangle 9"/>
          <p:cNvSpPr/>
          <p:nvPr/>
        </p:nvSpPr>
        <p:spPr>
          <a:xfrm>
            <a:off x="6217920" y="1508760"/>
            <a:ext cx="5166360" cy="3977639"/>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1508760"/>
            <a:ext cx="73152" cy="3977639"/>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9088" y="1673351"/>
            <a:ext cx="4818888" cy="384048"/>
          </a:xfrm>
          <a:prstGeom prst="rect">
            <a:avLst/>
          </a:prstGeom>
          <a:noFill/>
        </p:spPr>
        <p:txBody>
          <a:bodyPr wrap="square" anchor="t">
            <a:spAutoFit/>
          </a:bodyPr>
          <a:lstStyle/>
          <a:p>
            <a:pPr algn="l">
              <a:defRPr sz="2100" b="1">
                <a:solidFill>
                  <a:srgbClr val="111F35"/>
                </a:solidFill>
                <a:latin typeface="Aptos"/>
              </a:defRPr>
            </a:pPr>
            <a:r>
              <a:t>ENTERPRISE OPERATIONS</a:t>
            </a:r>
          </a:p>
        </p:txBody>
      </p:sp>
      <p:sp>
        <p:nvSpPr>
          <p:cNvPr id="13" name="TextBox 12"/>
          <p:cNvSpPr txBox="1"/>
          <p:nvPr/>
        </p:nvSpPr>
        <p:spPr>
          <a:xfrm>
            <a:off x="6419088" y="2130552"/>
            <a:ext cx="4818888" cy="3227832"/>
          </a:xfrm>
          <a:prstGeom prst="rect">
            <a:avLst/>
          </a:prstGeom>
          <a:noFill/>
        </p:spPr>
        <p:txBody>
          <a:bodyPr wrap="square" anchor="t">
            <a:spAutoFit/>
          </a:bodyPr>
          <a:lstStyle/>
          <a:p>
            <a:pPr algn="l">
              <a:defRPr sz="1800" b="0">
                <a:solidFill>
                  <a:srgbClr val="25313F"/>
                </a:solidFill>
                <a:latin typeface="Aptos"/>
              </a:defRPr>
            </a:pPr>
            <a:r>
              <a:t>Choose one:</a:t>
            </a:r>
            <a:br/>
            <a:br/>
            <a:r>
              <a:t>Ticket Triage</a:t>
            </a:r>
            <a:br/>
            <a:r>
              <a:t>Incident Analysis</a:t>
            </a:r>
            <a:br/>
            <a:r>
              <a:t>Runbook</a:t>
            </a:r>
            <a:br/>
            <a:r>
              <a:t>Reporting</a:t>
            </a:r>
            <a:br/>
            <a:br/>
            <a:r>
              <a:t>Rewrite it using the prompt framework.</a:t>
            </a:r>
          </a:p>
        </p:txBody>
      </p:sp>
      <p:sp>
        <p:nvSpPr>
          <p:cNvPr id="14" name="TextBox 13"/>
          <p:cNvSpPr txBox="1"/>
          <p:nvPr/>
        </p:nvSpPr>
        <p:spPr>
          <a:xfrm>
            <a:off x="914400" y="5806440"/>
            <a:ext cx="10241280" cy="411480"/>
          </a:xfrm>
          <a:prstGeom prst="rect">
            <a:avLst/>
          </a:prstGeom>
          <a:noFill/>
        </p:spPr>
        <p:txBody>
          <a:bodyPr wrap="square" anchor="t">
            <a:spAutoFit/>
          </a:bodyPr>
          <a:lstStyle/>
          <a:p>
            <a:pPr algn="ctr">
              <a:defRPr sz="1600" b="1">
                <a:solidFill>
                  <a:srgbClr val="CC8B2A"/>
                </a:solidFill>
                <a:latin typeface="Aptos"/>
              </a:defRPr>
            </a:pPr>
            <a:r>
              <a:t>Choose a task you actually perform in 10–30 minutes, not a six-month transformation project.</a:t>
            </a:r>
          </a:p>
        </p:txBody>
      </p:sp>
      <p:sp>
        <p:nvSpPr>
          <p:cNvPr id="15" name="Rectangle 14"/>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17" name="Slide Number Placeholder 16">
            <a:extLst>
              <a:ext uri="{FF2B5EF4-FFF2-40B4-BE49-F238E27FC236}">
                <a16:creationId xmlns:a16="http://schemas.microsoft.com/office/drawing/2014/main" id="{E738986C-3E63-D401-D911-1E2487DE1908}"/>
              </a:ext>
            </a:extLst>
          </p:cNvPr>
          <p:cNvSpPr>
            <a:spLocks noGrp="1"/>
          </p:cNvSpPr>
          <p:nvPr>
            <p:ph type="sldNum" sz="quarter" idx="12"/>
          </p:nvPr>
        </p:nvSpPr>
        <p:spPr/>
        <p:txBody>
          <a:bodyPr/>
          <a:lstStyle/>
          <a:p>
            <a:fld id="{C1FF6DA9-008F-8B48-92A6-B652298478BF}"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972800" cy="548640"/>
          </a:xfrm>
          <a:prstGeom prst="rect">
            <a:avLst/>
          </a:prstGeom>
          <a:noFill/>
        </p:spPr>
        <p:txBody>
          <a:bodyPr wrap="square" anchor="t">
            <a:spAutoFit/>
          </a:bodyPr>
          <a:lstStyle/>
          <a:p>
            <a:pPr algn="l">
              <a:defRPr sz="2800" b="1">
                <a:solidFill>
                  <a:srgbClr val="111F35"/>
                </a:solidFill>
                <a:latin typeface="Aptos"/>
              </a:defRPr>
            </a:pPr>
            <a:r>
              <a:t>Key Takeaways</a:t>
            </a:r>
          </a:p>
        </p:txBody>
      </p:sp>
      <p:sp>
        <p:nvSpPr>
          <p:cNvPr id="5" name="TextBox 4"/>
          <p:cNvSpPr txBox="1"/>
          <p:nvPr/>
        </p:nvSpPr>
        <p:spPr>
          <a:xfrm>
            <a:off x="621792" y="960120"/>
            <a:ext cx="10789920" cy="365760"/>
          </a:xfrm>
          <a:prstGeom prst="rect">
            <a:avLst/>
          </a:prstGeom>
          <a:noFill/>
        </p:spPr>
        <p:txBody>
          <a:bodyPr wrap="square" anchor="t">
            <a:spAutoFit/>
          </a:bodyPr>
          <a:lstStyle/>
          <a:p>
            <a:pPr algn="l">
              <a:defRPr sz="1250" b="0">
                <a:solidFill>
                  <a:srgbClr val="647180"/>
                </a:solidFill>
                <a:latin typeface="Aptos"/>
              </a:defRPr>
            </a:pPr>
            <a:r>
              <a:t>Six habits to carry into every AI interaction.</a:t>
            </a:r>
          </a:p>
        </p:txBody>
      </p:sp>
      <p:sp>
        <p:nvSpPr>
          <p:cNvPr id="6" name="Rounded Rectangle 5"/>
          <p:cNvSpPr/>
          <p:nvPr/>
        </p:nvSpPr>
        <p:spPr>
          <a:xfrm>
            <a:off x="868680" y="1417320"/>
            <a:ext cx="502920" cy="384048"/>
          </a:xfrm>
          <a:prstGeom prst="round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53896"/>
            <a:ext cx="502920" cy="292608"/>
          </a:xfrm>
          <a:prstGeom prst="rect">
            <a:avLst/>
          </a:prstGeom>
          <a:noFill/>
        </p:spPr>
        <p:txBody>
          <a:bodyPr wrap="square" anchor="t">
            <a:spAutoFit/>
          </a:bodyPr>
          <a:lstStyle/>
          <a:p>
            <a:pPr algn="ctr">
              <a:defRPr sz="1150" b="1">
                <a:solidFill>
                  <a:srgbClr val="FFFFFF"/>
                </a:solidFill>
                <a:latin typeface="Aptos"/>
              </a:defRPr>
            </a:pPr>
            <a:r>
              <a:t>1</a:t>
            </a:r>
          </a:p>
        </p:txBody>
      </p:sp>
      <p:sp>
        <p:nvSpPr>
          <p:cNvPr id="8" name="TextBox 7"/>
          <p:cNvSpPr txBox="1"/>
          <p:nvPr/>
        </p:nvSpPr>
        <p:spPr>
          <a:xfrm>
            <a:off x="1581912" y="1435608"/>
            <a:ext cx="4572000" cy="457200"/>
          </a:xfrm>
          <a:prstGeom prst="rect">
            <a:avLst/>
          </a:prstGeom>
          <a:noFill/>
        </p:spPr>
        <p:txBody>
          <a:bodyPr wrap="square" anchor="t">
            <a:spAutoFit/>
          </a:bodyPr>
          <a:lstStyle/>
          <a:p>
            <a:pPr algn="l">
              <a:defRPr sz="1900" b="1">
                <a:solidFill>
                  <a:srgbClr val="111F35"/>
                </a:solidFill>
                <a:latin typeface="Aptos"/>
              </a:defRPr>
            </a:pPr>
            <a:r>
              <a:t>Be clear about the task.</a:t>
            </a:r>
          </a:p>
        </p:txBody>
      </p:sp>
      <p:sp>
        <p:nvSpPr>
          <p:cNvPr id="9" name="Rounded Rectangle 8"/>
          <p:cNvSpPr/>
          <p:nvPr/>
        </p:nvSpPr>
        <p:spPr>
          <a:xfrm>
            <a:off x="6355080" y="1417320"/>
            <a:ext cx="50292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1453896"/>
            <a:ext cx="502920" cy="292608"/>
          </a:xfrm>
          <a:prstGeom prst="rect">
            <a:avLst/>
          </a:prstGeom>
          <a:noFill/>
        </p:spPr>
        <p:txBody>
          <a:bodyPr wrap="square" anchor="t">
            <a:spAutoFit/>
          </a:bodyPr>
          <a:lstStyle/>
          <a:p>
            <a:pPr algn="ctr">
              <a:defRPr sz="1150" b="1">
                <a:solidFill>
                  <a:srgbClr val="FFFFFF"/>
                </a:solidFill>
                <a:latin typeface="Aptos"/>
              </a:defRPr>
            </a:pPr>
            <a:r>
              <a:t>2</a:t>
            </a:r>
          </a:p>
        </p:txBody>
      </p:sp>
      <p:sp>
        <p:nvSpPr>
          <p:cNvPr id="11" name="TextBox 10"/>
          <p:cNvSpPr txBox="1"/>
          <p:nvPr/>
        </p:nvSpPr>
        <p:spPr>
          <a:xfrm>
            <a:off x="7068312" y="1435608"/>
            <a:ext cx="4572000" cy="457200"/>
          </a:xfrm>
          <a:prstGeom prst="rect">
            <a:avLst/>
          </a:prstGeom>
          <a:noFill/>
        </p:spPr>
        <p:txBody>
          <a:bodyPr wrap="square" anchor="t">
            <a:spAutoFit/>
          </a:bodyPr>
          <a:lstStyle/>
          <a:p>
            <a:pPr algn="l">
              <a:defRPr sz="1900" b="1">
                <a:solidFill>
                  <a:srgbClr val="111F35"/>
                </a:solidFill>
                <a:latin typeface="Aptos"/>
              </a:defRPr>
            </a:pPr>
            <a:r>
              <a:t>Give AI the context it needs.</a:t>
            </a:r>
          </a:p>
        </p:txBody>
      </p:sp>
      <p:sp>
        <p:nvSpPr>
          <p:cNvPr id="12" name="Rounded Rectangle 11"/>
          <p:cNvSpPr/>
          <p:nvPr/>
        </p:nvSpPr>
        <p:spPr>
          <a:xfrm>
            <a:off x="868680" y="2743200"/>
            <a:ext cx="502920" cy="384048"/>
          </a:xfrm>
          <a:prstGeom prst="round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2779776"/>
            <a:ext cx="502920" cy="292608"/>
          </a:xfrm>
          <a:prstGeom prst="rect">
            <a:avLst/>
          </a:prstGeom>
          <a:noFill/>
        </p:spPr>
        <p:txBody>
          <a:bodyPr wrap="square" anchor="t">
            <a:spAutoFit/>
          </a:bodyPr>
          <a:lstStyle/>
          <a:p>
            <a:pPr algn="ctr">
              <a:defRPr sz="1150" b="1">
                <a:solidFill>
                  <a:srgbClr val="FFFFFF"/>
                </a:solidFill>
                <a:latin typeface="Aptos"/>
              </a:defRPr>
            </a:pPr>
            <a:r>
              <a:t>3</a:t>
            </a:r>
          </a:p>
        </p:txBody>
      </p:sp>
      <p:sp>
        <p:nvSpPr>
          <p:cNvPr id="14" name="TextBox 13"/>
          <p:cNvSpPr txBox="1"/>
          <p:nvPr/>
        </p:nvSpPr>
        <p:spPr>
          <a:xfrm>
            <a:off x="1581912" y="2761488"/>
            <a:ext cx="4572000" cy="457200"/>
          </a:xfrm>
          <a:prstGeom prst="rect">
            <a:avLst/>
          </a:prstGeom>
          <a:noFill/>
        </p:spPr>
        <p:txBody>
          <a:bodyPr wrap="square" anchor="t">
            <a:spAutoFit/>
          </a:bodyPr>
          <a:lstStyle/>
          <a:p>
            <a:pPr algn="l">
              <a:defRPr sz="1900" b="1">
                <a:solidFill>
                  <a:srgbClr val="111F35"/>
                </a:solidFill>
                <a:latin typeface="Aptos"/>
              </a:defRPr>
            </a:pPr>
            <a:r>
              <a:t>Define what good looks like.</a:t>
            </a:r>
          </a:p>
        </p:txBody>
      </p:sp>
      <p:sp>
        <p:nvSpPr>
          <p:cNvPr id="15" name="Rounded Rectangle 14"/>
          <p:cNvSpPr/>
          <p:nvPr/>
        </p:nvSpPr>
        <p:spPr>
          <a:xfrm>
            <a:off x="6355080" y="2743200"/>
            <a:ext cx="502920" cy="384048"/>
          </a:xfrm>
          <a:prstGeom prst="round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2779776"/>
            <a:ext cx="502920" cy="292608"/>
          </a:xfrm>
          <a:prstGeom prst="rect">
            <a:avLst/>
          </a:prstGeom>
          <a:noFill/>
        </p:spPr>
        <p:txBody>
          <a:bodyPr wrap="square" anchor="t">
            <a:spAutoFit/>
          </a:bodyPr>
          <a:lstStyle/>
          <a:p>
            <a:pPr algn="ctr">
              <a:defRPr sz="1150" b="1">
                <a:solidFill>
                  <a:srgbClr val="FFFFFF"/>
                </a:solidFill>
                <a:latin typeface="Aptos"/>
              </a:defRPr>
            </a:pPr>
            <a:r>
              <a:t>4</a:t>
            </a:r>
          </a:p>
        </p:txBody>
      </p:sp>
      <p:sp>
        <p:nvSpPr>
          <p:cNvPr id="17" name="TextBox 16"/>
          <p:cNvSpPr txBox="1"/>
          <p:nvPr/>
        </p:nvSpPr>
        <p:spPr>
          <a:xfrm>
            <a:off x="7068312" y="2761488"/>
            <a:ext cx="4572000" cy="457200"/>
          </a:xfrm>
          <a:prstGeom prst="rect">
            <a:avLst/>
          </a:prstGeom>
          <a:noFill/>
        </p:spPr>
        <p:txBody>
          <a:bodyPr wrap="square" anchor="t">
            <a:spAutoFit/>
          </a:bodyPr>
          <a:lstStyle/>
          <a:p>
            <a:pPr algn="l">
              <a:defRPr sz="1900" b="1">
                <a:solidFill>
                  <a:srgbClr val="111F35"/>
                </a:solidFill>
                <a:latin typeface="Aptos"/>
              </a:defRPr>
            </a:pPr>
            <a:r>
              <a:t>Constrain assumptions.</a:t>
            </a:r>
          </a:p>
        </p:txBody>
      </p:sp>
      <p:sp>
        <p:nvSpPr>
          <p:cNvPr id="18" name="Rounded Rectangle 17"/>
          <p:cNvSpPr/>
          <p:nvPr/>
        </p:nvSpPr>
        <p:spPr>
          <a:xfrm>
            <a:off x="868680" y="4069080"/>
            <a:ext cx="502920" cy="384048"/>
          </a:xfrm>
          <a:prstGeom prst="roundRect">
            <a:avLst/>
          </a:prstGeom>
          <a:solidFill>
            <a:srgbClr val="49B4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4105656"/>
            <a:ext cx="502920" cy="292608"/>
          </a:xfrm>
          <a:prstGeom prst="rect">
            <a:avLst/>
          </a:prstGeom>
          <a:noFill/>
        </p:spPr>
        <p:txBody>
          <a:bodyPr wrap="square" anchor="t">
            <a:spAutoFit/>
          </a:bodyPr>
          <a:lstStyle/>
          <a:p>
            <a:pPr algn="ctr">
              <a:defRPr sz="1150" b="1">
                <a:solidFill>
                  <a:srgbClr val="FFFFFF"/>
                </a:solidFill>
                <a:latin typeface="Aptos"/>
              </a:defRPr>
            </a:pPr>
            <a:r>
              <a:t>5</a:t>
            </a:r>
          </a:p>
        </p:txBody>
      </p:sp>
      <p:sp>
        <p:nvSpPr>
          <p:cNvPr id="20" name="TextBox 19"/>
          <p:cNvSpPr txBox="1"/>
          <p:nvPr/>
        </p:nvSpPr>
        <p:spPr>
          <a:xfrm>
            <a:off x="1581912" y="4087368"/>
            <a:ext cx="4572000" cy="457200"/>
          </a:xfrm>
          <a:prstGeom prst="rect">
            <a:avLst/>
          </a:prstGeom>
          <a:noFill/>
        </p:spPr>
        <p:txBody>
          <a:bodyPr wrap="square" anchor="t">
            <a:spAutoFit/>
          </a:bodyPr>
          <a:lstStyle/>
          <a:p>
            <a:pPr algn="l">
              <a:defRPr sz="1900" b="1">
                <a:solidFill>
                  <a:srgbClr val="111F35"/>
                </a:solidFill>
                <a:latin typeface="Aptos"/>
              </a:defRPr>
            </a:pPr>
            <a:r>
              <a:t>Specify a usable output.</a:t>
            </a:r>
          </a:p>
        </p:txBody>
      </p:sp>
      <p:sp>
        <p:nvSpPr>
          <p:cNvPr id="21" name="Rounded Rectangle 20"/>
          <p:cNvSpPr/>
          <p:nvPr/>
        </p:nvSpPr>
        <p:spPr>
          <a:xfrm>
            <a:off x="6355080" y="4069080"/>
            <a:ext cx="502920" cy="384048"/>
          </a:xfrm>
          <a:prstGeom prst="roundRect">
            <a:avLst/>
          </a:prstGeom>
          <a:solidFill>
            <a:srgbClr val="11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4105656"/>
            <a:ext cx="502920" cy="292608"/>
          </a:xfrm>
          <a:prstGeom prst="rect">
            <a:avLst/>
          </a:prstGeom>
          <a:noFill/>
        </p:spPr>
        <p:txBody>
          <a:bodyPr wrap="square" anchor="t">
            <a:spAutoFit/>
          </a:bodyPr>
          <a:lstStyle/>
          <a:p>
            <a:pPr algn="ctr">
              <a:defRPr sz="1150" b="1">
                <a:solidFill>
                  <a:srgbClr val="FFFFFF"/>
                </a:solidFill>
                <a:latin typeface="Aptos"/>
              </a:defRPr>
            </a:pPr>
            <a:r>
              <a:t>6</a:t>
            </a:r>
          </a:p>
        </p:txBody>
      </p:sp>
      <p:sp>
        <p:nvSpPr>
          <p:cNvPr id="23" name="TextBox 22"/>
          <p:cNvSpPr txBox="1"/>
          <p:nvPr/>
        </p:nvSpPr>
        <p:spPr>
          <a:xfrm>
            <a:off x="7068312" y="4087368"/>
            <a:ext cx="4572000" cy="457200"/>
          </a:xfrm>
          <a:prstGeom prst="rect">
            <a:avLst/>
          </a:prstGeom>
          <a:noFill/>
        </p:spPr>
        <p:txBody>
          <a:bodyPr wrap="square" anchor="t">
            <a:spAutoFit/>
          </a:bodyPr>
          <a:lstStyle/>
          <a:p>
            <a:pPr algn="l">
              <a:defRPr sz="1900" b="1">
                <a:solidFill>
                  <a:srgbClr val="111F35"/>
                </a:solidFill>
                <a:latin typeface="Aptos"/>
              </a:defRPr>
            </a:pPr>
            <a:r>
              <a:t>Always validate important results.</a:t>
            </a:r>
          </a:p>
        </p:txBody>
      </p:sp>
      <p:sp>
        <p:nvSpPr>
          <p:cNvPr id="24" name="Rounded Rectangle 23"/>
          <p:cNvSpPr/>
          <p:nvPr/>
        </p:nvSpPr>
        <p:spPr>
          <a:xfrm>
            <a:off x="960120" y="5440679"/>
            <a:ext cx="10195560" cy="779143"/>
          </a:xfrm>
          <a:prstGeom prst="roundRect">
            <a:avLst/>
          </a:prstGeom>
          <a:solidFill>
            <a:srgbClr val="F4F7FA"/>
          </a:solidFill>
          <a:ln>
            <a:solidFill>
              <a:srgbClr val="DD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43000" y="5458968"/>
            <a:ext cx="365760" cy="457200"/>
          </a:xfrm>
          <a:prstGeom prst="rect">
            <a:avLst/>
          </a:prstGeom>
          <a:noFill/>
        </p:spPr>
        <p:txBody>
          <a:bodyPr wrap="square" anchor="t">
            <a:spAutoFit/>
          </a:bodyPr>
          <a:lstStyle/>
          <a:p>
            <a:pPr algn="l">
              <a:defRPr sz="3200" b="1">
                <a:solidFill>
                  <a:srgbClr val="148F96"/>
                </a:solidFill>
                <a:latin typeface="Aptos"/>
              </a:defRPr>
            </a:pPr>
            <a:r>
              <a:t>“</a:t>
            </a:r>
          </a:p>
        </p:txBody>
      </p:sp>
      <p:sp>
        <p:nvSpPr>
          <p:cNvPr id="26" name="TextBox 25"/>
          <p:cNvSpPr txBox="1"/>
          <p:nvPr/>
        </p:nvSpPr>
        <p:spPr>
          <a:xfrm>
            <a:off x="1527048" y="5641848"/>
            <a:ext cx="9418320" cy="615553"/>
          </a:xfrm>
          <a:prstGeom prst="rect">
            <a:avLst/>
          </a:prstGeom>
          <a:noFill/>
        </p:spPr>
        <p:txBody>
          <a:bodyPr wrap="square" anchor="t">
            <a:spAutoFit/>
          </a:bodyPr>
          <a:lstStyle/>
          <a:p>
            <a:pPr algn="l">
              <a:defRPr sz="1700" b="1">
                <a:solidFill>
                  <a:srgbClr val="111F35"/>
                </a:solidFill>
                <a:latin typeface="Aptos"/>
              </a:defRPr>
            </a:pPr>
            <a:r>
              <a:rPr dirty="0"/>
              <a:t>The best prompt isn't the cleverest prompt. It is the prompt that consistently produces an output you can evaluate and use.</a:t>
            </a:r>
            <a:endParaRPr lang="en-US" dirty="0"/>
          </a:p>
        </p:txBody>
      </p:sp>
      <p:sp>
        <p:nvSpPr>
          <p:cNvPr id="27" name="Rectangle 26"/>
          <p:cNvSpPr/>
          <p:nvPr/>
        </p:nvSpPr>
        <p:spPr>
          <a:xfrm>
            <a:off x="594360" y="6510528"/>
            <a:ext cx="10972800" cy="10972"/>
          </a:xfrm>
          <a:prstGeom prst="rect">
            <a:avLst/>
          </a:prstGeom>
          <a:solidFill>
            <a:srgbClr val="DD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1792" y="6547104"/>
            <a:ext cx="4572000" cy="182880"/>
          </a:xfrm>
          <a:prstGeom prst="rect">
            <a:avLst/>
          </a:prstGeom>
          <a:noFill/>
        </p:spPr>
        <p:txBody>
          <a:bodyPr wrap="square" anchor="t">
            <a:spAutoFit/>
          </a:bodyPr>
          <a:lstStyle/>
          <a:p>
            <a:pPr algn="l">
              <a:defRPr sz="850" b="0">
                <a:solidFill>
                  <a:srgbClr val="647180"/>
                </a:solidFill>
                <a:latin typeface="Aptos"/>
              </a:defRPr>
            </a:pPr>
            <a:r>
              <a:t>WinTrust AI Capability Program</a:t>
            </a:r>
          </a:p>
        </p:txBody>
      </p:sp>
      <p:sp>
        <p:nvSpPr>
          <p:cNvPr id="29" name="Slide Number Placeholder 28">
            <a:extLst>
              <a:ext uri="{FF2B5EF4-FFF2-40B4-BE49-F238E27FC236}">
                <a16:creationId xmlns:a16="http://schemas.microsoft.com/office/drawing/2014/main" id="{28D97CDC-5776-BBC5-2F2D-5B5DE80E5834}"/>
              </a:ext>
            </a:extLst>
          </p:cNvPr>
          <p:cNvSpPr>
            <a:spLocks noGrp="1"/>
          </p:cNvSpPr>
          <p:nvPr>
            <p:ph type="sldNum" sz="quarter" idx="12"/>
          </p:nvPr>
        </p:nvSpPr>
        <p:spPr/>
        <p:txBody>
          <a:bodyPr/>
          <a:lstStyle/>
          <a:p>
            <a:fld id="{C1FF6DA9-008F-8B48-92A6-B652298478BF}"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1051560"/>
            <a:ext cx="5486400" cy="502920"/>
          </a:xfrm>
          <a:prstGeom prst="rect">
            <a:avLst/>
          </a:prstGeom>
          <a:noFill/>
        </p:spPr>
        <p:txBody>
          <a:bodyPr wrap="square" anchor="t">
            <a:spAutoFit/>
          </a:bodyPr>
          <a:lstStyle/>
          <a:p>
            <a:pPr algn="l">
              <a:defRPr sz="2800" b="1">
                <a:solidFill>
                  <a:srgbClr val="FFFFFF"/>
                </a:solidFill>
                <a:latin typeface="Aptos"/>
              </a:defRPr>
            </a:pPr>
            <a:r>
              <a:t>FROM PROMPTING</a:t>
            </a:r>
          </a:p>
        </p:txBody>
      </p:sp>
      <p:sp>
        <p:nvSpPr>
          <p:cNvPr id="4" name="TextBox 3"/>
          <p:cNvSpPr txBox="1"/>
          <p:nvPr/>
        </p:nvSpPr>
        <p:spPr>
          <a:xfrm>
            <a:off x="777240" y="1600200"/>
            <a:ext cx="7315200" cy="640080"/>
          </a:xfrm>
          <a:prstGeom prst="rect">
            <a:avLst/>
          </a:prstGeom>
          <a:noFill/>
        </p:spPr>
        <p:txBody>
          <a:bodyPr wrap="square" anchor="t">
            <a:spAutoFit/>
          </a:bodyPr>
          <a:lstStyle/>
          <a:p>
            <a:pPr algn="l">
              <a:defRPr sz="3200" b="1">
                <a:solidFill>
                  <a:srgbClr val="49B4C2"/>
                </a:solidFill>
                <a:latin typeface="Aptos"/>
              </a:defRPr>
            </a:pPr>
            <a:r>
              <a:t>TO WORKING WITH AI</a:t>
            </a:r>
          </a:p>
        </p:txBody>
      </p:sp>
      <p:sp>
        <p:nvSpPr>
          <p:cNvPr id="5" name="Rounded Rectangle 4"/>
          <p:cNvSpPr/>
          <p:nvPr/>
        </p:nvSpPr>
        <p:spPr>
          <a:xfrm>
            <a:off x="777240" y="2926080"/>
            <a:ext cx="1508760" cy="384048"/>
          </a:xfrm>
          <a:prstGeom prst="roundRect">
            <a:avLst/>
          </a:prstGeom>
          <a:solidFill>
            <a:srgbClr val="2463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962656"/>
            <a:ext cx="1508760" cy="292608"/>
          </a:xfrm>
          <a:prstGeom prst="rect">
            <a:avLst/>
          </a:prstGeom>
          <a:noFill/>
        </p:spPr>
        <p:txBody>
          <a:bodyPr wrap="square" anchor="t">
            <a:spAutoFit/>
          </a:bodyPr>
          <a:lstStyle/>
          <a:p>
            <a:pPr algn="ctr">
              <a:defRPr sz="1150" b="1">
                <a:solidFill>
                  <a:srgbClr val="FFFFFF"/>
                </a:solidFill>
                <a:latin typeface="Aptos"/>
              </a:defRPr>
            </a:pPr>
            <a:r>
              <a:t>ASK</a:t>
            </a:r>
          </a:p>
        </p:txBody>
      </p:sp>
      <p:sp>
        <p:nvSpPr>
          <p:cNvPr id="7" name="Rounded Rectangle 6"/>
          <p:cNvSpPr/>
          <p:nvPr/>
        </p:nvSpPr>
        <p:spPr>
          <a:xfrm>
            <a:off x="2926080" y="2926080"/>
            <a:ext cx="1508760" cy="384048"/>
          </a:xfrm>
          <a:prstGeom prst="roundRect">
            <a:avLst/>
          </a:prstGeom>
          <a:solidFill>
            <a:srgbClr val="148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26080" y="2962656"/>
            <a:ext cx="1508760" cy="292608"/>
          </a:xfrm>
          <a:prstGeom prst="rect">
            <a:avLst/>
          </a:prstGeom>
          <a:noFill/>
        </p:spPr>
        <p:txBody>
          <a:bodyPr wrap="square" anchor="t">
            <a:spAutoFit/>
          </a:bodyPr>
          <a:lstStyle/>
          <a:p>
            <a:pPr algn="ctr">
              <a:defRPr sz="1150" b="1">
                <a:solidFill>
                  <a:srgbClr val="FFFFFF"/>
                </a:solidFill>
                <a:latin typeface="Aptos"/>
              </a:defRPr>
            </a:pPr>
            <a:r>
              <a:t>SPECIFY</a:t>
            </a:r>
          </a:p>
        </p:txBody>
      </p:sp>
      <p:sp>
        <p:nvSpPr>
          <p:cNvPr id="9" name="Rounded Rectangle 8"/>
          <p:cNvSpPr/>
          <p:nvPr/>
        </p:nvSpPr>
        <p:spPr>
          <a:xfrm>
            <a:off x="5074920" y="2926080"/>
            <a:ext cx="1508760" cy="384048"/>
          </a:xfrm>
          <a:prstGeom prst="roundRect">
            <a:avLst/>
          </a:prstGeom>
          <a:solidFill>
            <a:srgbClr val="CC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74920" y="2962656"/>
            <a:ext cx="1508760" cy="292608"/>
          </a:xfrm>
          <a:prstGeom prst="rect">
            <a:avLst/>
          </a:prstGeom>
          <a:noFill/>
        </p:spPr>
        <p:txBody>
          <a:bodyPr wrap="square" anchor="t">
            <a:spAutoFit/>
          </a:bodyPr>
          <a:lstStyle/>
          <a:p>
            <a:pPr algn="ctr">
              <a:defRPr sz="1150" b="1">
                <a:solidFill>
                  <a:srgbClr val="FFFFFF"/>
                </a:solidFill>
                <a:latin typeface="Aptos"/>
              </a:defRPr>
            </a:pPr>
            <a:r>
              <a:t>EVALUATE</a:t>
            </a:r>
          </a:p>
        </p:txBody>
      </p:sp>
      <p:sp>
        <p:nvSpPr>
          <p:cNvPr id="11" name="Rounded Rectangle 10"/>
          <p:cNvSpPr/>
          <p:nvPr/>
        </p:nvSpPr>
        <p:spPr>
          <a:xfrm>
            <a:off x="7223760" y="2926080"/>
            <a:ext cx="1508760" cy="384048"/>
          </a:xfrm>
          <a:prstGeom prst="roundRect">
            <a:avLst/>
          </a:prstGeom>
          <a:solidFill>
            <a:srgbClr val="49B4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60" y="2962656"/>
            <a:ext cx="1508760" cy="292608"/>
          </a:xfrm>
          <a:prstGeom prst="rect">
            <a:avLst/>
          </a:prstGeom>
          <a:noFill/>
        </p:spPr>
        <p:txBody>
          <a:bodyPr wrap="square" anchor="t">
            <a:spAutoFit/>
          </a:bodyPr>
          <a:lstStyle/>
          <a:p>
            <a:pPr algn="ctr">
              <a:defRPr sz="1150" b="1">
                <a:solidFill>
                  <a:srgbClr val="FFFFFF"/>
                </a:solidFill>
                <a:latin typeface="Aptos"/>
              </a:defRPr>
            </a:pPr>
            <a:r>
              <a:t>REFINE</a:t>
            </a:r>
          </a:p>
        </p:txBody>
      </p:sp>
      <p:sp>
        <p:nvSpPr>
          <p:cNvPr id="13" name="Rounded Rectangle 12"/>
          <p:cNvSpPr/>
          <p:nvPr/>
        </p:nvSpPr>
        <p:spPr>
          <a:xfrm>
            <a:off x="9372600" y="2926080"/>
            <a:ext cx="1508760" cy="384048"/>
          </a:xfrm>
          <a:prstGeom prst="roundRect">
            <a:avLst/>
          </a:prstGeom>
          <a:solidFill>
            <a:srgbClr val="2C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72600" y="2962656"/>
            <a:ext cx="1508760" cy="292608"/>
          </a:xfrm>
          <a:prstGeom prst="rect">
            <a:avLst/>
          </a:prstGeom>
          <a:noFill/>
        </p:spPr>
        <p:txBody>
          <a:bodyPr wrap="square" anchor="t">
            <a:spAutoFit/>
          </a:bodyPr>
          <a:lstStyle/>
          <a:p>
            <a:pPr algn="ctr">
              <a:defRPr sz="1150" b="1">
                <a:solidFill>
                  <a:srgbClr val="FFFFFF"/>
                </a:solidFill>
                <a:latin typeface="Aptos"/>
              </a:defRPr>
            </a:pPr>
            <a:r>
              <a:t>VALIDATE</a:t>
            </a:r>
          </a:p>
        </p:txBody>
      </p:sp>
      <p:sp>
        <p:nvSpPr>
          <p:cNvPr id="15" name="TextBox 14"/>
          <p:cNvSpPr txBox="1"/>
          <p:nvPr/>
        </p:nvSpPr>
        <p:spPr>
          <a:xfrm>
            <a:off x="804672" y="4251960"/>
            <a:ext cx="1828800" cy="274320"/>
          </a:xfrm>
          <a:prstGeom prst="rect">
            <a:avLst/>
          </a:prstGeom>
          <a:noFill/>
        </p:spPr>
        <p:txBody>
          <a:bodyPr wrap="square" anchor="t">
            <a:spAutoFit/>
          </a:bodyPr>
          <a:lstStyle/>
          <a:p>
            <a:pPr algn="l">
              <a:defRPr sz="1200" b="1">
                <a:solidFill>
                  <a:srgbClr val="B4C4D6"/>
                </a:solidFill>
                <a:latin typeface="Aptos"/>
              </a:defRPr>
            </a:pPr>
            <a:r>
              <a:t>NEXT SESSION</a:t>
            </a:r>
          </a:p>
        </p:txBody>
      </p:sp>
      <p:sp>
        <p:nvSpPr>
          <p:cNvPr id="16" name="TextBox 15"/>
          <p:cNvSpPr txBox="1"/>
          <p:nvPr/>
        </p:nvSpPr>
        <p:spPr>
          <a:xfrm>
            <a:off x="804672" y="4617720"/>
            <a:ext cx="8138160" cy="594360"/>
          </a:xfrm>
          <a:prstGeom prst="rect">
            <a:avLst/>
          </a:prstGeom>
          <a:noFill/>
        </p:spPr>
        <p:txBody>
          <a:bodyPr wrap="square" anchor="t">
            <a:spAutoFit/>
          </a:bodyPr>
          <a:lstStyle/>
          <a:p>
            <a:pPr algn="l">
              <a:defRPr sz="2400" b="1">
                <a:solidFill>
                  <a:srgbClr val="FFFFFF"/>
                </a:solidFill>
                <a:latin typeface="Aptos"/>
              </a:defRPr>
            </a:pPr>
            <a:r>
              <a:t>AI for Research &amp; Executive Communication</a:t>
            </a:r>
          </a:p>
        </p:txBody>
      </p:sp>
      <p:sp>
        <p:nvSpPr>
          <p:cNvPr id="17" name="TextBox 16"/>
          <p:cNvSpPr txBox="1"/>
          <p:nvPr/>
        </p:nvSpPr>
        <p:spPr>
          <a:xfrm>
            <a:off x="804672" y="6172200"/>
            <a:ext cx="4572000" cy="274320"/>
          </a:xfrm>
          <a:prstGeom prst="rect">
            <a:avLst/>
          </a:prstGeom>
          <a:noFill/>
        </p:spPr>
        <p:txBody>
          <a:bodyPr wrap="square" anchor="t">
            <a:spAutoFit/>
          </a:bodyPr>
          <a:lstStyle/>
          <a:p>
            <a:pPr algn="l">
              <a:defRPr sz="1000" b="1">
                <a:solidFill>
                  <a:srgbClr val="AEBED0"/>
                </a:solidFill>
                <a:latin typeface="Aptos"/>
              </a:defRPr>
            </a:pPr>
            <a:r>
              <a:t>WinTrust AI Capability Program</a:t>
            </a:r>
          </a:p>
        </p:txBody>
      </p:sp>
      <p:sp>
        <p:nvSpPr>
          <p:cNvPr id="18" name="Slide Number Placeholder 17">
            <a:extLst>
              <a:ext uri="{FF2B5EF4-FFF2-40B4-BE49-F238E27FC236}">
                <a16:creationId xmlns:a16="http://schemas.microsoft.com/office/drawing/2014/main" id="{67201BD5-EB35-D47B-1C3C-0DAB8EE8EAF9}"/>
              </a:ext>
            </a:extLst>
          </p:cNvPr>
          <p:cNvSpPr>
            <a:spLocks noGrp="1"/>
          </p:cNvSpPr>
          <p:nvPr>
            <p:ph type="sldNum" sz="quarter" idx="12"/>
          </p:nvPr>
        </p:nvSpPr>
        <p:spPr/>
        <p:txBody>
          <a:bodyPr/>
          <a:lstStyle/>
          <a:p>
            <a:fld id="{C1FF6DA9-008F-8B48-92A6-B652298478BF}" type="slidenum">
              <a:rPr lang="en-US" smtClean="0"/>
              <a:t>33</a:t>
            </a:fld>
            <a:endParaRPr lang="en-US"/>
          </a:p>
        </p:txBody>
      </p:sp>
      <p:sp>
        <p:nvSpPr>
          <p:cNvPr id="20" name="Arrow: Notched Right 19">
            <a:extLst>
              <a:ext uri="{FF2B5EF4-FFF2-40B4-BE49-F238E27FC236}">
                <a16:creationId xmlns:a16="http://schemas.microsoft.com/office/drawing/2014/main" id="{83DD2569-0DC5-5358-6977-0CD299CA6D9E}"/>
              </a:ext>
            </a:extLst>
          </p:cNvPr>
          <p:cNvSpPr/>
          <p:nvPr/>
        </p:nvSpPr>
        <p:spPr>
          <a:xfrm>
            <a:off x="2478024" y="3026664"/>
            <a:ext cx="228600" cy="164592"/>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2" name="Arrow: Notched Right 21">
            <a:extLst>
              <a:ext uri="{FF2B5EF4-FFF2-40B4-BE49-F238E27FC236}">
                <a16:creationId xmlns:a16="http://schemas.microsoft.com/office/drawing/2014/main" id="{A201E752-831D-0034-F0B7-C5D1ADE9BEB8}"/>
              </a:ext>
            </a:extLst>
          </p:cNvPr>
          <p:cNvSpPr/>
          <p:nvPr/>
        </p:nvSpPr>
        <p:spPr>
          <a:xfrm>
            <a:off x="4623816" y="3032760"/>
            <a:ext cx="228600" cy="164592"/>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4" name="Arrow: Notched Right 23">
            <a:extLst>
              <a:ext uri="{FF2B5EF4-FFF2-40B4-BE49-F238E27FC236}">
                <a16:creationId xmlns:a16="http://schemas.microsoft.com/office/drawing/2014/main" id="{4BE9929E-8CCC-1CCD-D1C6-B70E6AE58550}"/>
              </a:ext>
            </a:extLst>
          </p:cNvPr>
          <p:cNvSpPr/>
          <p:nvPr/>
        </p:nvSpPr>
        <p:spPr>
          <a:xfrm>
            <a:off x="6739128" y="3017520"/>
            <a:ext cx="228600" cy="164592"/>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Arrow: Notched Right 25">
            <a:extLst>
              <a:ext uri="{FF2B5EF4-FFF2-40B4-BE49-F238E27FC236}">
                <a16:creationId xmlns:a16="http://schemas.microsoft.com/office/drawing/2014/main" id="{34F47FA2-9371-9DB7-6CD1-B1D6B1391144}"/>
              </a:ext>
            </a:extLst>
          </p:cNvPr>
          <p:cNvSpPr/>
          <p:nvPr/>
        </p:nvSpPr>
        <p:spPr>
          <a:xfrm>
            <a:off x="8894064" y="3023616"/>
            <a:ext cx="228600" cy="164592"/>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B2743-E7EB-4EDA-99DD-3E50EDFDA064}"/>
              </a:ext>
            </a:extLst>
          </p:cNvPr>
          <p:cNvSpPr>
            <a:spLocks noGrp="1"/>
          </p:cNvSpPr>
          <p:nvPr>
            <p:ph type="title"/>
          </p:nvPr>
        </p:nvSpPr>
        <p:spPr>
          <a:xfrm>
            <a:off x="457199" y="274638"/>
            <a:ext cx="11282855" cy="1143000"/>
          </a:xfrm>
        </p:spPr>
        <p:txBody>
          <a:bodyPr/>
          <a:lstStyle/>
          <a:p>
            <a:r>
              <a:rPr lang="en-US" dirty="0"/>
              <a:t>Thank you</a:t>
            </a:r>
            <a:endParaRPr lang="en-IN" dirty="0"/>
          </a:p>
        </p:txBody>
      </p:sp>
      <p:sp>
        <p:nvSpPr>
          <p:cNvPr id="3" name="Content Placeholder 2">
            <a:extLst>
              <a:ext uri="{FF2B5EF4-FFF2-40B4-BE49-F238E27FC236}">
                <a16:creationId xmlns:a16="http://schemas.microsoft.com/office/drawing/2014/main" id="{A91D88BF-4C64-684A-E31B-A38E0D0E74FA}"/>
              </a:ext>
            </a:extLst>
          </p:cNvPr>
          <p:cNvSpPr>
            <a:spLocks noGrp="1"/>
          </p:cNvSpPr>
          <p:nvPr>
            <p:ph idx="1"/>
          </p:nvPr>
        </p:nvSpPr>
        <p:spPr>
          <a:xfrm>
            <a:off x="457199" y="1600200"/>
            <a:ext cx="11282855" cy="4525963"/>
          </a:xfrm>
        </p:spPr>
        <p:txBody>
          <a:bodyPr/>
          <a:lstStyle/>
          <a:p>
            <a:endParaRPr lang="en-IN"/>
          </a:p>
        </p:txBody>
      </p:sp>
      <p:sp>
        <p:nvSpPr>
          <p:cNvPr id="4" name="Slide Number Placeholder 3">
            <a:extLst>
              <a:ext uri="{FF2B5EF4-FFF2-40B4-BE49-F238E27FC236}">
                <a16:creationId xmlns:a16="http://schemas.microsoft.com/office/drawing/2014/main" id="{704F566B-04ED-66BE-E4F7-9D5692A3B33C}"/>
              </a:ext>
            </a:extLst>
          </p:cNvPr>
          <p:cNvSpPr>
            <a:spLocks noGrp="1"/>
          </p:cNvSpPr>
          <p:nvPr>
            <p:ph type="sldNum" sz="quarter" idx="12"/>
          </p:nvPr>
        </p:nvSpPr>
        <p:spPr/>
        <p:txBody>
          <a:bodyPr/>
          <a:lstStyle/>
          <a:p>
            <a:fld id="{C1FF6DA9-008F-8B48-92A6-B652298478BF}" type="slidenum">
              <a:rPr lang="en-US" smtClean="0"/>
              <a:t>34</a:t>
            </a:fld>
            <a:endParaRPr lang="en-US"/>
          </a:p>
        </p:txBody>
      </p:sp>
    </p:spTree>
    <p:extLst>
      <p:ext uri="{BB962C8B-B14F-4D97-AF65-F5344CB8AC3E}">
        <p14:creationId xmlns:p14="http://schemas.microsoft.com/office/powerpoint/2010/main" val="3414832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506</TotalTime>
  <Words>2087</Words>
  <Application>Microsoft Office PowerPoint</Application>
  <PresentationFormat>Widescreen</PresentationFormat>
  <Paragraphs>409</Paragraphs>
  <Slides>34</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34</vt:i4>
      </vt:variant>
    </vt:vector>
  </HeadingPairs>
  <TitlesOfParts>
    <vt:vector size="42" baseType="lpstr">
      <vt:lpstr>Aptos</vt:lpstr>
      <vt:lpstr>Aptos Display</vt:lpstr>
      <vt:lpstr>Arial</vt:lpstr>
      <vt:lpstr>Barlow Bold</vt:lpstr>
      <vt:lpstr>Calibri</vt:lpstr>
      <vt:lpstr>Lora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Ajay Singala</cp:lastModifiedBy>
  <cp:revision>22</cp:revision>
  <dcterms:created xsi:type="dcterms:W3CDTF">2013-01-27T09:14:16Z</dcterms:created>
  <dcterms:modified xsi:type="dcterms:W3CDTF">2026-10-18T06:42:04Z</dcterms:modified>
  <cp:category/>
</cp:coreProperties>
</file>