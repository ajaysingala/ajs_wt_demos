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90" r:id="rId3"/>
    <p:sldId id="291"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9" r:id="rId28"/>
    <p:sldId id="280" r:id="rId29"/>
    <p:sldId id="281" r:id="rId30"/>
    <p:sldId id="282" r:id="rId31"/>
    <p:sldId id="292" r:id="rId32"/>
    <p:sldId id="283" r:id="rId33"/>
    <p:sldId id="285" r:id="rId34"/>
    <p:sldId id="286" r:id="rId35"/>
    <p:sldId id="284" r:id="rId36"/>
    <p:sldId id="287" r:id="rId37"/>
    <p:sldId id="28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55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70D10-B534-454B-87C5-4557ADB642FC}" type="datetimeFigureOut">
              <a:rPr lang="en-IN" smtClean="0"/>
              <a:t>22-10-2026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C4F9C-CB10-4701-8F4A-7364BC8B5B9F}" type="slidenum">
              <a:rPr lang="en-IN" smtClean="0"/>
              <a:t>‹#›</a:t>
            </a:fld>
            <a:endParaRPr lang="en-IN"/>
          </a:p>
        </p:txBody>
      </p:sp>
    </p:spTree>
    <p:extLst>
      <p:ext uri="{BB962C8B-B14F-4D97-AF65-F5344CB8AC3E}">
        <p14:creationId xmlns:p14="http://schemas.microsoft.com/office/powerpoint/2010/main" val="3029364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D06F58-8D31-4C75-8335-FFD9B2F0892A}"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FDBA8E-B021-496F-8799-E21D82775AED}"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E2E2D-C4EE-4CF2-8804-1AA2CFD88C37}"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9C706BE-F124-4AB4-A5DD-065D571E897F}"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165039-C9C3-452F-B92B-85709E363CDF}" type="datetime1">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4711B21-E654-4872-849B-71CF8610BB33}" type="datetime1">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E20197-005E-4398-8435-00C20282AC0D}" type="datetime1">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9601200" y="6356350"/>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EE0FFC-1A5F-49E9-B044-F730A0119C25}"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312BAB-3751-42DE-85BD-69530E534B00}" type="datetime1">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5EB817-C232-4784-ABA2-332E81FD50F6}"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172B40-229A-4C54-9323-39AF342E63F9}" type="datetime1">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38E6F4-83AA-4AA4-BB40-D39C6B276C0B}" type="datetime1">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B4A"/>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49808"/>
            <a:ext cx="9601200" cy="320040"/>
          </a:xfrm>
          <a:prstGeom prst="rect">
            <a:avLst/>
          </a:prstGeom>
          <a:noFill/>
        </p:spPr>
        <p:txBody>
          <a:bodyPr wrap="square" lIns="36576" tIns="18288" rIns="36576" bIns="18288">
            <a:spAutoFit/>
          </a:bodyPr>
          <a:lstStyle/>
          <a:p>
            <a:pPr>
              <a:spcAft>
                <a:spcPts val="0"/>
              </a:spcAft>
            </a:pPr>
            <a:r>
              <a:rPr sz="1100" b="1" i="0">
                <a:solidFill>
                  <a:srgbClr val="78DAD3"/>
                </a:solidFill>
                <a:latin typeface="Aptos"/>
              </a:rPr>
              <a:t>WINTRUST | GENAI &amp; TECHNOLOGY FLUENCY</a:t>
            </a:r>
          </a:p>
        </p:txBody>
      </p:sp>
      <p:sp>
        <p:nvSpPr>
          <p:cNvPr id="4" name="TextBox 3"/>
          <p:cNvSpPr txBox="1"/>
          <p:nvPr/>
        </p:nvSpPr>
        <p:spPr>
          <a:xfrm>
            <a:off x="777240" y="1554480"/>
            <a:ext cx="10241280" cy="1600200"/>
          </a:xfrm>
          <a:prstGeom prst="rect">
            <a:avLst/>
          </a:prstGeom>
          <a:noFill/>
        </p:spPr>
        <p:txBody>
          <a:bodyPr wrap="square" lIns="36576" tIns="18288" rIns="36576" bIns="18288">
            <a:spAutoFit/>
          </a:bodyPr>
          <a:lstStyle/>
          <a:p>
            <a:pPr>
              <a:spcAft>
                <a:spcPts val="0"/>
              </a:spcAft>
            </a:pPr>
            <a:r>
              <a:rPr sz="3600" b="1" i="0">
                <a:solidFill>
                  <a:srgbClr val="FFFFFF"/>
                </a:solidFill>
                <a:latin typeface="Aptos Display"/>
              </a:rPr>
              <a:t>Data-to-Decisions
Analytics</a:t>
            </a:r>
          </a:p>
        </p:txBody>
      </p:sp>
      <p:sp>
        <p:nvSpPr>
          <p:cNvPr id="5" name="TextBox 4"/>
          <p:cNvSpPr txBox="1"/>
          <p:nvPr/>
        </p:nvSpPr>
        <p:spPr>
          <a:xfrm>
            <a:off x="822960" y="3429000"/>
            <a:ext cx="9966960" cy="640080"/>
          </a:xfrm>
          <a:prstGeom prst="rect">
            <a:avLst/>
          </a:prstGeom>
          <a:noFill/>
        </p:spPr>
        <p:txBody>
          <a:bodyPr wrap="square" lIns="36576" tIns="18288" rIns="36576" bIns="18288">
            <a:spAutoFit/>
          </a:bodyPr>
          <a:lstStyle/>
          <a:p>
            <a:pPr>
              <a:spcAft>
                <a:spcPts val="0"/>
              </a:spcAft>
            </a:pPr>
            <a:r>
              <a:rPr sz="2100" b="0" i="0">
                <a:solidFill>
                  <a:srgbClr val="DAE6F2"/>
                </a:solidFill>
                <a:latin typeface="Aptos"/>
              </a:rPr>
              <a:t>Turning raw data into evidence, insights, and business action</a:t>
            </a:r>
          </a:p>
        </p:txBody>
      </p:sp>
      <p:sp>
        <p:nvSpPr>
          <p:cNvPr id="8" name="TextBox 7"/>
          <p:cNvSpPr txBox="1"/>
          <p:nvPr/>
        </p:nvSpPr>
        <p:spPr>
          <a:xfrm>
            <a:off x="822960" y="6080760"/>
            <a:ext cx="7772400" cy="320040"/>
          </a:xfrm>
          <a:prstGeom prst="rect">
            <a:avLst/>
          </a:prstGeom>
          <a:noFill/>
        </p:spPr>
        <p:txBody>
          <a:bodyPr wrap="square" lIns="36576" tIns="18288" rIns="36576" bIns="18288">
            <a:spAutoFit/>
          </a:bodyPr>
          <a:lstStyle/>
          <a:p>
            <a:pPr>
              <a:spcAft>
                <a:spcPts val="0"/>
              </a:spcAft>
            </a:pPr>
            <a:r>
              <a:rPr sz="1300" b="0" i="0">
                <a:solidFill>
                  <a:srgbClr val="B4C8DA"/>
                </a:solidFill>
                <a:latin typeface="Aptos"/>
              </a:rPr>
              <a:t>Microsoft Copilot Chat  •  GitHub Copilot</a:t>
            </a:r>
          </a:p>
        </p:txBody>
      </p:sp>
      <p:sp>
        <p:nvSpPr>
          <p:cNvPr id="9" name="Slide Number Placeholder 8">
            <a:extLst>
              <a:ext uri="{FF2B5EF4-FFF2-40B4-BE49-F238E27FC236}">
                <a16:creationId xmlns:a16="http://schemas.microsoft.com/office/drawing/2014/main" id="{3E836B1C-F8B6-D361-9BBB-08ACF86FBF6B}"/>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B88FB-BD03-F672-2371-9F8221FEDF5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1BAB680-7117-9CF6-65A0-E3476177A655}"/>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81DF2D-7E0A-DE4C-431A-829454FE16FF}"/>
              </a:ext>
            </a:extLst>
          </p:cNvPr>
          <p:cNvSpPr txBox="1"/>
          <p:nvPr/>
        </p:nvSpPr>
        <p:spPr>
          <a:xfrm>
            <a:off x="594360" y="658368"/>
            <a:ext cx="3144066" cy="523220"/>
          </a:xfrm>
          <a:prstGeom prst="rect">
            <a:avLst/>
          </a:prstGeom>
          <a:noFill/>
        </p:spPr>
        <p:txBody>
          <a:bodyPr wrap="none">
            <a:spAutoFit/>
          </a:bodyPr>
          <a:lstStyle/>
          <a:p>
            <a:pPr>
              <a:defRPr sz="2800" b="1">
                <a:solidFill>
                  <a:srgbClr val="10233E"/>
                </a:solidFill>
                <a:latin typeface="Aptos Display"/>
              </a:defRPr>
            </a:pPr>
            <a:r>
              <a:rPr lang="en-US" dirty="0"/>
              <a:t>Recap Last Session</a:t>
            </a:r>
            <a:endParaRPr dirty="0"/>
          </a:p>
        </p:txBody>
      </p:sp>
      <p:sp>
        <p:nvSpPr>
          <p:cNvPr id="4" name="TextBox 3">
            <a:extLst>
              <a:ext uri="{FF2B5EF4-FFF2-40B4-BE49-F238E27FC236}">
                <a16:creationId xmlns:a16="http://schemas.microsoft.com/office/drawing/2014/main" id="{AF09FE70-9360-CC25-1DEB-8D57494ECF85}"/>
              </a:ext>
            </a:extLst>
          </p:cNvPr>
          <p:cNvSpPr txBox="1"/>
          <p:nvPr/>
        </p:nvSpPr>
        <p:spPr>
          <a:xfrm>
            <a:off x="621792" y="1307592"/>
            <a:ext cx="10698480" cy="502920"/>
          </a:xfrm>
          <a:prstGeom prst="rect">
            <a:avLst/>
          </a:prstGeom>
          <a:noFill/>
        </p:spPr>
        <p:txBody>
          <a:bodyPr wrap="none">
            <a:spAutoFit/>
          </a:bodyPr>
          <a:lstStyle/>
          <a:p>
            <a:pPr>
              <a:defRPr sz="1300">
                <a:solidFill>
                  <a:srgbClr val="5C6976"/>
                </a:solidFill>
                <a:latin typeface="Aptos"/>
              </a:defRPr>
            </a:pPr>
            <a:r>
              <a:t>From information to a decision-ready briefing</a:t>
            </a:r>
          </a:p>
        </p:txBody>
      </p:sp>
      <p:sp>
        <p:nvSpPr>
          <p:cNvPr id="5" name="Rectangle 4">
            <a:extLst>
              <a:ext uri="{FF2B5EF4-FFF2-40B4-BE49-F238E27FC236}">
                <a16:creationId xmlns:a16="http://schemas.microsoft.com/office/drawing/2014/main" id="{72B6A579-4F16-A945-FE28-11047FC65E92}"/>
              </a:ext>
            </a:extLst>
          </p:cNvPr>
          <p:cNvSpPr/>
          <p:nvPr/>
        </p:nvSpPr>
        <p:spPr>
          <a:xfrm>
            <a:off x="594360" y="6510528"/>
            <a:ext cx="10972800" cy="16459"/>
          </a:xfrm>
          <a:prstGeom prst="rect">
            <a:avLst/>
          </a:prstGeom>
          <a:solidFill>
            <a:srgbClr val="E0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2C91A3F-7BAE-6E0E-F555-C3038E018C3F}"/>
              </a:ext>
            </a:extLst>
          </p:cNvPr>
          <p:cNvSpPr txBox="1"/>
          <p:nvPr/>
        </p:nvSpPr>
        <p:spPr>
          <a:xfrm>
            <a:off x="621792" y="6547104"/>
            <a:ext cx="3657600" cy="164592"/>
          </a:xfrm>
          <a:prstGeom prst="rect">
            <a:avLst/>
          </a:prstGeom>
          <a:noFill/>
        </p:spPr>
        <p:txBody>
          <a:bodyPr wrap="none">
            <a:spAutoFit/>
          </a:bodyPr>
          <a:lstStyle/>
          <a:p>
            <a:pPr>
              <a:defRPr sz="750">
                <a:solidFill>
                  <a:srgbClr val="82919E"/>
                </a:solidFill>
                <a:latin typeface="Aptos"/>
              </a:defRPr>
            </a:pPr>
            <a:r>
              <a:t>WINTRUST  |  GenAI &amp; Technology Fluency</a:t>
            </a:r>
          </a:p>
        </p:txBody>
      </p:sp>
      <p:sp>
        <p:nvSpPr>
          <p:cNvPr id="7" name="Rounded Rectangle 6">
            <a:extLst>
              <a:ext uri="{FF2B5EF4-FFF2-40B4-BE49-F238E27FC236}">
                <a16:creationId xmlns:a16="http://schemas.microsoft.com/office/drawing/2014/main" id="{005FC5EA-A894-7AC8-454F-716BF07B371B}"/>
              </a:ext>
            </a:extLst>
          </p:cNvPr>
          <p:cNvSpPr/>
          <p:nvPr/>
        </p:nvSpPr>
        <p:spPr>
          <a:xfrm>
            <a:off x="640080" y="1874519"/>
            <a:ext cx="2011680" cy="2011680"/>
          </a:xfrm>
          <a:prstGeom prst="roundRect">
            <a:avLst/>
          </a:prstGeom>
          <a:solidFill>
            <a:srgbClr val="F2F6F9"/>
          </a:solidFill>
          <a:ln>
            <a:solidFill>
              <a:srgbClr val="E0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531F87F3-D76B-DF96-385E-069277C53FEF}"/>
              </a:ext>
            </a:extLst>
          </p:cNvPr>
          <p:cNvSpPr/>
          <p:nvPr/>
        </p:nvSpPr>
        <p:spPr>
          <a:xfrm>
            <a:off x="640080" y="1874519"/>
            <a:ext cx="73152" cy="201168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CDD38347-993E-04BA-9903-39F034B82DC4}"/>
              </a:ext>
            </a:extLst>
          </p:cNvPr>
          <p:cNvSpPr txBox="1"/>
          <p:nvPr/>
        </p:nvSpPr>
        <p:spPr>
          <a:xfrm>
            <a:off x="868680" y="2039112"/>
            <a:ext cx="1600200" cy="411480"/>
          </a:xfrm>
          <a:prstGeom prst="rect">
            <a:avLst/>
          </a:prstGeom>
          <a:noFill/>
        </p:spPr>
        <p:txBody>
          <a:bodyPr wrap="none">
            <a:spAutoFit/>
          </a:bodyPr>
          <a:lstStyle/>
          <a:p>
            <a:pPr>
              <a:defRPr sz="1500" b="1">
                <a:solidFill>
                  <a:srgbClr val="10233E"/>
                </a:solidFill>
                <a:latin typeface="Aptos"/>
              </a:defRPr>
            </a:pPr>
            <a:r>
              <a:t>1  Research</a:t>
            </a:r>
          </a:p>
        </p:txBody>
      </p:sp>
      <p:sp>
        <p:nvSpPr>
          <p:cNvPr id="10" name="TextBox 9">
            <a:extLst>
              <a:ext uri="{FF2B5EF4-FFF2-40B4-BE49-F238E27FC236}">
                <a16:creationId xmlns:a16="http://schemas.microsoft.com/office/drawing/2014/main" id="{2075C3AB-861D-ADEC-A6D1-48A716F574C2}"/>
              </a:ext>
            </a:extLst>
          </p:cNvPr>
          <p:cNvSpPr txBox="1"/>
          <p:nvPr/>
        </p:nvSpPr>
        <p:spPr>
          <a:xfrm>
            <a:off x="868680" y="2496312"/>
            <a:ext cx="1600200" cy="1280160"/>
          </a:xfrm>
          <a:prstGeom prst="rect">
            <a:avLst/>
          </a:prstGeom>
          <a:noFill/>
        </p:spPr>
        <p:txBody>
          <a:bodyPr wrap="square">
            <a:spAutoFit/>
          </a:bodyPr>
          <a:lstStyle/>
          <a:p>
            <a:pPr>
              <a:defRPr sz="1100">
                <a:solidFill>
                  <a:srgbClr val="283441"/>
                </a:solidFill>
                <a:latin typeface="Aptos"/>
              </a:defRPr>
            </a:pPr>
            <a:r>
              <a:t>Define the question and gather evidence</a:t>
            </a:r>
          </a:p>
        </p:txBody>
      </p:sp>
      <p:sp>
        <p:nvSpPr>
          <p:cNvPr id="11" name="Rounded Rectangle 10">
            <a:extLst>
              <a:ext uri="{FF2B5EF4-FFF2-40B4-BE49-F238E27FC236}">
                <a16:creationId xmlns:a16="http://schemas.microsoft.com/office/drawing/2014/main" id="{37464A94-DE68-346A-0FC1-91EE3FB2F0BC}"/>
              </a:ext>
            </a:extLst>
          </p:cNvPr>
          <p:cNvSpPr/>
          <p:nvPr/>
        </p:nvSpPr>
        <p:spPr>
          <a:xfrm>
            <a:off x="2926080" y="1874519"/>
            <a:ext cx="2011680" cy="2011680"/>
          </a:xfrm>
          <a:prstGeom prst="roundRect">
            <a:avLst/>
          </a:prstGeom>
          <a:solidFill>
            <a:srgbClr val="F2F6F9"/>
          </a:solidFill>
          <a:ln>
            <a:solidFill>
              <a:srgbClr val="E0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575D1A13-AE2D-1CBD-7346-764CE256F06A}"/>
              </a:ext>
            </a:extLst>
          </p:cNvPr>
          <p:cNvSpPr/>
          <p:nvPr/>
        </p:nvSpPr>
        <p:spPr>
          <a:xfrm>
            <a:off x="2926080" y="1874519"/>
            <a:ext cx="73152" cy="2011680"/>
          </a:xfrm>
          <a:prstGeom prst="rect">
            <a:avLst/>
          </a:prstGeom>
          <a:solidFill>
            <a:srgbClr val="2F63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DCEB1721-9CAE-DE11-0F6E-B5AE8E193DC1}"/>
              </a:ext>
            </a:extLst>
          </p:cNvPr>
          <p:cNvSpPr txBox="1"/>
          <p:nvPr/>
        </p:nvSpPr>
        <p:spPr>
          <a:xfrm>
            <a:off x="3154680" y="2039112"/>
            <a:ext cx="1600200" cy="411480"/>
          </a:xfrm>
          <a:prstGeom prst="rect">
            <a:avLst/>
          </a:prstGeom>
          <a:noFill/>
        </p:spPr>
        <p:txBody>
          <a:bodyPr wrap="none">
            <a:spAutoFit/>
          </a:bodyPr>
          <a:lstStyle/>
          <a:p>
            <a:pPr>
              <a:defRPr sz="1500" b="1">
                <a:solidFill>
                  <a:srgbClr val="10233E"/>
                </a:solidFill>
                <a:latin typeface="Aptos"/>
              </a:defRPr>
            </a:pPr>
            <a:r>
              <a:t>2  Synthesize</a:t>
            </a:r>
          </a:p>
        </p:txBody>
      </p:sp>
      <p:sp>
        <p:nvSpPr>
          <p:cNvPr id="14" name="TextBox 13">
            <a:extLst>
              <a:ext uri="{FF2B5EF4-FFF2-40B4-BE49-F238E27FC236}">
                <a16:creationId xmlns:a16="http://schemas.microsoft.com/office/drawing/2014/main" id="{3799014B-9D92-B7EF-4A54-5C0024CD5E05}"/>
              </a:ext>
            </a:extLst>
          </p:cNvPr>
          <p:cNvSpPr txBox="1"/>
          <p:nvPr/>
        </p:nvSpPr>
        <p:spPr>
          <a:xfrm>
            <a:off x="3154680" y="2496312"/>
            <a:ext cx="1600200" cy="1280160"/>
          </a:xfrm>
          <a:prstGeom prst="rect">
            <a:avLst/>
          </a:prstGeom>
          <a:noFill/>
        </p:spPr>
        <p:txBody>
          <a:bodyPr wrap="square">
            <a:spAutoFit/>
          </a:bodyPr>
          <a:lstStyle/>
          <a:p>
            <a:pPr>
              <a:defRPr sz="1100">
                <a:solidFill>
                  <a:srgbClr val="283441"/>
                </a:solidFill>
                <a:latin typeface="Aptos"/>
              </a:defRPr>
            </a:pPr>
            <a:r>
              <a:t>Connect information across sources</a:t>
            </a:r>
          </a:p>
        </p:txBody>
      </p:sp>
      <p:sp>
        <p:nvSpPr>
          <p:cNvPr id="15" name="Rounded Rectangle 14">
            <a:extLst>
              <a:ext uri="{FF2B5EF4-FFF2-40B4-BE49-F238E27FC236}">
                <a16:creationId xmlns:a16="http://schemas.microsoft.com/office/drawing/2014/main" id="{7025180C-D7BF-90CB-E007-AA2B8616EB47}"/>
              </a:ext>
            </a:extLst>
          </p:cNvPr>
          <p:cNvSpPr/>
          <p:nvPr/>
        </p:nvSpPr>
        <p:spPr>
          <a:xfrm>
            <a:off x="5212080" y="1874519"/>
            <a:ext cx="2011680" cy="2011680"/>
          </a:xfrm>
          <a:prstGeom prst="roundRect">
            <a:avLst/>
          </a:prstGeom>
          <a:solidFill>
            <a:srgbClr val="F2F6F9"/>
          </a:solidFill>
          <a:ln>
            <a:solidFill>
              <a:srgbClr val="E0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FE66A9DD-762E-50E3-52D3-5FC5C5B0304B}"/>
              </a:ext>
            </a:extLst>
          </p:cNvPr>
          <p:cNvSpPr/>
          <p:nvPr/>
        </p:nvSpPr>
        <p:spPr>
          <a:xfrm>
            <a:off x="5212080" y="1874519"/>
            <a:ext cx="73152" cy="2011680"/>
          </a:xfrm>
          <a:prstGeom prst="rect">
            <a:avLst/>
          </a:prstGeom>
          <a:solidFill>
            <a:srgbClr val="DA8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37C07273-E0CF-05FB-FCC7-6D05E027F44F}"/>
              </a:ext>
            </a:extLst>
          </p:cNvPr>
          <p:cNvSpPr txBox="1"/>
          <p:nvPr/>
        </p:nvSpPr>
        <p:spPr>
          <a:xfrm>
            <a:off x="5440680" y="2039112"/>
            <a:ext cx="1600200" cy="411480"/>
          </a:xfrm>
          <a:prstGeom prst="rect">
            <a:avLst/>
          </a:prstGeom>
          <a:noFill/>
        </p:spPr>
        <p:txBody>
          <a:bodyPr wrap="none">
            <a:spAutoFit/>
          </a:bodyPr>
          <a:lstStyle/>
          <a:p>
            <a:pPr>
              <a:defRPr sz="1500" b="1">
                <a:solidFill>
                  <a:srgbClr val="10233E"/>
                </a:solidFill>
                <a:latin typeface="Aptos"/>
              </a:defRPr>
            </a:pPr>
            <a:r>
              <a:t>3  Challenge</a:t>
            </a:r>
          </a:p>
        </p:txBody>
      </p:sp>
      <p:sp>
        <p:nvSpPr>
          <p:cNvPr id="18" name="TextBox 17">
            <a:extLst>
              <a:ext uri="{FF2B5EF4-FFF2-40B4-BE49-F238E27FC236}">
                <a16:creationId xmlns:a16="http://schemas.microsoft.com/office/drawing/2014/main" id="{3FF58025-5F4B-FC29-1812-8F78E194CAB8}"/>
              </a:ext>
            </a:extLst>
          </p:cNvPr>
          <p:cNvSpPr txBox="1"/>
          <p:nvPr/>
        </p:nvSpPr>
        <p:spPr>
          <a:xfrm>
            <a:off x="5440680" y="2496312"/>
            <a:ext cx="1600200" cy="1280160"/>
          </a:xfrm>
          <a:prstGeom prst="rect">
            <a:avLst/>
          </a:prstGeom>
          <a:noFill/>
        </p:spPr>
        <p:txBody>
          <a:bodyPr wrap="square">
            <a:spAutoFit/>
          </a:bodyPr>
          <a:lstStyle/>
          <a:p>
            <a:pPr>
              <a:defRPr sz="1100">
                <a:solidFill>
                  <a:srgbClr val="283441"/>
                </a:solidFill>
                <a:latin typeface="Aptos"/>
              </a:defRPr>
            </a:pPr>
            <a:r>
              <a:t>Find contradictions, assumptions and gaps</a:t>
            </a:r>
          </a:p>
        </p:txBody>
      </p:sp>
      <p:sp>
        <p:nvSpPr>
          <p:cNvPr id="19" name="Rounded Rectangle 18">
            <a:extLst>
              <a:ext uri="{FF2B5EF4-FFF2-40B4-BE49-F238E27FC236}">
                <a16:creationId xmlns:a16="http://schemas.microsoft.com/office/drawing/2014/main" id="{6C5FCDA4-E248-939C-3922-71F5067C9296}"/>
              </a:ext>
            </a:extLst>
          </p:cNvPr>
          <p:cNvSpPr/>
          <p:nvPr/>
        </p:nvSpPr>
        <p:spPr>
          <a:xfrm>
            <a:off x="7498079" y="1874519"/>
            <a:ext cx="2011680" cy="2011680"/>
          </a:xfrm>
          <a:prstGeom prst="roundRect">
            <a:avLst/>
          </a:prstGeom>
          <a:solidFill>
            <a:srgbClr val="F2F6F9"/>
          </a:solidFill>
          <a:ln>
            <a:solidFill>
              <a:srgbClr val="E0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A4B22E69-ADB5-383D-ABC6-A473719BAAE1}"/>
              </a:ext>
            </a:extLst>
          </p:cNvPr>
          <p:cNvSpPr/>
          <p:nvPr/>
        </p:nvSpPr>
        <p:spPr>
          <a:xfrm>
            <a:off x="7498079" y="1874519"/>
            <a:ext cx="73152" cy="2011680"/>
          </a:xfrm>
          <a:prstGeom prst="rect">
            <a:avLst/>
          </a:prstGeom>
          <a:solidFill>
            <a:srgbClr val="2F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25506634-37FC-FCD7-1AF2-065BA4AAC4E4}"/>
              </a:ext>
            </a:extLst>
          </p:cNvPr>
          <p:cNvSpPr txBox="1"/>
          <p:nvPr/>
        </p:nvSpPr>
        <p:spPr>
          <a:xfrm>
            <a:off x="7726679" y="2039112"/>
            <a:ext cx="1600200" cy="411480"/>
          </a:xfrm>
          <a:prstGeom prst="rect">
            <a:avLst/>
          </a:prstGeom>
          <a:noFill/>
        </p:spPr>
        <p:txBody>
          <a:bodyPr wrap="none">
            <a:spAutoFit/>
          </a:bodyPr>
          <a:lstStyle/>
          <a:p>
            <a:pPr>
              <a:defRPr sz="1500" b="1">
                <a:solidFill>
                  <a:srgbClr val="10233E"/>
                </a:solidFill>
                <a:latin typeface="Aptos"/>
              </a:defRPr>
            </a:pPr>
            <a:r>
              <a:t>4  Communicate</a:t>
            </a:r>
          </a:p>
        </p:txBody>
      </p:sp>
      <p:sp>
        <p:nvSpPr>
          <p:cNvPr id="22" name="TextBox 21">
            <a:extLst>
              <a:ext uri="{FF2B5EF4-FFF2-40B4-BE49-F238E27FC236}">
                <a16:creationId xmlns:a16="http://schemas.microsoft.com/office/drawing/2014/main" id="{7C43FA92-0865-40DA-EFE5-0BA136C412F2}"/>
              </a:ext>
            </a:extLst>
          </p:cNvPr>
          <p:cNvSpPr txBox="1"/>
          <p:nvPr/>
        </p:nvSpPr>
        <p:spPr>
          <a:xfrm>
            <a:off x="7726679" y="2496312"/>
            <a:ext cx="1600200" cy="1280160"/>
          </a:xfrm>
          <a:prstGeom prst="rect">
            <a:avLst/>
          </a:prstGeom>
          <a:noFill/>
        </p:spPr>
        <p:txBody>
          <a:bodyPr wrap="square">
            <a:spAutoFit/>
          </a:bodyPr>
          <a:lstStyle/>
          <a:p>
            <a:pPr>
              <a:defRPr sz="1100">
                <a:solidFill>
                  <a:srgbClr val="283441"/>
                </a:solidFill>
                <a:latin typeface="Aptos"/>
              </a:defRPr>
            </a:pPr>
            <a:r>
              <a:t>Turn analysis into audience-specific content</a:t>
            </a:r>
          </a:p>
        </p:txBody>
      </p:sp>
      <p:sp>
        <p:nvSpPr>
          <p:cNvPr id="23" name="Rounded Rectangle 22">
            <a:extLst>
              <a:ext uri="{FF2B5EF4-FFF2-40B4-BE49-F238E27FC236}">
                <a16:creationId xmlns:a16="http://schemas.microsoft.com/office/drawing/2014/main" id="{72F13C6A-3573-B76F-C963-6C6EE4B53A70}"/>
              </a:ext>
            </a:extLst>
          </p:cNvPr>
          <p:cNvSpPr/>
          <p:nvPr/>
        </p:nvSpPr>
        <p:spPr>
          <a:xfrm>
            <a:off x="9784080" y="1874519"/>
            <a:ext cx="2011680" cy="2011680"/>
          </a:xfrm>
          <a:prstGeom prst="roundRect">
            <a:avLst/>
          </a:prstGeom>
          <a:solidFill>
            <a:srgbClr val="F2F6F9"/>
          </a:solidFill>
          <a:ln>
            <a:solidFill>
              <a:srgbClr val="E0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223B1F68-71F0-A1FB-0132-4913416671A9}"/>
              </a:ext>
            </a:extLst>
          </p:cNvPr>
          <p:cNvSpPr/>
          <p:nvPr/>
        </p:nvSpPr>
        <p:spPr>
          <a:xfrm>
            <a:off x="9784080" y="1874519"/>
            <a:ext cx="73152" cy="2011680"/>
          </a:xfrm>
          <a:prstGeom prst="rect">
            <a:avLst/>
          </a:prstGeom>
          <a:solidFill>
            <a:srgbClr val="B8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577AD217-5344-C5CF-36FE-7E2E987A7EED}"/>
              </a:ext>
            </a:extLst>
          </p:cNvPr>
          <p:cNvSpPr txBox="1"/>
          <p:nvPr/>
        </p:nvSpPr>
        <p:spPr>
          <a:xfrm>
            <a:off x="10012680" y="2039112"/>
            <a:ext cx="1600200" cy="411480"/>
          </a:xfrm>
          <a:prstGeom prst="rect">
            <a:avLst/>
          </a:prstGeom>
          <a:noFill/>
        </p:spPr>
        <p:txBody>
          <a:bodyPr wrap="none">
            <a:spAutoFit/>
          </a:bodyPr>
          <a:lstStyle/>
          <a:p>
            <a:pPr>
              <a:defRPr sz="1500" b="1">
                <a:solidFill>
                  <a:srgbClr val="10233E"/>
                </a:solidFill>
                <a:latin typeface="Aptos"/>
              </a:defRPr>
            </a:pPr>
            <a:r>
              <a:t>5  Validate</a:t>
            </a:r>
          </a:p>
        </p:txBody>
      </p:sp>
      <p:sp>
        <p:nvSpPr>
          <p:cNvPr id="26" name="TextBox 25">
            <a:extLst>
              <a:ext uri="{FF2B5EF4-FFF2-40B4-BE49-F238E27FC236}">
                <a16:creationId xmlns:a16="http://schemas.microsoft.com/office/drawing/2014/main" id="{5BF8395F-A60B-BB13-FF6E-D61C0C05F9EC}"/>
              </a:ext>
            </a:extLst>
          </p:cNvPr>
          <p:cNvSpPr txBox="1"/>
          <p:nvPr/>
        </p:nvSpPr>
        <p:spPr>
          <a:xfrm>
            <a:off x="10012680" y="2496312"/>
            <a:ext cx="1600200" cy="1280160"/>
          </a:xfrm>
          <a:prstGeom prst="rect">
            <a:avLst/>
          </a:prstGeom>
          <a:noFill/>
        </p:spPr>
        <p:txBody>
          <a:bodyPr wrap="square">
            <a:spAutoFit/>
          </a:bodyPr>
          <a:lstStyle/>
          <a:p>
            <a:pPr>
              <a:defRPr sz="1100">
                <a:solidFill>
                  <a:srgbClr val="283441"/>
                </a:solidFill>
                <a:latin typeface="Aptos"/>
              </a:defRPr>
            </a:pPr>
            <a:r>
              <a:t>Decide what can safely be used</a:t>
            </a:r>
          </a:p>
        </p:txBody>
      </p:sp>
      <p:sp>
        <p:nvSpPr>
          <p:cNvPr id="27" name="Slide Number Placeholder 26">
            <a:extLst>
              <a:ext uri="{FF2B5EF4-FFF2-40B4-BE49-F238E27FC236}">
                <a16:creationId xmlns:a16="http://schemas.microsoft.com/office/drawing/2014/main" id="{92B0D2E6-8977-F0E4-3E36-A2F6C6F41817}"/>
              </a:ext>
            </a:extLst>
          </p:cNvPr>
          <p:cNvSpPr>
            <a:spLocks noGrp="1"/>
          </p:cNvSpPr>
          <p:nvPr>
            <p:ph type="sldNum" sz="quarter" idx="12"/>
          </p:nvPr>
        </p:nvSpPr>
        <p:spPr/>
        <p:txBody>
          <a:bodyPr/>
          <a:lstStyle/>
          <a:p>
            <a:fld id="{C1FF6DA9-008F-8B48-92A6-B652298478BF}" type="slidenum">
              <a:rPr lang="en-US" smtClean="0"/>
              <a:t>2</a:t>
            </a:fld>
            <a:endParaRPr lang="en-US"/>
          </a:p>
        </p:txBody>
      </p:sp>
    </p:spTree>
    <p:extLst>
      <p:ext uri="{BB962C8B-B14F-4D97-AF65-F5344CB8AC3E}">
        <p14:creationId xmlns:p14="http://schemas.microsoft.com/office/powerpoint/2010/main" val="1263452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658368"/>
            <a:ext cx="10972800" cy="640080"/>
          </a:xfrm>
          <a:prstGeom prst="rect">
            <a:avLst/>
          </a:prstGeom>
          <a:noFill/>
        </p:spPr>
        <p:txBody>
          <a:bodyPr wrap="none">
            <a:spAutoFit/>
          </a:bodyPr>
          <a:lstStyle/>
          <a:p>
            <a:pPr>
              <a:defRPr sz="2800" b="1">
                <a:solidFill>
                  <a:srgbClr val="10233E"/>
                </a:solidFill>
                <a:latin typeface="Aptos Display"/>
              </a:defRPr>
            </a:pPr>
            <a:r>
              <a:rPr dirty="0"/>
              <a:t>Today's Learning Journey</a:t>
            </a:r>
          </a:p>
        </p:txBody>
      </p:sp>
      <p:sp>
        <p:nvSpPr>
          <p:cNvPr id="4" name="TextBox 3"/>
          <p:cNvSpPr txBox="1"/>
          <p:nvPr/>
        </p:nvSpPr>
        <p:spPr>
          <a:xfrm>
            <a:off x="621792" y="1307592"/>
            <a:ext cx="10058010" cy="2308324"/>
          </a:xfrm>
          <a:prstGeom prst="rect">
            <a:avLst/>
          </a:prstGeom>
          <a:noFill/>
        </p:spPr>
        <p:txBody>
          <a:bodyPr wrap="none">
            <a:spAutoFit/>
          </a:bodyPr>
          <a:lstStyle/>
          <a:p>
            <a:pPr marL="285750" lvl="0" indent="-285750">
              <a:buFont typeface="Arial" panose="020B0604020202020204" pitchFamily="34" charset="0"/>
              <a:buChar char="•"/>
            </a:pPr>
            <a:r>
              <a:rPr lang="en-IN" dirty="0">
                <a:latin typeface="Aptos" panose="020B0004020202020204" pitchFamily="34" charset="0"/>
              </a:rPr>
              <a:t>Ask AI useful analytical questions rather than simply request a summary.</a:t>
            </a:r>
          </a:p>
          <a:p>
            <a:pPr marL="285750" lvl="0" indent="-285750">
              <a:buFont typeface="Arial" panose="020B0604020202020204" pitchFamily="34" charset="0"/>
              <a:buChar char="•"/>
            </a:pPr>
            <a:r>
              <a:rPr lang="en-IN" dirty="0">
                <a:latin typeface="Aptos" panose="020B0004020202020204" pitchFamily="34" charset="0"/>
              </a:rPr>
              <a:t>Explore a dataset using business dimensions such as region, product, segment, status, and time.</a:t>
            </a:r>
          </a:p>
          <a:p>
            <a:pPr marL="285750" lvl="0" indent="-285750">
              <a:buFont typeface="Arial" panose="020B0604020202020204" pitchFamily="34" charset="0"/>
              <a:buChar char="•"/>
            </a:pPr>
            <a:r>
              <a:rPr lang="en-IN" dirty="0">
                <a:latin typeface="Aptos" panose="020B0004020202020204" pitchFamily="34" charset="0"/>
              </a:rPr>
              <a:t>Distinguish descriptive statistics from actionable insights.</a:t>
            </a:r>
          </a:p>
          <a:p>
            <a:pPr marL="285750" lvl="0" indent="-285750">
              <a:buFont typeface="Arial" panose="020B0604020202020204" pitchFamily="34" charset="0"/>
              <a:buChar char="•"/>
            </a:pPr>
            <a:r>
              <a:rPr lang="en-IN" dirty="0">
                <a:latin typeface="Aptos" panose="020B0004020202020204" pitchFamily="34" charset="0"/>
              </a:rPr>
              <a:t>Identify outliers, anomalies, potential risks, and opportunities.</a:t>
            </a:r>
          </a:p>
          <a:p>
            <a:pPr marL="285750" lvl="0" indent="-285750">
              <a:buFont typeface="Arial" panose="020B0604020202020204" pitchFamily="34" charset="0"/>
              <a:buChar char="•"/>
            </a:pPr>
            <a:r>
              <a:rPr lang="en-IN" dirty="0">
                <a:latin typeface="Aptos" panose="020B0004020202020204" pitchFamily="34" charset="0"/>
              </a:rPr>
              <a:t>Validate AI-generated calculations and question unsupported conclusions.</a:t>
            </a:r>
          </a:p>
          <a:p>
            <a:pPr marL="285750" lvl="0" indent="-285750">
              <a:buFont typeface="Arial" panose="020B0604020202020204" pitchFamily="34" charset="0"/>
              <a:buChar char="•"/>
            </a:pPr>
            <a:r>
              <a:rPr lang="en-IN" dirty="0">
                <a:latin typeface="Aptos" panose="020B0004020202020204" pitchFamily="34" charset="0"/>
              </a:rPr>
              <a:t>Recognize data-quality limitations, missing context, and misleading comparisons.</a:t>
            </a:r>
          </a:p>
          <a:p>
            <a:pPr marL="285750" lvl="0" indent="-285750">
              <a:buFont typeface="Arial" panose="020B0604020202020204" pitchFamily="34" charset="0"/>
              <a:buChar char="•"/>
            </a:pPr>
            <a:r>
              <a:rPr lang="en-IN" dirty="0">
                <a:latin typeface="Aptos" panose="020B0004020202020204" pitchFamily="34" charset="0"/>
              </a:rPr>
              <a:t>Translate validated analysis into recommendations and follow-up questions.</a:t>
            </a:r>
          </a:p>
          <a:p>
            <a:pPr marL="285750" lvl="0" indent="-285750">
              <a:buFont typeface="Arial" panose="020B0604020202020204" pitchFamily="34" charset="0"/>
              <a:buChar char="•"/>
            </a:pPr>
            <a:r>
              <a:rPr lang="en-IN" dirty="0">
                <a:latin typeface="Aptos" panose="020B0004020202020204" pitchFamily="34" charset="0"/>
              </a:rPr>
              <a:t>Use GitHub Copilot to generate and review repeatable analytical code when appropriate.</a:t>
            </a:r>
          </a:p>
        </p:txBody>
      </p:sp>
      <p:sp>
        <p:nvSpPr>
          <p:cNvPr id="5" name="Rectangle 4"/>
          <p:cNvSpPr/>
          <p:nvPr/>
        </p:nvSpPr>
        <p:spPr>
          <a:xfrm>
            <a:off x="594360" y="6510528"/>
            <a:ext cx="10972800" cy="16459"/>
          </a:xfrm>
          <a:prstGeom prst="rect">
            <a:avLst/>
          </a:prstGeom>
          <a:solidFill>
            <a:srgbClr val="E0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6547104"/>
            <a:ext cx="3657600" cy="164592"/>
          </a:xfrm>
          <a:prstGeom prst="rect">
            <a:avLst/>
          </a:prstGeom>
          <a:noFill/>
        </p:spPr>
        <p:txBody>
          <a:bodyPr wrap="none">
            <a:spAutoFit/>
          </a:bodyPr>
          <a:lstStyle/>
          <a:p>
            <a:pPr>
              <a:defRPr sz="750">
                <a:solidFill>
                  <a:srgbClr val="82919E"/>
                </a:solidFill>
                <a:latin typeface="Aptos"/>
              </a:defRPr>
            </a:pPr>
            <a:r>
              <a:t>WINTRUST  |  GenAI &amp; Technology Fluency</a:t>
            </a:r>
          </a:p>
        </p:txBody>
      </p:sp>
      <p:sp>
        <p:nvSpPr>
          <p:cNvPr id="27" name="Slide Number Placeholder 26">
            <a:extLst>
              <a:ext uri="{FF2B5EF4-FFF2-40B4-BE49-F238E27FC236}">
                <a16:creationId xmlns:a16="http://schemas.microsoft.com/office/drawing/2014/main" id="{7899E309-3BA3-8CDA-4F52-3236863FFAFC}"/>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Why this session matters</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4251960"/>
          </a:xfrm>
          <a:prstGeom prst="rect">
            <a:avLst/>
          </a:prstGeom>
          <a:noFill/>
        </p:spPr>
        <p:txBody>
          <a:bodyPr wrap="square" lIns="45720" tIns="18288" rIns="36576" bIns="18288">
            <a:spAutoFit/>
          </a:bodyPr>
          <a:lstStyle/>
          <a:p>
            <a:pPr>
              <a:spcAft>
                <a:spcPts val="900"/>
              </a:spcAft>
              <a:defRPr sz="1700">
                <a:solidFill>
                  <a:srgbClr val="2D3744"/>
                </a:solidFill>
                <a:latin typeface="Aptos"/>
              </a:defRPr>
            </a:pPr>
            <a:r>
              <a:t>AI can help explore data, identify patterns, generate analytical code, and explain findings in business language.</a:t>
            </a:r>
          </a:p>
          <a:p>
            <a:pPr>
              <a:spcAft>
                <a:spcPts val="900"/>
              </a:spcAft>
              <a:defRPr sz="1700">
                <a:solidFill>
                  <a:srgbClr val="2D3744"/>
                </a:solidFill>
                <a:latin typeface="Aptos"/>
              </a:defRPr>
            </a:pPr>
            <a:r>
              <a:t>AI-generated analysis can contain incorrect calculations, misleading comparisons, unsupported explanations, or unjustified recommendations.</a:t>
            </a:r>
          </a:p>
          <a:p>
            <a:pPr>
              <a:spcAft>
                <a:spcPts val="900"/>
              </a:spcAft>
              <a:defRPr sz="1700">
                <a:solidFill>
                  <a:srgbClr val="2D3744"/>
                </a:solidFill>
                <a:latin typeface="Aptos"/>
              </a:defRPr>
            </a:pPr>
            <a:r>
              <a:t>A well-written analytical narrative is not proof that the underlying analysis is correct.</a:t>
            </a:r>
          </a:p>
          <a:p>
            <a:pPr>
              <a:spcAft>
                <a:spcPts val="900"/>
              </a:spcAft>
              <a:defRPr sz="1700">
                <a:solidFill>
                  <a:srgbClr val="2D3744"/>
                </a:solidFill>
                <a:latin typeface="Aptos"/>
              </a:defRPr>
            </a:pPr>
            <a:r>
              <a:t>The goal is to accelerate analysis while maintaining control over evidence, assumptions, and conclusions.</a:t>
            </a:r>
          </a:p>
        </p:txBody>
      </p:sp>
      <p:sp>
        <p:nvSpPr>
          <p:cNvPr id="7" name="Rounded Rectangle 6"/>
          <p:cNvSpPr/>
          <p:nvPr/>
        </p:nvSpPr>
        <p:spPr>
          <a:xfrm>
            <a:off x="713232" y="5715000"/>
            <a:ext cx="10789920" cy="65836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43016"/>
            <a:ext cx="10332720" cy="384048"/>
          </a:xfrm>
          <a:prstGeom prst="rect">
            <a:avLst/>
          </a:prstGeom>
          <a:noFill/>
        </p:spPr>
        <p:txBody>
          <a:bodyPr wrap="square" lIns="36576" tIns="18288" rIns="36576" bIns="18288">
            <a:spAutoFit/>
          </a:bodyPr>
          <a:lstStyle/>
          <a:p>
            <a:pPr>
              <a:spcAft>
                <a:spcPts val="0"/>
              </a:spcAft>
            </a:pPr>
            <a:r>
              <a:rPr sz="1400" b="1" i="0">
                <a:solidFill>
                  <a:srgbClr val="162B4A"/>
                </a:solidFill>
                <a:latin typeface="Aptos"/>
              </a:rPr>
              <a:t>AI accelerates analysis. Evidence and judgment make it decision-ready.</a:t>
            </a:r>
          </a:p>
        </p:txBody>
      </p:sp>
      <p:sp>
        <p:nvSpPr>
          <p:cNvPr id="9" name="Slide Number Placeholder 8">
            <a:extLst>
              <a:ext uri="{FF2B5EF4-FFF2-40B4-BE49-F238E27FC236}">
                <a16:creationId xmlns:a16="http://schemas.microsoft.com/office/drawing/2014/main" id="{CE130EEE-15AE-6BE6-9545-CAA9DDB3F377}"/>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A summary is not an insight</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691640"/>
            <a:ext cx="5321808" cy="4434840"/>
          </a:xfrm>
          <a:prstGeom prst="roundRect">
            <a:avLst/>
          </a:prstGeom>
          <a:solidFill>
            <a:srgbClr val="E6EFF9"/>
          </a:solidFill>
          <a:ln>
            <a:solidFill>
              <a:srgbClr val="E6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691640"/>
            <a:ext cx="5321808" cy="4434840"/>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20240"/>
            <a:ext cx="4754880" cy="365760"/>
          </a:xfrm>
          <a:prstGeom prst="rect">
            <a:avLst/>
          </a:prstGeom>
          <a:noFill/>
        </p:spPr>
        <p:txBody>
          <a:bodyPr wrap="square" lIns="36576" tIns="18288" rIns="36576" bIns="18288">
            <a:spAutoFit/>
          </a:bodyPr>
          <a:lstStyle/>
          <a:p>
            <a:pPr>
              <a:spcAft>
                <a:spcPts val="0"/>
              </a:spcAft>
            </a:pPr>
            <a:r>
              <a:rPr sz="1800" b="1" i="0">
                <a:solidFill>
                  <a:srgbClr val="162B4A"/>
                </a:solidFill>
                <a:latin typeface="Aptos"/>
              </a:rPr>
              <a:t>Observation</a:t>
            </a:r>
          </a:p>
        </p:txBody>
      </p:sp>
      <p:sp>
        <p:nvSpPr>
          <p:cNvPr id="9" name="TextBox 8"/>
          <p:cNvSpPr txBox="1"/>
          <p:nvPr/>
        </p:nvSpPr>
        <p:spPr>
          <a:xfrm>
            <a:off x="914400" y="2441448"/>
            <a:ext cx="4709160" cy="3474720"/>
          </a:xfrm>
          <a:prstGeom prst="rect">
            <a:avLst/>
          </a:prstGeom>
          <a:noFill/>
        </p:spPr>
        <p:txBody>
          <a:bodyPr wrap="square" lIns="45720" tIns="18288" rIns="36576" bIns="18288">
            <a:spAutoFit/>
          </a:bodyPr>
          <a:lstStyle/>
          <a:p>
            <a:pPr>
              <a:spcAft>
                <a:spcPts val="700"/>
              </a:spcAft>
              <a:defRPr sz="1400">
                <a:solidFill>
                  <a:srgbClr val="2D3744"/>
                </a:solidFill>
                <a:latin typeface="Aptos"/>
              </a:defRPr>
            </a:pPr>
            <a:r>
              <a:t>“The West region has the highest pipeline value.”</a:t>
            </a:r>
          </a:p>
          <a:p>
            <a:pPr>
              <a:spcAft>
                <a:spcPts val="700"/>
              </a:spcAft>
              <a:defRPr sz="1400">
                <a:solidFill>
                  <a:srgbClr val="2D3744"/>
                </a:solidFill>
                <a:latin typeface="Aptos"/>
              </a:defRPr>
            </a:pPr>
            <a:r>
              <a:t>Describes what the data shows.</a:t>
            </a:r>
          </a:p>
          <a:p>
            <a:pPr>
              <a:spcAft>
                <a:spcPts val="700"/>
              </a:spcAft>
              <a:defRPr sz="1400">
                <a:solidFill>
                  <a:srgbClr val="2D3744"/>
                </a:solidFill>
                <a:latin typeface="Aptos"/>
              </a:defRPr>
            </a:pPr>
            <a:r>
              <a:t>Requires a valid and comparable metric.</a:t>
            </a:r>
          </a:p>
        </p:txBody>
      </p:sp>
      <p:sp>
        <p:nvSpPr>
          <p:cNvPr id="10" name="TextBox 9"/>
          <p:cNvSpPr txBox="1"/>
          <p:nvPr/>
        </p:nvSpPr>
        <p:spPr>
          <a:xfrm>
            <a:off x="6446520" y="1920240"/>
            <a:ext cx="4754880" cy="365760"/>
          </a:xfrm>
          <a:prstGeom prst="rect">
            <a:avLst/>
          </a:prstGeom>
          <a:noFill/>
        </p:spPr>
        <p:txBody>
          <a:bodyPr wrap="square" lIns="36576" tIns="18288" rIns="36576" bIns="18288">
            <a:spAutoFit/>
          </a:bodyPr>
          <a:lstStyle/>
          <a:p>
            <a:pPr>
              <a:spcAft>
                <a:spcPts val="0"/>
              </a:spcAft>
            </a:pPr>
            <a:r>
              <a:rPr sz="1800" b="1" i="0">
                <a:solidFill>
                  <a:srgbClr val="162B4A"/>
                </a:solidFill>
                <a:latin typeface="Aptos"/>
              </a:rPr>
              <a:t>Claims requiring more evidence</a:t>
            </a:r>
          </a:p>
        </p:txBody>
      </p:sp>
      <p:sp>
        <p:nvSpPr>
          <p:cNvPr id="11" name="TextBox 10"/>
          <p:cNvSpPr txBox="1"/>
          <p:nvPr/>
        </p:nvSpPr>
        <p:spPr>
          <a:xfrm>
            <a:off x="6446520" y="2441448"/>
            <a:ext cx="4709160" cy="3474720"/>
          </a:xfrm>
          <a:prstGeom prst="rect">
            <a:avLst/>
          </a:prstGeom>
          <a:noFill/>
        </p:spPr>
        <p:txBody>
          <a:bodyPr wrap="square" lIns="45720" tIns="18288" rIns="36576" bIns="18288">
            <a:spAutoFit/>
          </a:bodyPr>
          <a:lstStyle/>
          <a:p>
            <a:pPr>
              <a:spcAft>
                <a:spcPts val="700"/>
              </a:spcAft>
              <a:defRPr sz="1400">
                <a:solidFill>
                  <a:srgbClr val="2D3744"/>
                </a:solidFill>
                <a:latin typeface="Aptos"/>
              </a:defRPr>
            </a:pPr>
            <a:r>
              <a:t>“The West has the strongest conversion.”</a:t>
            </a:r>
          </a:p>
          <a:p>
            <a:pPr>
              <a:spcAft>
                <a:spcPts val="700"/>
              </a:spcAft>
              <a:defRPr sz="1400">
                <a:solidFill>
                  <a:srgbClr val="2D3744"/>
                </a:solidFill>
                <a:latin typeface="Aptos"/>
              </a:defRPr>
            </a:pPr>
            <a:r>
              <a:t>“The West will achieve the highest sales.”</a:t>
            </a:r>
          </a:p>
          <a:p>
            <a:pPr>
              <a:spcAft>
                <a:spcPts val="700"/>
              </a:spcAft>
              <a:defRPr sz="1400">
                <a:solidFill>
                  <a:srgbClr val="2D3744"/>
                </a:solidFill>
                <a:latin typeface="Aptos"/>
              </a:defRPr>
            </a:pPr>
            <a:r>
              <a:t>“WinTrust should allocate more resources to the West.”</a:t>
            </a:r>
          </a:p>
          <a:p>
            <a:pPr>
              <a:spcAft>
                <a:spcPts val="700"/>
              </a:spcAft>
              <a:defRPr sz="1400">
                <a:solidFill>
                  <a:srgbClr val="2D3744"/>
                </a:solidFill>
                <a:latin typeface="Aptos"/>
              </a:defRPr>
            </a:pPr>
            <a:r>
              <a:t>These require additional calculations, assumptions, and business context.</a:t>
            </a:r>
          </a:p>
        </p:txBody>
      </p:sp>
      <p:sp>
        <p:nvSpPr>
          <p:cNvPr id="12" name="Slide Number Placeholder 11">
            <a:extLst>
              <a:ext uri="{FF2B5EF4-FFF2-40B4-BE49-F238E27FC236}">
                <a16:creationId xmlns:a16="http://schemas.microsoft.com/office/drawing/2014/main" id="{B4443D69-73FC-3C1E-00FA-47802E56B28A}"/>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The journey from data to decisions</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1920240"/>
            <a:ext cx="2057400" cy="1938528"/>
          </a:xfrm>
          <a:prstGeom prst="roundRect">
            <a:avLst/>
          </a:prstGeom>
          <a:solidFill>
            <a:srgbClr val="E6EFF9"/>
          </a:solidFill>
          <a:ln>
            <a:solidFill>
              <a:srgbClr val="E6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DATA</a:t>
            </a:r>
          </a:p>
        </p:txBody>
      </p:sp>
      <p:sp>
        <p:nvSpPr>
          <p:cNvPr id="8" name="TextBox 7"/>
          <p:cNvSpPr txBox="1"/>
          <p:nvPr/>
        </p:nvSpPr>
        <p:spPr>
          <a:xfrm>
            <a:off x="78638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What information
is available?</a:t>
            </a:r>
          </a:p>
        </p:txBody>
      </p:sp>
      <p:sp>
        <p:nvSpPr>
          <p:cNvPr id="9" name="TextBox 8"/>
          <p:cNvSpPr txBox="1"/>
          <p:nvPr/>
        </p:nvSpPr>
        <p:spPr>
          <a:xfrm>
            <a:off x="270662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0" name="Rounded Rectangle 9"/>
          <p:cNvSpPr/>
          <p:nvPr/>
        </p:nvSpPr>
        <p:spPr>
          <a:xfrm>
            <a:off x="2871215" y="1920240"/>
            <a:ext cx="2057400" cy="193852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6265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ANALYSIS</a:t>
            </a:r>
          </a:p>
        </p:txBody>
      </p:sp>
      <p:sp>
        <p:nvSpPr>
          <p:cNvPr id="12" name="TextBox 11"/>
          <p:cNvSpPr txBox="1"/>
          <p:nvPr/>
        </p:nvSpPr>
        <p:spPr>
          <a:xfrm>
            <a:off x="298094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What does the
data show?</a:t>
            </a:r>
          </a:p>
        </p:txBody>
      </p:sp>
      <p:sp>
        <p:nvSpPr>
          <p:cNvPr id="13" name="TextBox 12"/>
          <p:cNvSpPr txBox="1"/>
          <p:nvPr/>
        </p:nvSpPr>
        <p:spPr>
          <a:xfrm>
            <a:off x="4901183"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4" name="Rounded Rectangle 13"/>
          <p:cNvSpPr/>
          <p:nvPr/>
        </p:nvSpPr>
        <p:spPr>
          <a:xfrm>
            <a:off x="5065776" y="1920240"/>
            <a:ext cx="2057400" cy="1938528"/>
          </a:xfrm>
          <a:prstGeom prst="roundRect">
            <a:avLst/>
          </a:prstGeom>
          <a:solidFill>
            <a:srgbClr val="FAF3E2"/>
          </a:solidFill>
          <a:ln>
            <a:solidFill>
              <a:srgbClr val="FAF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5721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INSIGHT</a:t>
            </a:r>
          </a:p>
        </p:txBody>
      </p:sp>
      <p:sp>
        <p:nvSpPr>
          <p:cNvPr id="16" name="TextBox 15"/>
          <p:cNvSpPr txBox="1"/>
          <p:nvPr/>
        </p:nvSpPr>
        <p:spPr>
          <a:xfrm>
            <a:off x="517550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What is important
about the finding?</a:t>
            </a:r>
          </a:p>
        </p:txBody>
      </p:sp>
      <p:sp>
        <p:nvSpPr>
          <p:cNvPr id="17" name="TextBox 16"/>
          <p:cNvSpPr txBox="1"/>
          <p:nvPr/>
        </p:nvSpPr>
        <p:spPr>
          <a:xfrm>
            <a:off x="709574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8" name="Rounded Rectangle 17"/>
          <p:cNvSpPr/>
          <p:nvPr/>
        </p:nvSpPr>
        <p:spPr>
          <a:xfrm>
            <a:off x="7260336" y="1920240"/>
            <a:ext cx="2057400" cy="1938528"/>
          </a:xfrm>
          <a:prstGeom prst="roundRect">
            <a:avLst/>
          </a:prstGeom>
          <a:solidFill>
            <a:srgbClr val="E2F3EB"/>
          </a:solidFill>
          <a:ln>
            <a:solidFill>
              <a:srgbClr val="E2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51775"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VALIDATION</a:t>
            </a:r>
          </a:p>
        </p:txBody>
      </p:sp>
      <p:sp>
        <p:nvSpPr>
          <p:cNvPr id="20" name="TextBox 19"/>
          <p:cNvSpPr txBox="1"/>
          <p:nvPr/>
        </p:nvSpPr>
        <p:spPr>
          <a:xfrm>
            <a:off x="7370063"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Can we trust the
calculation and meaning?</a:t>
            </a:r>
          </a:p>
        </p:txBody>
      </p:sp>
      <p:sp>
        <p:nvSpPr>
          <p:cNvPr id="21" name="TextBox 20"/>
          <p:cNvSpPr txBox="1"/>
          <p:nvPr/>
        </p:nvSpPr>
        <p:spPr>
          <a:xfrm>
            <a:off x="929030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22" name="Rounded Rectangle 21"/>
          <p:cNvSpPr/>
          <p:nvPr/>
        </p:nvSpPr>
        <p:spPr>
          <a:xfrm>
            <a:off x="9454896" y="1920240"/>
            <a:ext cx="2057400" cy="1938528"/>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4633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DECISION</a:t>
            </a:r>
          </a:p>
        </p:txBody>
      </p:sp>
      <p:sp>
        <p:nvSpPr>
          <p:cNvPr id="24" name="TextBox 23"/>
          <p:cNvSpPr txBox="1"/>
          <p:nvPr/>
        </p:nvSpPr>
        <p:spPr>
          <a:xfrm>
            <a:off x="956462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What action, if any,
should follow?</a:t>
            </a:r>
          </a:p>
        </p:txBody>
      </p:sp>
      <p:sp>
        <p:nvSpPr>
          <p:cNvPr id="25" name="Rounded Rectangle 24"/>
          <p:cNvSpPr/>
          <p:nvPr/>
        </p:nvSpPr>
        <p:spPr>
          <a:xfrm>
            <a:off x="749808" y="4572000"/>
            <a:ext cx="10698480" cy="914400"/>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0120" y="4773168"/>
            <a:ext cx="10287000" cy="502920"/>
          </a:xfrm>
          <a:prstGeom prst="rect">
            <a:avLst/>
          </a:prstGeom>
          <a:noFill/>
        </p:spPr>
        <p:txBody>
          <a:bodyPr wrap="square" lIns="36576" tIns="18288" rIns="36576" bIns="18288">
            <a:spAutoFit/>
          </a:bodyPr>
          <a:lstStyle/>
          <a:p>
            <a:pPr algn="ctr">
              <a:spcAft>
                <a:spcPts val="0"/>
              </a:spcAft>
            </a:pPr>
            <a:r>
              <a:rPr sz="1500" b="1" i="0">
                <a:solidFill>
                  <a:srgbClr val="162B4A"/>
                </a:solidFill>
                <a:latin typeface="Aptos"/>
              </a:rPr>
              <a:t>Validation may send us back to inspect the data or revise the analysis.</a:t>
            </a:r>
          </a:p>
        </p:txBody>
      </p:sp>
      <p:sp>
        <p:nvSpPr>
          <p:cNvPr id="27" name="Slide Number Placeholder 26">
            <a:extLst>
              <a:ext uri="{FF2B5EF4-FFF2-40B4-BE49-F238E27FC236}">
                <a16:creationId xmlns:a16="http://schemas.microsoft.com/office/drawing/2014/main" id="{CC9F28E9-4A02-3D45-6D43-DB8C8E9997A4}"/>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Four levels of analytical output</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2091342"/>
          </a:xfrm>
          <a:prstGeom prst="rect">
            <a:avLst/>
          </a:prstGeom>
          <a:noFill/>
        </p:spPr>
        <p:txBody>
          <a:bodyPr wrap="square" lIns="45720" tIns="18288" rIns="36576" bIns="18288">
            <a:spAutoFit/>
          </a:bodyPr>
          <a:lstStyle/>
          <a:p>
            <a:pPr>
              <a:spcAft>
                <a:spcPts val="900"/>
              </a:spcAft>
              <a:defRPr sz="1600">
                <a:solidFill>
                  <a:srgbClr val="2D3744"/>
                </a:solidFill>
                <a:latin typeface="Aptos"/>
              </a:defRPr>
            </a:pPr>
            <a:r>
              <a:rPr b="1" dirty="0"/>
              <a:t>OBSERVATION</a:t>
            </a:r>
            <a:r>
              <a:rPr dirty="0"/>
              <a:t>: “The pipeline contains opportunities with a total value of X.”</a:t>
            </a:r>
          </a:p>
          <a:p>
            <a:pPr>
              <a:spcAft>
                <a:spcPts val="900"/>
              </a:spcAft>
              <a:defRPr sz="1600">
                <a:solidFill>
                  <a:srgbClr val="2D3744"/>
                </a:solidFill>
                <a:latin typeface="Aptos"/>
              </a:defRPr>
            </a:pPr>
            <a:r>
              <a:rPr b="1" dirty="0"/>
              <a:t>INSIGHT</a:t>
            </a:r>
            <a:r>
              <a:rPr dirty="0"/>
              <a:t>: “A particular segment accounts for a large share of the pipeline.”</a:t>
            </a:r>
          </a:p>
          <a:p>
            <a:pPr>
              <a:spcAft>
                <a:spcPts val="900"/>
              </a:spcAft>
              <a:defRPr sz="1600">
                <a:solidFill>
                  <a:srgbClr val="2D3744"/>
                </a:solidFill>
                <a:latin typeface="Aptos"/>
              </a:defRPr>
            </a:pPr>
            <a:r>
              <a:rPr b="1" dirty="0"/>
              <a:t>HYPOTHESIS</a:t>
            </a:r>
            <a:r>
              <a:rPr dirty="0"/>
              <a:t>: “The concentration may reflect demand, a few large customers, or stage distribution.”</a:t>
            </a:r>
          </a:p>
          <a:p>
            <a:pPr>
              <a:spcAft>
                <a:spcPts val="900"/>
              </a:spcAft>
              <a:defRPr sz="1600">
                <a:solidFill>
                  <a:srgbClr val="2D3744"/>
                </a:solidFill>
                <a:latin typeface="Aptos"/>
              </a:defRPr>
            </a:pPr>
            <a:r>
              <a:rPr b="1" dirty="0"/>
              <a:t>RECOMMENDATION</a:t>
            </a:r>
            <a:r>
              <a:rPr dirty="0"/>
              <a:t>: “Review the largest opportunities and test whether the concentration creates forecast risk.”</a:t>
            </a:r>
          </a:p>
          <a:p>
            <a:pPr>
              <a:spcAft>
                <a:spcPts val="900"/>
              </a:spcAft>
              <a:defRPr sz="1600">
                <a:solidFill>
                  <a:srgbClr val="2D3744"/>
                </a:solidFill>
                <a:latin typeface="Aptos"/>
              </a:defRPr>
            </a:pPr>
            <a:endParaRPr lang="en-US" dirty="0"/>
          </a:p>
          <a:p>
            <a:pPr>
              <a:spcAft>
                <a:spcPts val="900"/>
              </a:spcAft>
              <a:defRPr sz="1600">
                <a:solidFill>
                  <a:srgbClr val="2D3744"/>
                </a:solidFill>
                <a:latin typeface="Aptos"/>
              </a:defRPr>
            </a:pPr>
            <a:r>
              <a:rPr dirty="0"/>
              <a:t>A hypothesis is not a proven explanation. A recommendation should be proportionate to the evidence.</a:t>
            </a:r>
          </a:p>
        </p:txBody>
      </p:sp>
      <p:sp>
        <p:nvSpPr>
          <p:cNvPr id="7" name="Slide Number Placeholder 6">
            <a:extLst>
              <a:ext uri="{FF2B5EF4-FFF2-40B4-BE49-F238E27FC236}">
                <a16:creationId xmlns:a16="http://schemas.microsoft.com/office/drawing/2014/main" id="{9B815CF2-F8F3-00CF-A3D9-357E9E9A717E}"/>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What AI can and cannot do in analytics</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691640"/>
            <a:ext cx="5321808" cy="4434840"/>
          </a:xfrm>
          <a:prstGeom prst="roundRect">
            <a:avLst/>
          </a:prstGeom>
          <a:solidFill>
            <a:srgbClr val="E6EFF9"/>
          </a:solidFill>
          <a:ln>
            <a:solidFill>
              <a:srgbClr val="E6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691640"/>
            <a:ext cx="5321808" cy="4434840"/>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20240"/>
            <a:ext cx="4754880" cy="365760"/>
          </a:xfrm>
          <a:prstGeom prst="rect">
            <a:avLst/>
          </a:prstGeom>
          <a:noFill/>
        </p:spPr>
        <p:txBody>
          <a:bodyPr wrap="square" lIns="36576" tIns="18288" rIns="36576" bIns="18288">
            <a:spAutoFit/>
          </a:bodyPr>
          <a:lstStyle/>
          <a:p>
            <a:pPr>
              <a:spcAft>
                <a:spcPts val="0"/>
              </a:spcAft>
            </a:pPr>
            <a:r>
              <a:rPr sz="1800" b="1" i="0">
                <a:solidFill>
                  <a:srgbClr val="162B4A"/>
                </a:solidFill>
                <a:latin typeface="Aptos"/>
              </a:rPr>
              <a:t>Useful for</a:t>
            </a:r>
          </a:p>
        </p:txBody>
      </p:sp>
      <p:sp>
        <p:nvSpPr>
          <p:cNvPr id="9" name="TextBox 8"/>
          <p:cNvSpPr txBox="1"/>
          <p:nvPr/>
        </p:nvSpPr>
        <p:spPr>
          <a:xfrm>
            <a:off x="914400" y="2441448"/>
            <a:ext cx="4709160" cy="3474720"/>
          </a:xfrm>
          <a:prstGeom prst="rect">
            <a:avLst/>
          </a:prstGeom>
          <a:noFill/>
        </p:spPr>
        <p:txBody>
          <a:bodyPr wrap="square" lIns="45720" tIns="18288" rIns="36576" bIns="18288">
            <a:spAutoFit/>
          </a:bodyPr>
          <a:lstStyle/>
          <a:p>
            <a:pPr>
              <a:spcAft>
                <a:spcPts val="700"/>
              </a:spcAft>
              <a:defRPr sz="1400">
                <a:solidFill>
                  <a:srgbClr val="2D3744"/>
                </a:solidFill>
                <a:latin typeface="Aptos"/>
              </a:defRPr>
            </a:pPr>
            <a:r>
              <a:t>Understanding dataset structure</a:t>
            </a:r>
          </a:p>
          <a:p>
            <a:pPr>
              <a:spcAft>
                <a:spcPts val="700"/>
              </a:spcAft>
              <a:defRPr sz="1400">
                <a:solidFill>
                  <a:srgbClr val="2D3744"/>
                </a:solidFill>
                <a:latin typeface="Aptos"/>
              </a:defRPr>
            </a:pPr>
            <a:r>
              <a:t>Suggesting analytical questions</a:t>
            </a:r>
          </a:p>
          <a:p>
            <a:pPr>
              <a:spcAft>
                <a:spcPts val="700"/>
              </a:spcAft>
              <a:defRPr sz="1400">
                <a:solidFill>
                  <a:srgbClr val="2D3744"/>
                </a:solidFill>
                <a:latin typeface="Aptos"/>
              </a:defRPr>
            </a:pPr>
            <a:r>
              <a:t>Generating calculations and code</a:t>
            </a:r>
          </a:p>
          <a:p>
            <a:pPr>
              <a:spcAft>
                <a:spcPts val="700"/>
              </a:spcAft>
              <a:defRPr sz="1400">
                <a:solidFill>
                  <a:srgbClr val="2D3744"/>
                </a:solidFill>
                <a:latin typeface="Aptos"/>
              </a:defRPr>
            </a:pPr>
            <a:r>
              <a:t>Summarizing grouped results</a:t>
            </a:r>
          </a:p>
          <a:p>
            <a:pPr>
              <a:spcAft>
                <a:spcPts val="700"/>
              </a:spcAft>
              <a:defRPr sz="1400">
                <a:solidFill>
                  <a:srgbClr val="2D3744"/>
                </a:solidFill>
                <a:latin typeface="Aptos"/>
              </a:defRPr>
            </a:pPr>
            <a:r>
              <a:t>Identifying possible anomalies</a:t>
            </a:r>
          </a:p>
          <a:p>
            <a:pPr>
              <a:spcAft>
                <a:spcPts val="700"/>
              </a:spcAft>
              <a:defRPr sz="1400">
                <a:solidFill>
                  <a:srgbClr val="2D3744"/>
                </a:solidFill>
                <a:latin typeface="Aptos"/>
              </a:defRPr>
            </a:pPr>
            <a:r>
              <a:t>Preparing reports and decision briefs</a:t>
            </a:r>
          </a:p>
        </p:txBody>
      </p:sp>
      <p:sp>
        <p:nvSpPr>
          <p:cNvPr id="10" name="TextBox 9"/>
          <p:cNvSpPr txBox="1"/>
          <p:nvPr/>
        </p:nvSpPr>
        <p:spPr>
          <a:xfrm>
            <a:off x="6446520" y="1920240"/>
            <a:ext cx="4754880" cy="365760"/>
          </a:xfrm>
          <a:prstGeom prst="rect">
            <a:avLst/>
          </a:prstGeom>
          <a:noFill/>
        </p:spPr>
        <p:txBody>
          <a:bodyPr wrap="square" lIns="36576" tIns="18288" rIns="36576" bIns="18288">
            <a:spAutoFit/>
          </a:bodyPr>
          <a:lstStyle/>
          <a:p>
            <a:pPr>
              <a:spcAft>
                <a:spcPts val="0"/>
              </a:spcAft>
            </a:pPr>
            <a:r>
              <a:rPr sz="1800" b="1" i="0">
                <a:solidFill>
                  <a:srgbClr val="162B4A"/>
                </a:solidFill>
                <a:latin typeface="Aptos"/>
              </a:rPr>
              <a:t>Not guaranteed</a:t>
            </a:r>
          </a:p>
        </p:txBody>
      </p:sp>
      <p:sp>
        <p:nvSpPr>
          <p:cNvPr id="11" name="TextBox 10"/>
          <p:cNvSpPr txBox="1"/>
          <p:nvPr/>
        </p:nvSpPr>
        <p:spPr>
          <a:xfrm>
            <a:off x="6446520" y="2441448"/>
            <a:ext cx="4709160" cy="3474720"/>
          </a:xfrm>
          <a:prstGeom prst="rect">
            <a:avLst/>
          </a:prstGeom>
          <a:noFill/>
        </p:spPr>
        <p:txBody>
          <a:bodyPr wrap="square" lIns="45720" tIns="18288" rIns="36576" bIns="18288">
            <a:spAutoFit/>
          </a:bodyPr>
          <a:lstStyle/>
          <a:p>
            <a:pPr>
              <a:spcAft>
                <a:spcPts val="700"/>
              </a:spcAft>
              <a:defRPr sz="1400">
                <a:solidFill>
                  <a:srgbClr val="2D3744"/>
                </a:solidFill>
                <a:latin typeface="Aptos"/>
              </a:defRPr>
            </a:pPr>
            <a:r>
              <a:t>Correct calculations</a:t>
            </a:r>
          </a:p>
          <a:p>
            <a:pPr>
              <a:spcAft>
                <a:spcPts val="700"/>
              </a:spcAft>
              <a:defRPr sz="1400">
                <a:solidFill>
                  <a:srgbClr val="2D3744"/>
                </a:solidFill>
                <a:latin typeface="Aptos"/>
              </a:defRPr>
            </a:pPr>
            <a:r>
              <a:t>Accurate field interpretation</a:t>
            </a:r>
          </a:p>
          <a:p>
            <a:pPr>
              <a:spcAft>
                <a:spcPts val="700"/>
              </a:spcAft>
              <a:defRPr sz="1400">
                <a:solidFill>
                  <a:srgbClr val="2D3744"/>
                </a:solidFill>
                <a:latin typeface="Aptos"/>
              </a:defRPr>
            </a:pPr>
            <a:r>
              <a:t>Representative data</a:t>
            </a:r>
          </a:p>
          <a:p>
            <a:pPr>
              <a:spcAft>
                <a:spcPts val="700"/>
              </a:spcAft>
              <a:defRPr sz="1400">
                <a:solidFill>
                  <a:srgbClr val="2D3744"/>
                </a:solidFill>
                <a:latin typeface="Aptos"/>
              </a:defRPr>
            </a:pPr>
            <a:r>
              <a:t>Appropriate statistical methods</a:t>
            </a:r>
          </a:p>
          <a:p>
            <a:pPr>
              <a:spcAft>
                <a:spcPts val="700"/>
              </a:spcAft>
              <a:defRPr sz="1400">
                <a:solidFill>
                  <a:srgbClr val="2D3744"/>
                </a:solidFill>
                <a:latin typeface="Aptos"/>
              </a:defRPr>
            </a:pPr>
            <a:r>
              <a:t>Causal explanations</a:t>
            </a:r>
          </a:p>
          <a:p>
            <a:pPr>
              <a:spcAft>
                <a:spcPts val="700"/>
              </a:spcAft>
              <a:defRPr sz="1400">
                <a:solidFill>
                  <a:srgbClr val="2D3744"/>
                </a:solidFill>
                <a:latin typeface="Aptos"/>
              </a:defRPr>
            </a:pPr>
            <a:r>
              <a:t>Valid business recommendations</a:t>
            </a:r>
          </a:p>
        </p:txBody>
      </p:sp>
      <p:sp>
        <p:nvSpPr>
          <p:cNvPr id="12" name="Slide Number Placeholder 11">
            <a:extLst>
              <a:ext uri="{FF2B5EF4-FFF2-40B4-BE49-F238E27FC236}">
                <a16:creationId xmlns:a16="http://schemas.microsoft.com/office/drawing/2014/main" id="{7F66078D-AE9E-4ED7-4B3E-FB507842D481}"/>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Six common analytical failure modes</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2091342"/>
          </a:xfrm>
          <a:prstGeom prst="rect">
            <a:avLst/>
          </a:prstGeom>
          <a:noFill/>
        </p:spPr>
        <p:txBody>
          <a:bodyPr wrap="square" lIns="45720" tIns="18288" rIns="36576" bIns="18288">
            <a:spAutoFit/>
          </a:bodyPr>
          <a:lstStyle/>
          <a:p>
            <a:pPr>
              <a:spcAft>
                <a:spcPts val="900"/>
              </a:spcAft>
              <a:defRPr sz="1600">
                <a:solidFill>
                  <a:srgbClr val="2D3744"/>
                </a:solidFill>
                <a:latin typeface="Aptos"/>
              </a:defRPr>
            </a:pPr>
            <a:r>
              <a:rPr b="1" dirty="0"/>
              <a:t>Incorrect aggregation</a:t>
            </a:r>
            <a:r>
              <a:rPr dirty="0"/>
              <a:t>: adding values that should not be added.</a:t>
            </a:r>
          </a:p>
          <a:p>
            <a:pPr>
              <a:spcAft>
                <a:spcPts val="900"/>
              </a:spcAft>
              <a:defRPr sz="1600">
                <a:solidFill>
                  <a:srgbClr val="2D3744"/>
                </a:solidFill>
                <a:latin typeface="Aptos"/>
              </a:defRPr>
            </a:pPr>
            <a:r>
              <a:rPr b="1" dirty="0"/>
              <a:t>Misleading averages</a:t>
            </a:r>
            <a:r>
              <a:rPr dirty="0"/>
              <a:t>: hiding variation behind a single number.</a:t>
            </a:r>
          </a:p>
          <a:p>
            <a:pPr>
              <a:spcAft>
                <a:spcPts val="900"/>
              </a:spcAft>
              <a:defRPr sz="1600">
                <a:solidFill>
                  <a:srgbClr val="2D3744"/>
                </a:solidFill>
                <a:latin typeface="Aptos"/>
              </a:defRPr>
            </a:pPr>
            <a:r>
              <a:rPr b="1" dirty="0"/>
              <a:t>Wrong denominator</a:t>
            </a:r>
            <a:r>
              <a:rPr dirty="0"/>
              <a:t>: calculating a percentage against the wrong population.</a:t>
            </a:r>
          </a:p>
          <a:p>
            <a:pPr>
              <a:spcAft>
                <a:spcPts val="900"/>
              </a:spcAft>
              <a:defRPr sz="1600">
                <a:solidFill>
                  <a:srgbClr val="2D3744"/>
                </a:solidFill>
                <a:latin typeface="Aptos"/>
              </a:defRPr>
            </a:pPr>
            <a:r>
              <a:rPr b="1" dirty="0"/>
              <a:t>Metric confusion</a:t>
            </a:r>
            <a:r>
              <a:rPr dirty="0"/>
              <a:t>: treating pipeline value as realized revenue.</a:t>
            </a:r>
          </a:p>
          <a:p>
            <a:pPr>
              <a:spcAft>
                <a:spcPts val="900"/>
              </a:spcAft>
              <a:defRPr sz="1600">
                <a:solidFill>
                  <a:srgbClr val="2D3744"/>
                </a:solidFill>
                <a:latin typeface="Aptos"/>
              </a:defRPr>
            </a:pPr>
            <a:r>
              <a:rPr b="1" dirty="0"/>
              <a:t>Unsupported causation</a:t>
            </a:r>
            <a:r>
              <a:rPr dirty="0"/>
              <a:t>: treating an association as proof of cause.</a:t>
            </a:r>
          </a:p>
          <a:p>
            <a:pPr>
              <a:spcAft>
                <a:spcPts val="900"/>
              </a:spcAft>
              <a:defRPr sz="1600">
                <a:solidFill>
                  <a:srgbClr val="2D3744"/>
                </a:solidFill>
                <a:latin typeface="Aptos"/>
              </a:defRPr>
            </a:pPr>
            <a:r>
              <a:rPr b="1" dirty="0"/>
              <a:t>Missing context</a:t>
            </a:r>
            <a:r>
              <a:rPr dirty="0"/>
              <a:t>: ignoring incomplete records, reporting periods, or business definitions.</a:t>
            </a:r>
          </a:p>
        </p:txBody>
      </p:sp>
      <p:sp>
        <p:nvSpPr>
          <p:cNvPr id="7" name="Slide Number Placeholder 6">
            <a:extLst>
              <a:ext uri="{FF2B5EF4-FFF2-40B4-BE49-F238E27FC236}">
                <a16:creationId xmlns:a16="http://schemas.microsoft.com/office/drawing/2014/main" id="{1419E03F-0E56-8C2B-B47E-8B0CF6CAC539}"/>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9" name="TextBox 8">
            <a:extLst>
              <a:ext uri="{FF2B5EF4-FFF2-40B4-BE49-F238E27FC236}">
                <a16:creationId xmlns:a16="http://schemas.microsoft.com/office/drawing/2014/main" id="{80238B9C-56DD-E6E0-C435-9DC3E98D404D}"/>
              </a:ext>
            </a:extLst>
          </p:cNvPr>
          <p:cNvSpPr txBox="1"/>
          <p:nvPr/>
        </p:nvSpPr>
        <p:spPr>
          <a:xfrm>
            <a:off x="822960" y="4350298"/>
            <a:ext cx="10515600" cy="1384995"/>
          </a:xfrm>
          <a:prstGeom prst="rect">
            <a:avLst/>
          </a:prstGeom>
          <a:noFill/>
        </p:spPr>
        <p:txBody>
          <a:bodyPr wrap="square">
            <a:spAutoFit/>
          </a:bodyPr>
          <a:lstStyle/>
          <a:p>
            <a:pPr lvl="0" algn="just">
              <a:lnSpc>
                <a:spcPct val="100000"/>
              </a:lnSpc>
            </a:pPr>
            <a:r>
              <a:rPr lang="en-IN" sz="1400" b="1" dirty="0">
                <a:effectLst/>
                <a:latin typeface="Aptos" panose="020B0004020202020204" pitchFamily="34" charset="0"/>
                <a:ea typeface="Aptos" panose="020B0004020202020204" pitchFamily="34" charset="0"/>
                <a:cs typeface="Times New Roman" panose="02020603050405020304" pitchFamily="18" charset="0"/>
              </a:rPr>
              <a:t>Some examples</a:t>
            </a:r>
            <a:r>
              <a:rPr lang="en-IN" sz="14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gn="just">
              <a:lnSpc>
                <a:spcPct val="100000"/>
              </a:lnSpc>
              <a:buFont typeface="Symbol" panose="05050102010706020507" pitchFamily="18" charset="2"/>
              <a:buChar char=""/>
            </a:pPr>
            <a:r>
              <a:rPr lang="en-IN" sz="1400" dirty="0">
                <a:effectLst/>
                <a:latin typeface="Aptos" panose="020B0004020202020204" pitchFamily="34" charset="0"/>
                <a:ea typeface="Aptos" panose="020B0004020202020204" pitchFamily="34" charset="0"/>
                <a:cs typeface="Times New Roman" panose="02020603050405020304" pitchFamily="18" charset="0"/>
              </a:rPr>
              <a:t>A region with one very large opportunity may have a high average deal value.</a:t>
            </a:r>
          </a:p>
          <a:p>
            <a:pPr marL="342900" lvl="0" indent="-342900" algn="just">
              <a:lnSpc>
                <a:spcPct val="100000"/>
              </a:lnSpc>
              <a:buFont typeface="Symbol" panose="05050102010706020507" pitchFamily="18" charset="2"/>
              <a:buChar char=""/>
            </a:pPr>
            <a:r>
              <a:rPr lang="en-IN" sz="1400" dirty="0">
                <a:effectLst/>
                <a:latin typeface="Aptos" panose="020B0004020202020204" pitchFamily="34" charset="0"/>
                <a:ea typeface="Aptos" panose="020B0004020202020204" pitchFamily="34" charset="0"/>
                <a:cs typeface="Times New Roman" panose="02020603050405020304" pitchFamily="18" charset="0"/>
              </a:rPr>
              <a:t>A win rate calculated using only closed deals differs from one calculated using all opportunities.</a:t>
            </a:r>
          </a:p>
          <a:p>
            <a:pPr marL="342900" lvl="0" indent="-342900" algn="just">
              <a:lnSpc>
                <a:spcPct val="100000"/>
              </a:lnSpc>
              <a:buFont typeface="Symbol" panose="05050102010706020507" pitchFamily="18" charset="2"/>
              <a:buChar char=""/>
            </a:pPr>
            <a:r>
              <a:rPr lang="en-IN" sz="1400" dirty="0">
                <a:effectLst/>
                <a:latin typeface="Aptos" panose="020B0004020202020204" pitchFamily="34" charset="0"/>
                <a:ea typeface="Aptos" panose="020B0004020202020204" pitchFamily="34" charset="0"/>
                <a:cs typeface="Times New Roman" panose="02020603050405020304" pitchFamily="18" charset="0"/>
              </a:rPr>
              <a:t>An open opportunity with a high expected value is not the same as realized revenue.</a:t>
            </a:r>
            <a:endParaRPr lang="en-IN" sz="1400" dirty="0">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0000"/>
              </a:lnSpc>
              <a:buFont typeface="Symbol" panose="05050102010706020507" pitchFamily="18" charset="2"/>
              <a:buChar char=""/>
            </a:pPr>
            <a:r>
              <a:rPr lang="en-IN" sz="1400" kern="0" dirty="0">
                <a:effectLst/>
                <a:latin typeface="Aptos" panose="020B0004020202020204" pitchFamily="34" charset="0"/>
                <a:ea typeface="Aptos" panose="020B0004020202020204" pitchFamily="34" charset="0"/>
                <a:cs typeface="Times New Roman" panose="02020603050405020304" pitchFamily="18" charset="0"/>
              </a:rPr>
              <a:t>A high ticket volume may indicate more incidents, more reporting, or a larger workload. It does not, by itself, establish the root cause.</a:t>
            </a:r>
            <a:endParaRPr lang="en-IN" sz="1400" dirty="0">
              <a:latin typeface="Aptos"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How to write an analytical prompt</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2345257"/>
          </a:xfrm>
          <a:prstGeom prst="rect">
            <a:avLst/>
          </a:prstGeom>
          <a:noFill/>
        </p:spPr>
        <p:txBody>
          <a:bodyPr wrap="square" lIns="45720" tIns="18288" rIns="36576" bIns="18288">
            <a:spAutoFit/>
          </a:bodyPr>
          <a:lstStyle/>
          <a:p>
            <a:pPr>
              <a:spcAft>
                <a:spcPts val="900"/>
              </a:spcAft>
              <a:defRPr sz="1500">
                <a:solidFill>
                  <a:srgbClr val="2D3744"/>
                </a:solidFill>
                <a:latin typeface="Aptos"/>
              </a:defRPr>
            </a:pPr>
            <a:r>
              <a:rPr b="1" dirty="0"/>
              <a:t>ROLE</a:t>
            </a:r>
            <a:r>
              <a:rPr dirty="0"/>
              <a:t>: Who should the AI act as?</a:t>
            </a:r>
          </a:p>
          <a:p>
            <a:pPr>
              <a:spcAft>
                <a:spcPts val="900"/>
              </a:spcAft>
              <a:defRPr sz="1500">
                <a:solidFill>
                  <a:srgbClr val="2D3744"/>
                </a:solidFill>
                <a:latin typeface="Aptos"/>
              </a:defRPr>
            </a:pPr>
            <a:r>
              <a:rPr b="1" dirty="0"/>
              <a:t>DATA</a:t>
            </a:r>
            <a:r>
              <a:rPr dirty="0"/>
              <a:t>: Which file, columns, and period are relevant?</a:t>
            </a:r>
          </a:p>
          <a:p>
            <a:pPr>
              <a:spcAft>
                <a:spcPts val="900"/>
              </a:spcAft>
              <a:defRPr sz="1500">
                <a:solidFill>
                  <a:srgbClr val="2D3744"/>
                </a:solidFill>
                <a:latin typeface="Aptos"/>
              </a:defRPr>
            </a:pPr>
            <a:r>
              <a:rPr b="1" dirty="0"/>
              <a:t>QUESTION</a:t>
            </a:r>
            <a:r>
              <a:rPr dirty="0"/>
              <a:t>: What business problem are we investigating?</a:t>
            </a:r>
          </a:p>
          <a:p>
            <a:pPr>
              <a:spcAft>
                <a:spcPts val="900"/>
              </a:spcAft>
              <a:defRPr sz="1500">
                <a:solidFill>
                  <a:srgbClr val="2D3744"/>
                </a:solidFill>
                <a:latin typeface="Aptos"/>
              </a:defRPr>
            </a:pPr>
            <a:r>
              <a:rPr b="1" dirty="0"/>
              <a:t>METHOD</a:t>
            </a:r>
            <a:r>
              <a:rPr dirty="0"/>
              <a:t>: Which calculations or comparisons are required?</a:t>
            </a:r>
          </a:p>
          <a:p>
            <a:pPr>
              <a:spcAft>
                <a:spcPts val="900"/>
              </a:spcAft>
              <a:defRPr sz="1500">
                <a:solidFill>
                  <a:srgbClr val="2D3744"/>
                </a:solidFill>
                <a:latin typeface="Aptos"/>
              </a:defRPr>
            </a:pPr>
            <a:r>
              <a:rPr b="1" dirty="0"/>
              <a:t>OUTPUT</a:t>
            </a:r>
            <a:r>
              <a:rPr dirty="0"/>
              <a:t>: What tables, findings, or recommendations are expected?</a:t>
            </a:r>
          </a:p>
          <a:p>
            <a:pPr>
              <a:spcAft>
                <a:spcPts val="900"/>
              </a:spcAft>
              <a:defRPr sz="1500">
                <a:solidFill>
                  <a:srgbClr val="2D3744"/>
                </a:solidFill>
                <a:latin typeface="Aptos"/>
              </a:defRPr>
            </a:pPr>
            <a:r>
              <a:rPr b="1" dirty="0"/>
              <a:t>CONSTRAINTS</a:t>
            </a:r>
            <a:r>
              <a:rPr dirty="0"/>
              <a:t>: What must not be assumed?</a:t>
            </a:r>
          </a:p>
          <a:p>
            <a:pPr>
              <a:spcAft>
                <a:spcPts val="900"/>
              </a:spcAft>
              <a:defRPr sz="1500">
                <a:solidFill>
                  <a:srgbClr val="2D3744"/>
                </a:solidFill>
                <a:latin typeface="Aptos"/>
              </a:defRPr>
            </a:pPr>
            <a:r>
              <a:rPr b="1" dirty="0"/>
              <a:t>VALIDATION</a:t>
            </a:r>
            <a:r>
              <a:rPr dirty="0"/>
              <a:t>: How should results be checked?</a:t>
            </a:r>
          </a:p>
        </p:txBody>
      </p:sp>
      <p:sp>
        <p:nvSpPr>
          <p:cNvPr id="7" name="Rounded Rectangle 6"/>
          <p:cNvSpPr/>
          <p:nvPr/>
        </p:nvSpPr>
        <p:spPr>
          <a:xfrm>
            <a:off x="713232" y="5715000"/>
            <a:ext cx="10789920" cy="65836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43016"/>
            <a:ext cx="10332720" cy="384048"/>
          </a:xfrm>
          <a:prstGeom prst="rect">
            <a:avLst/>
          </a:prstGeom>
          <a:noFill/>
        </p:spPr>
        <p:txBody>
          <a:bodyPr wrap="square" lIns="36576" tIns="18288" rIns="36576" bIns="18288">
            <a:spAutoFit/>
          </a:bodyPr>
          <a:lstStyle/>
          <a:p>
            <a:pPr>
              <a:spcAft>
                <a:spcPts val="0"/>
              </a:spcAft>
            </a:pPr>
            <a:r>
              <a:rPr sz="1400" b="1" i="0">
                <a:solidFill>
                  <a:srgbClr val="162B4A"/>
                </a:solidFill>
                <a:latin typeface="Aptos"/>
              </a:rPr>
              <a:t>A better prompt makes the analysis more specific and easier to validate.</a:t>
            </a:r>
          </a:p>
        </p:txBody>
      </p:sp>
      <p:sp>
        <p:nvSpPr>
          <p:cNvPr id="9" name="Slide Number Placeholder 8">
            <a:extLst>
              <a:ext uri="{FF2B5EF4-FFF2-40B4-BE49-F238E27FC236}">
                <a16:creationId xmlns:a16="http://schemas.microsoft.com/office/drawing/2014/main" id="{31AB26A2-CF20-EB03-DC0B-F47B9945A1F2}"/>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Weak prompt vs. improved prompt</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Use the improved prompt to make the analytical task explicit.</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221992"/>
            <a:ext cx="10332720" cy="3749039"/>
          </a:xfrm>
          <a:prstGeom prst="rect">
            <a:avLst/>
          </a:prstGeom>
          <a:noFill/>
        </p:spPr>
        <p:txBody>
          <a:bodyPr wrap="square" lIns="36576" tIns="18288" rIns="36576" bIns="18288">
            <a:spAutoFit/>
          </a:bodyPr>
          <a:lstStyle/>
          <a:p>
            <a:pPr>
              <a:spcAft>
                <a:spcPts val="0"/>
              </a:spcAft>
            </a:pPr>
            <a:r>
              <a:rPr sz="1300" b="1" i="0" dirty="0">
                <a:solidFill>
                  <a:srgbClr val="2D3744"/>
                </a:solidFill>
                <a:latin typeface="Consolas"/>
              </a:rPr>
              <a:t>WEA</a:t>
            </a:r>
            <a:r>
              <a:rPr lang="en-US" sz="1300" b="1" i="0" dirty="0">
                <a:solidFill>
                  <a:srgbClr val="2D3744"/>
                </a:solidFill>
                <a:latin typeface="Consolas"/>
              </a:rPr>
              <a:t>K:</a:t>
            </a:r>
            <a:r>
              <a:rPr sz="1300" b="0" i="0" dirty="0">
                <a:solidFill>
                  <a:srgbClr val="2D3744"/>
                </a:solidFill>
                <a:latin typeface="Consolas"/>
              </a:rPr>
              <a:t>
Analyze this sales data and tell me what is important.
</a:t>
            </a:r>
            <a:r>
              <a:rPr sz="1300" b="1" i="0" dirty="0">
                <a:solidFill>
                  <a:srgbClr val="2D3744"/>
                </a:solidFill>
                <a:latin typeface="Consolas"/>
              </a:rPr>
              <a:t>IMPROVED</a:t>
            </a:r>
            <a:r>
              <a:rPr lang="en-US" sz="1300" b="1" i="0" dirty="0">
                <a:solidFill>
                  <a:srgbClr val="2D3744"/>
                </a:solidFill>
                <a:latin typeface="Consolas"/>
              </a:rPr>
              <a:t>:</a:t>
            </a:r>
            <a:r>
              <a:rPr sz="1300" b="0" i="0" dirty="0">
                <a:solidFill>
                  <a:srgbClr val="2D3744"/>
                </a:solidFill>
                <a:latin typeface="Consolas"/>
              </a:rPr>
              <a:t>
Act as a senior business data analyst.
Analyze the supplied sales pipeline dataset to identify differences
in pipeline value and deal outcomes across regions and products.
Inspect the dataset first. Define each metric, state the denominator
for every percentage, identify the relevant sample size, and
distinguish observed patterns from hypotheses.
Do not treat pipeline value as realized revenue.
Do not infer causation from correlation.
Provide an evidence table, potential business implications,
limitations, and questions requiring further investigation.</a:t>
            </a:r>
          </a:p>
        </p:txBody>
      </p:sp>
      <p:sp>
        <p:nvSpPr>
          <p:cNvPr id="10" name="Slide Number Placeholder 9">
            <a:extLst>
              <a:ext uri="{FF2B5EF4-FFF2-40B4-BE49-F238E27FC236}">
                <a16:creationId xmlns:a16="http://schemas.microsoft.com/office/drawing/2014/main" id="{27326ABF-B040-FA20-B7EB-A0AD91990F40}"/>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Introduce the working dataset</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1883593"/>
          </a:xfrm>
          <a:prstGeom prst="rect">
            <a:avLst/>
          </a:prstGeom>
          <a:noFill/>
        </p:spPr>
        <p:txBody>
          <a:bodyPr wrap="square" lIns="45720" tIns="18288" rIns="36576" bIns="18288">
            <a:spAutoFit/>
          </a:bodyPr>
          <a:lstStyle/>
          <a:p>
            <a:pPr>
              <a:spcAft>
                <a:spcPts val="900"/>
              </a:spcAft>
              <a:defRPr sz="1500">
                <a:solidFill>
                  <a:srgbClr val="2D3744"/>
                </a:solidFill>
                <a:latin typeface="Aptos"/>
              </a:defRPr>
            </a:pPr>
            <a:r>
              <a:rPr b="1" dirty="0"/>
              <a:t>Dataset</a:t>
            </a:r>
            <a:r>
              <a:rPr dirty="0"/>
              <a:t>: sales_pipeline_300.csv</a:t>
            </a:r>
          </a:p>
          <a:p>
            <a:pPr>
              <a:spcAft>
                <a:spcPts val="900"/>
              </a:spcAft>
              <a:defRPr sz="1500">
                <a:solidFill>
                  <a:srgbClr val="2D3744"/>
                </a:solidFill>
                <a:latin typeface="Aptos"/>
              </a:defRPr>
            </a:pPr>
            <a:r>
              <a:rPr dirty="0"/>
              <a:t>The training pack contains 300 sales and pipeline records.</a:t>
            </a:r>
          </a:p>
          <a:p>
            <a:pPr>
              <a:spcAft>
                <a:spcPts val="900"/>
              </a:spcAft>
              <a:defRPr sz="1500">
                <a:solidFill>
                  <a:srgbClr val="2D3744"/>
                </a:solidFill>
                <a:latin typeface="Aptos"/>
              </a:defRPr>
            </a:pPr>
            <a:r>
              <a:rPr dirty="0"/>
              <a:t>Potential dimensions include region, product, customer segment, deal value, win probability, and sales-cycle duration.</a:t>
            </a:r>
          </a:p>
          <a:p>
            <a:pPr>
              <a:spcAft>
                <a:spcPts val="900"/>
              </a:spcAft>
              <a:defRPr sz="1500">
                <a:solidFill>
                  <a:srgbClr val="2D3744"/>
                </a:solidFill>
                <a:latin typeface="Aptos"/>
              </a:defRPr>
            </a:pPr>
            <a:r>
              <a:rPr dirty="0"/>
              <a:t>The actual analysis must depend on the column names, definitions, and values in the supplied file.</a:t>
            </a:r>
          </a:p>
          <a:p>
            <a:pPr>
              <a:spcAft>
                <a:spcPts val="900"/>
              </a:spcAft>
              <a:defRPr sz="1500">
                <a:solidFill>
                  <a:srgbClr val="2D3744"/>
                </a:solidFill>
                <a:latin typeface="Aptos"/>
              </a:defRPr>
            </a:pPr>
            <a:r>
              <a:rPr dirty="0"/>
              <a:t>Inspect what each row represents, whether records are unique, and whether the reporting period and field definitions are known.</a:t>
            </a:r>
          </a:p>
        </p:txBody>
      </p:sp>
      <p:sp>
        <p:nvSpPr>
          <p:cNvPr id="7" name="Rounded Rectangle 6"/>
          <p:cNvSpPr/>
          <p:nvPr/>
        </p:nvSpPr>
        <p:spPr>
          <a:xfrm>
            <a:off x="713232" y="5715000"/>
            <a:ext cx="10789920" cy="65836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43016"/>
            <a:ext cx="10332720" cy="384048"/>
          </a:xfrm>
          <a:prstGeom prst="rect">
            <a:avLst/>
          </a:prstGeom>
          <a:noFill/>
        </p:spPr>
        <p:txBody>
          <a:bodyPr wrap="square" lIns="36576" tIns="18288" rIns="36576" bIns="18288">
            <a:spAutoFit/>
          </a:bodyPr>
          <a:lstStyle/>
          <a:p>
            <a:pPr>
              <a:spcAft>
                <a:spcPts val="0"/>
              </a:spcAft>
            </a:pPr>
            <a:r>
              <a:rPr sz="1400" b="1" i="0">
                <a:solidFill>
                  <a:srgbClr val="162B4A"/>
                </a:solidFill>
                <a:latin typeface="Aptos"/>
              </a:rPr>
              <a:t>Do not assume that field names alone establish business definitions.</a:t>
            </a:r>
          </a:p>
        </p:txBody>
      </p:sp>
      <p:sp>
        <p:nvSpPr>
          <p:cNvPr id="9" name="Slide Number Placeholder 8">
            <a:extLst>
              <a:ext uri="{FF2B5EF4-FFF2-40B4-BE49-F238E27FC236}">
                <a16:creationId xmlns:a16="http://schemas.microsoft.com/office/drawing/2014/main" id="{FA04AE31-B9E1-C9A9-3647-8E0F04493051}"/>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Demo 1: Explore and analyze the dataset</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Tool: Microsoft Copilot Chat | Input: sales_pipeline_300.csv</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t" anchorCtr="0"/>
          <a:lstStyle/>
          <a:p>
            <a:pPr marL="285750" indent="-285750">
              <a:buFont typeface="Arial" panose="020B0604020202020204" pitchFamily="34" charset="0"/>
              <a:buChar char="•"/>
            </a:pPr>
            <a:r>
              <a:rPr lang="en-IN" dirty="0">
                <a:solidFill>
                  <a:schemeClr val="tx1"/>
                </a:solidFill>
              </a:rPr>
              <a:t>How Copilot Chat can help structure an initial investigation of a business dataset.</a:t>
            </a:r>
          </a:p>
          <a:p>
            <a:pPr marL="285750" indent="-285750">
              <a:buFont typeface="Arial" panose="020B0604020202020204" pitchFamily="34" charset="0"/>
              <a:buChar char="•"/>
            </a:pPr>
            <a:endParaRPr lang="en-IN" dirty="0">
              <a:solidFill>
                <a:schemeClr val="tx1"/>
              </a:solidFill>
            </a:endParaRPr>
          </a:p>
          <a:p>
            <a:pPr marL="285750" indent="-285750">
              <a:buFont typeface="Arial" panose="020B0604020202020204" pitchFamily="34" charset="0"/>
              <a:buChar char="•"/>
            </a:pPr>
            <a:r>
              <a:rPr lang="en-IN" dirty="0">
                <a:solidFill>
                  <a:schemeClr val="tx1"/>
                </a:solidFill>
              </a:rPr>
              <a:t>Use follow-up prompts.</a:t>
            </a:r>
          </a:p>
          <a:p>
            <a:pPr marL="285750" indent="-285750">
              <a:buFont typeface="Arial" panose="020B0604020202020204" pitchFamily="34" charset="0"/>
              <a:buChar char="•"/>
            </a:pPr>
            <a:endParaRPr lang="en-IN" dirty="0">
              <a:solidFill>
                <a:schemeClr val="tx1"/>
              </a:solidFill>
            </a:endParaRPr>
          </a:p>
          <a:p>
            <a:pPr marL="285750" indent="-285750">
              <a:buFont typeface="Arial" panose="020B0604020202020204" pitchFamily="34" charset="0"/>
              <a:buChar char="•"/>
            </a:pPr>
            <a:endParaRPr lang="en-IN" dirty="0">
              <a:solidFill>
                <a:schemeClr val="tx1"/>
              </a:solidFill>
            </a:endParaRPr>
          </a:p>
          <a:p>
            <a:endParaRPr dirty="0">
              <a:solidFill>
                <a:schemeClr val="tx1"/>
              </a:solidFill>
            </a:endParaRPr>
          </a:p>
        </p:txBody>
      </p:sp>
      <p:sp>
        <p:nvSpPr>
          <p:cNvPr id="11" name="Slide Number Placeholder 10">
            <a:extLst>
              <a:ext uri="{FF2B5EF4-FFF2-40B4-BE49-F238E27FC236}">
                <a16:creationId xmlns:a16="http://schemas.microsoft.com/office/drawing/2014/main" id="{72C53A41-0F5B-5643-F989-5CD6C8C8F10E}"/>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Demo 1: From observation to insight</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28800"/>
            <a:ext cx="5321808" cy="4434840"/>
          </a:xfrm>
          <a:prstGeom prst="roundRect">
            <a:avLst/>
          </a:prstGeom>
          <a:solidFill>
            <a:srgbClr val="E6EFF9"/>
          </a:solidFill>
          <a:ln>
            <a:solidFill>
              <a:srgbClr val="E6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99632" y="1828800"/>
            <a:ext cx="5321808" cy="4434840"/>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057400"/>
            <a:ext cx="4754880" cy="365760"/>
          </a:xfrm>
          <a:prstGeom prst="rect">
            <a:avLst/>
          </a:prstGeom>
          <a:noFill/>
        </p:spPr>
        <p:txBody>
          <a:bodyPr wrap="square" lIns="36576" tIns="18288" rIns="36576" bIns="18288">
            <a:spAutoFit/>
          </a:bodyPr>
          <a:lstStyle/>
          <a:p>
            <a:pPr>
              <a:spcAft>
                <a:spcPts val="0"/>
              </a:spcAft>
            </a:pPr>
            <a:r>
              <a:rPr sz="1800" b="1" i="0">
                <a:solidFill>
                  <a:srgbClr val="162B4A"/>
                </a:solidFill>
                <a:latin typeface="Aptos"/>
              </a:rPr>
              <a:t>Example: high regional pipeline</a:t>
            </a:r>
          </a:p>
        </p:txBody>
      </p:sp>
      <p:sp>
        <p:nvSpPr>
          <p:cNvPr id="10" name="TextBox 9"/>
          <p:cNvSpPr txBox="1"/>
          <p:nvPr/>
        </p:nvSpPr>
        <p:spPr>
          <a:xfrm>
            <a:off x="914400" y="2578608"/>
            <a:ext cx="4709160" cy="3474720"/>
          </a:xfrm>
          <a:prstGeom prst="rect">
            <a:avLst/>
          </a:prstGeom>
          <a:noFill/>
        </p:spPr>
        <p:txBody>
          <a:bodyPr wrap="square" lIns="45720" tIns="18288" rIns="36576" bIns="18288">
            <a:spAutoFit/>
          </a:bodyPr>
          <a:lstStyle/>
          <a:p>
            <a:pPr>
              <a:spcAft>
                <a:spcPts val="700"/>
              </a:spcAft>
              <a:defRPr sz="1400">
                <a:solidFill>
                  <a:srgbClr val="2D3744"/>
                </a:solidFill>
                <a:latin typeface="Aptos"/>
              </a:defRPr>
            </a:pPr>
            <a:r>
              <a:t>Is the pipeline distributed across many opportunities?</a:t>
            </a:r>
          </a:p>
          <a:p>
            <a:pPr>
              <a:spcAft>
                <a:spcPts val="700"/>
              </a:spcAft>
              <a:defRPr sz="1400">
                <a:solidFill>
                  <a:srgbClr val="2D3744"/>
                </a:solidFill>
                <a:latin typeface="Aptos"/>
              </a:defRPr>
            </a:pPr>
            <a:r>
              <a:t>Is the total dominated by a few large deals?</a:t>
            </a:r>
          </a:p>
          <a:p>
            <a:pPr>
              <a:spcAft>
                <a:spcPts val="700"/>
              </a:spcAft>
              <a:defRPr sz="1400">
                <a:solidFill>
                  <a:srgbClr val="2D3744"/>
                </a:solidFill>
                <a:latin typeface="Aptos"/>
              </a:defRPr>
            </a:pPr>
            <a:r>
              <a:t>Are opportunities at early or late stages?</a:t>
            </a:r>
          </a:p>
          <a:p>
            <a:pPr>
              <a:spcAft>
                <a:spcPts val="700"/>
              </a:spcAft>
              <a:defRPr sz="1400">
                <a:solidFill>
                  <a:srgbClr val="2D3744"/>
                </a:solidFill>
                <a:latin typeface="Aptos"/>
              </a:defRPr>
            </a:pPr>
            <a:r>
              <a:t>How does the region compare on closed outcomes?</a:t>
            </a:r>
          </a:p>
        </p:txBody>
      </p:sp>
      <p:sp>
        <p:nvSpPr>
          <p:cNvPr id="11" name="TextBox 10"/>
          <p:cNvSpPr txBox="1"/>
          <p:nvPr/>
        </p:nvSpPr>
        <p:spPr>
          <a:xfrm>
            <a:off x="6446520" y="2057400"/>
            <a:ext cx="4754880" cy="365760"/>
          </a:xfrm>
          <a:prstGeom prst="rect">
            <a:avLst/>
          </a:prstGeom>
          <a:noFill/>
        </p:spPr>
        <p:txBody>
          <a:bodyPr wrap="square" lIns="36576" tIns="18288" rIns="36576" bIns="18288">
            <a:spAutoFit/>
          </a:bodyPr>
          <a:lstStyle/>
          <a:p>
            <a:pPr>
              <a:spcAft>
                <a:spcPts val="0"/>
              </a:spcAft>
            </a:pPr>
            <a:r>
              <a:rPr sz="1800" b="1" i="0">
                <a:solidFill>
                  <a:srgbClr val="162B4A"/>
                </a:solidFill>
                <a:latin typeface="Aptos"/>
              </a:rPr>
              <a:t>Example: high average deal value</a:t>
            </a:r>
          </a:p>
        </p:txBody>
      </p:sp>
      <p:sp>
        <p:nvSpPr>
          <p:cNvPr id="12" name="TextBox 11"/>
          <p:cNvSpPr txBox="1"/>
          <p:nvPr/>
        </p:nvSpPr>
        <p:spPr>
          <a:xfrm>
            <a:off x="6446520" y="2578608"/>
            <a:ext cx="4709160" cy="3474720"/>
          </a:xfrm>
          <a:prstGeom prst="rect">
            <a:avLst/>
          </a:prstGeom>
          <a:noFill/>
        </p:spPr>
        <p:txBody>
          <a:bodyPr wrap="square" lIns="45720" tIns="18288" rIns="36576" bIns="18288">
            <a:spAutoFit/>
          </a:bodyPr>
          <a:lstStyle/>
          <a:p>
            <a:pPr>
              <a:spcAft>
                <a:spcPts val="700"/>
              </a:spcAft>
              <a:defRPr sz="1400">
                <a:solidFill>
                  <a:srgbClr val="2D3744"/>
                </a:solidFill>
                <a:latin typeface="Aptos"/>
              </a:defRPr>
            </a:pPr>
            <a:r>
              <a:t>What does the median show?</a:t>
            </a:r>
          </a:p>
          <a:p>
            <a:pPr>
              <a:spcAft>
                <a:spcPts val="700"/>
              </a:spcAft>
              <a:defRPr sz="1400">
                <a:solidFill>
                  <a:srgbClr val="2D3744"/>
                </a:solidFill>
                <a:latin typeface="Aptos"/>
              </a:defRPr>
            </a:pPr>
            <a:r>
              <a:t>How many deals contribute to the average?</a:t>
            </a:r>
          </a:p>
          <a:p>
            <a:pPr>
              <a:spcAft>
                <a:spcPts val="700"/>
              </a:spcAft>
              <a:defRPr sz="1400">
                <a:solidFill>
                  <a:srgbClr val="2D3744"/>
                </a:solidFill>
                <a:latin typeface="Aptos"/>
              </a:defRPr>
            </a:pPr>
            <a:r>
              <a:t>Are there unusually large deals?</a:t>
            </a:r>
          </a:p>
          <a:p>
            <a:pPr>
              <a:spcAft>
                <a:spcPts val="700"/>
              </a:spcAft>
              <a:defRPr sz="1400">
                <a:solidFill>
                  <a:srgbClr val="2D3744"/>
                </a:solidFill>
                <a:latin typeface="Aptos"/>
              </a:defRPr>
            </a:pPr>
            <a:r>
              <a:t>Does the product also perform well on relevant outcome metrics?</a:t>
            </a:r>
          </a:p>
        </p:txBody>
      </p:sp>
      <p:sp>
        <p:nvSpPr>
          <p:cNvPr id="13" name="Slide Number Placeholder 12">
            <a:extLst>
              <a:ext uri="{FF2B5EF4-FFF2-40B4-BE49-F238E27FC236}">
                <a16:creationId xmlns:a16="http://schemas.microsoft.com/office/drawing/2014/main" id="{C9D4F8AC-E291-57E9-18F3-8D29E4F2621B}"/>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Demo 2: Why the first analysis may be wrong</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4251960"/>
          </a:xfrm>
          <a:prstGeom prst="rect">
            <a:avLst/>
          </a:prstGeom>
          <a:noFill/>
        </p:spPr>
        <p:txBody>
          <a:bodyPr wrap="square" lIns="45720" tIns="18288" rIns="36576" bIns="18288">
            <a:spAutoFit/>
          </a:bodyPr>
          <a:lstStyle/>
          <a:p>
            <a:pPr>
              <a:spcAft>
                <a:spcPts val="900"/>
              </a:spcAft>
              <a:defRPr sz="1500">
                <a:solidFill>
                  <a:srgbClr val="2D3744"/>
                </a:solidFill>
                <a:latin typeface="Aptos"/>
              </a:defRPr>
            </a:pPr>
            <a:r>
              <a:t>Are the totals correct?</a:t>
            </a:r>
          </a:p>
          <a:p>
            <a:pPr>
              <a:spcAft>
                <a:spcPts val="900"/>
              </a:spcAft>
              <a:defRPr sz="1500">
                <a:solidFill>
                  <a:srgbClr val="2D3744"/>
                </a:solidFill>
                <a:latin typeface="Aptos"/>
              </a:defRPr>
            </a:pPr>
            <a:r>
              <a:t>Is the denominator appropriate?</a:t>
            </a:r>
          </a:p>
          <a:p>
            <a:pPr>
              <a:spcAft>
                <a:spcPts val="900"/>
              </a:spcAft>
              <a:defRPr sz="1500">
                <a:solidFill>
                  <a:srgbClr val="2D3744"/>
                </a:solidFill>
                <a:latin typeface="Aptos"/>
              </a:defRPr>
            </a:pPr>
            <a:r>
              <a:t>Are we comparing equivalent groups?</a:t>
            </a:r>
          </a:p>
          <a:p>
            <a:pPr>
              <a:spcAft>
                <a:spcPts val="900"/>
              </a:spcAft>
              <a:defRPr sz="1500">
                <a:solidFill>
                  <a:srgbClr val="2D3744"/>
                </a:solidFill>
                <a:latin typeface="Aptos"/>
              </a:defRPr>
            </a:pPr>
            <a:r>
              <a:t>Are missing records affecting the result?</a:t>
            </a:r>
          </a:p>
          <a:p>
            <a:pPr>
              <a:spcAft>
                <a:spcPts val="900"/>
              </a:spcAft>
              <a:defRPr sz="1500">
                <a:solidFill>
                  <a:srgbClr val="2D3744"/>
                </a:solidFill>
                <a:latin typeface="Aptos"/>
              </a:defRPr>
            </a:pPr>
            <a:r>
              <a:t>Could outliers distort the average?</a:t>
            </a:r>
          </a:p>
          <a:p>
            <a:pPr>
              <a:spcAft>
                <a:spcPts val="900"/>
              </a:spcAft>
              <a:defRPr sz="1500">
                <a:solidFill>
                  <a:srgbClr val="2D3744"/>
                </a:solidFill>
                <a:latin typeface="Aptos"/>
              </a:defRPr>
            </a:pPr>
            <a:r>
              <a:t>Are potential outcomes being confused with actual outcomes?</a:t>
            </a:r>
          </a:p>
          <a:p>
            <a:pPr>
              <a:spcAft>
                <a:spcPts val="900"/>
              </a:spcAft>
              <a:defRPr sz="1500">
                <a:solidFill>
                  <a:srgbClr val="2D3744"/>
                </a:solidFill>
                <a:latin typeface="Aptos"/>
              </a:defRPr>
            </a:pPr>
            <a:r>
              <a:t>Does the evidence support the interpretation?</a:t>
            </a:r>
          </a:p>
          <a:p>
            <a:pPr>
              <a:spcAft>
                <a:spcPts val="900"/>
              </a:spcAft>
              <a:defRPr sz="1500">
                <a:solidFill>
                  <a:srgbClr val="2D3744"/>
                </a:solidFill>
                <a:latin typeface="Aptos"/>
              </a:defRPr>
            </a:pPr>
            <a:r>
              <a:t>What information could change the conclusion?</a:t>
            </a:r>
          </a:p>
        </p:txBody>
      </p:sp>
      <p:sp>
        <p:nvSpPr>
          <p:cNvPr id="7" name="Rounded Rectangle 6"/>
          <p:cNvSpPr/>
          <p:nvPr/>
        </p:nvSpPr>
        <p:spPr>
          <a:xfrm>
            <a:off x="713232" y="5715000"/>
            <a:ext cx="10789920" cy="65836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43016"/>
            <a:ext cx="10332720" cy="384048"/>
          </a:xfrm>
          <a:prstGeom prst="rect">
            <a:avLst/>
          </a:prstGeom>
          <a:noFill/>
        </p:spPr>
        <p:txBody>
          <a:bodyPr wrap="square" lIns="36576" tIns="18288" rIns="36576" bIns="18288">
            <a:spAutoFit/>
          </a:bodyPr>
          <a:lstStyle/>
          <a:p>
            <a:pPr>
              <a:spcAft>
                <a:spcPts val="0"/>
              </a:spcAft>
            </a:pPr>
            <a:r>
              <a:rPr sz="1400" b="1" i="0">
                <a:solidFill>
                  <a:srgbClr val="162B4A"/>
                </a:solidFill>
                <a:latin typeface="Aptos"/>
              </a:rPr>
              <a:t>Validation is more than asking AI to double-check its answer.</a:t>
            </a:r>
          </a:p>
        </p:txBody>
      </p:sp>
      <p:sp>
        <p:nvSpPr>
          <p:cNvPr id="9" name="Slide Number Placeholder 8">
            <a:extLst>
              <a:ext uri="{FF2B5EF4-FFF2-40B4-BE49-F238E27FC236}">
                <a16:creationId xmlns:a16="http://schemas.microsoft.com/office/drawing/2014/main" id="{14F037BF-598B-076A-DC35-38330444DFED}"/>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Demo 2: Challenge the analysis</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Ask for specific checks, not generic criticism.</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221992"/>
            <a:ext cx="10332720" cy="3749039"/>
          </a:xfrm>
          <a:prstGeom prst="rect">
            <a:avLst/>
          </a:prstGeom>
          <a:noFill/>
        </p:spPr>
        <p:txBody>
          <a:bodyPr wrap="square" lIns="36576" tIns="18288" rIns="36576" bIns="18288">
            <a:spAutoFit/>
          </a:bodyPr>
          <a:lstStyle/>
          <a:p>
            <a:pPr>
              <a:spcAft>
                <a:spcPts val="0"/>
              </a:spcAft>
            </a:pPr>
            <a:r>
              <a:rPr sz="1000" b="0" i="0" dirty="0">
                <a:solidFill>
                  <a:srgbClr val="2D3744"/>
                </a:solidFill>
                <a:latin typeface="Consolas"/>
              </a:rPr>
              <a:t>Act as an independent analytics reviewer.
Review the analysis produced from sales_pipeline_300.csv.
1. Recheck important totals, averages, percentages, and comparisons.
2. Identify the denominator used for every percentage and whether it is appropriate.
3. Check whether pipeline value, expected value, closed-won value, and realized revenue have been confused.
4. Determine whether large deals could distort averages.
5. Identify missing values, duplicates, inconsistent categories, or suspicious records that could affect findings.
6. Identify conclusions that imply causation from association.
7. Identify conclusions that depend on unverified definitions.
8. Identify additional data that could materially change the result.
For each issue provide: original finding, validation check, result,
confidence (High/Medium/Low), limitation, and required follow-up.
Do not claim independent verification unless you recomputed the
calculation or provide a reproducible method. Clearly distinguish
checks completed from checks that could not be performed.
Finish with findings that are sufficiently supported and findings
that should not yet be used for a business decision.</a:t>
            </a:r>
          </a:p>
        </p:txBody>
      </p:sp>
      <p:sp>
        <p:nvSpPr>
          <p:cNvPr id="11" name="Slide Number Placeholder 10">
            <a:extLst>
              <a:ext uri="{FF2B5EF4-FFF2-40B4-BE49-F238E27FC236}">
                <a16:creationId xmlns:a16="http://schemas.microsoft.com/office/drawing/2014/main" id="{E31AA0BA-63F4-75EB-6950-E3ADDCBF29B8}"/>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The problem with averages</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3961084"/>
          </a:xfrm>
          <a:prstGeom prst="rect">
            <a:avLst/>
          </a:prstGeom>
          <a:noFill/>
        </p:spPr>
        <p:txBody>
          <a:bodyPr wrap="square" lIns="45720" tIns="18288" rIns="36576" bIns="18288">
            <a:spAutoFit/>
          </a:bodyPr>
          <a:lstStyle/>
          <a:p>
            <a:pPr>
              <a:spcAft>
                <a:spcPts val="900"/>
              </a:spcAft>
              <a:defRPr sz="1500">
                <a:solidFill>
                  <a:srgbClr val="2D3744"/>
                </a:solidFill>
                <a:latin typeface="Aptos"/>
              </a:defRPr>
            </a:pPr>
            <a:r>
              <a:rPr dirty="0"/>
              <a:t>An average can hide important differences between groups.</a:t>
            </a:r>
          </a:p>
          <a:p>
            <a:pPr>
              <a:spcAft>
                <a:spcPts val="900"/>
              </a:spcAft>
              <a:defRPr sz="1500">
                <a:solidFill>
                  <a:srgbClr val="2D3744"/>
                </a:solidFill>
                <a:latin typeface="Aptos"/>
              </a:defRPr>
            </a:pPr>
            <a:r>
              <a:rPr dirty="0"/>
              <a:t>Compare mean and median, number of deals and total value, deal-size distribution, stage distribution, age of open opportunities, and concentration among the largest deals.</a:t>
            </a:r>
          </a:p>
          <a:p>
            <a:pPr>
              <a:spcAft>
                <a:spcPts val="900"/>
              </a:spcAft>
              <a:defRPr sz="1500">
                <a:solidFill>
                  <a:srgbClr val="2D3744"/>
                </a:solidFill>
                <a:latin typeface="Aptos"/>
              </a:defRPr>
            </a:pPr>
            <a:r>
              <a:rPr dirty="0"/>
              <a:t>A region may have a high average because of one unusually large opportunity.</a:t>
            </a:r>
          </a:p>
          <a:p>
            <a:pPr>
              <a:spcAft>
                <a:spcPts val="900"/>
              </a:spcAft>
              <a:defRPr sz="1500">
                <a:solidFill>
                  <a:srgbClr val="2D3744"/>
                </a:solidFill>
                <a:latin typeface="Aptos"/>
              </a:defRPr>
            </a:pPr>
            <a:r>
              <a:rPr dirty="0"/>
              <a:t>The average is not necessarily wrong, but it may be insufficient when the distribution matters.</a:t>
            </a:r>
            <a:endParaRPr lang="en-US" dirty="0"/>
          </a:p>
          <a:p>
            <a:pPr>
              <a:spcAft>
                <a:spcPts val="900"/>
              </a:spcAft>
              <a:defRPr sz="1500">
                <a:solidFill>
                  <a:srgbClr val="2D3744"/>
                </a:solidFill>
                <a:latin typeface="Aptos"/>
              </a:defRPr>
            </a:pPr>
            <a:endParaRPr lang="en-IN" dirty="0"/>
          </a:p>
          <a:p>
            <a:pPr>
              <a:spcAft>
                <a:spcPts val="900"/>
              </a:spcAft>
              <a:defRPr sz="1500">
                <a:solidFill>
                  <a:srgbClr val="2D3744"/>
                </a:solidFill>
                <a:latin typeface="Aptos"/>
              </a:defRPr>
            </a:pPr>
            <a:r>
              <a:rPr lang="en-IN" sz="1500" b="1" dirty="0">
                <a:solidFill>
                  <a:srgbClr val="2D3744"/>
                </a:solidFill>
                <a:latin typeface="Aptos"/>
              </a:rPr>
              <a:t>Compare</a:t>
            </a:r>
            <a:r>
              <a:rPr lang="en-IN" sz="1500" dirty="0">
                <a:solidFill>
                  <a:srgbClr val="2D3744"/>
                </a:solidFill>
                <a:latin typeface="Aptos"/>
              </a:rPr>
              <a:t>:</a:t>
            </a:r>
          </a:p>
          <a:p>
            <a:pPr marL="285750" lvl="0" indent="-285750">
              <a:buFont typeface="Arial" panose="020B0604020202020204" pitchFamily="34" charset="0"/>
              <a:buChar char="•"/>
              <a:defRPr sz="1500">
                <a:solidFill>
                  <a:srgbClr val="2D3744"/>
                </a:solidFill>
                <a:latin typeface="Aptos"/>
              </a:defRPr>
            </a:pPr>
            <a:r>
              <a:rPr lang="en-IN" sz="1500" dirty="0">
                <a:solidFill>
                  <a:srgbClr val="2D3744"/>
                </a:solidFill>
                <a:latin typeface="Aptos"/>
              </a:rPr>
              <a:t>Mean and median.</a:t>
            </a:r>
          </a:p>
          <a:p>
            <a:pPr marL="285750" lvl="0" indent="-285750">
              <a:buFont typeface="Arial" panose="020B0604020202020204" pitchFamily="34" charset="0"/>
              <a:buChar char="•"/>
              <a:defRPr sz="1500">
                <a:solidFill>
                  <a:srgbClr val="2D3744"/>
                </a:solidFill>
                <a:latin typeface="Aptos"/>
              </a:defRPr>
            </a:pPr>
            <a:r>
              <a:rPr lang="en-IN" sz="1500" dirty="0">
                <a:solidFill>
                  <a:srgbClr val="2D3744"/>
                </a:solidFill>
                <a:latin typeface="Aptos"/>
              </a:rPr>
              <a:t>Number of deals and total deal value.</a:t>
            </a:r>
          </a:p>
          <a:p>
            <a:pPr marL="285750" lvl="0" indent="-285750">
              <a:buFont typeface="Arial" panose="020B0604020202020204" pitchFamily="34" charset="0"/>
              <a:buChar char="•"/>
              <a:defRPr sz="1500">
                <a:solidFill>
                  <a:srgbClr val="2D3744"/>
                </a:solidFill>
                <a:latin typeface="Aptos"/>
              </a:defRPr>
            </a:pPr>
            <a:r>
              <a:rPr lang="en-IN" sz="1500" dirty="0">
                <a:solidFill>
                  <a:srgbClr val="2D3744"/>
                </a:solidFill>
                <a:latin typeface="Aptos"/>
              </a:rPr>
              <a:t>Distribution of deal sizes.</a:t>
            </a:r>
          </a:p>
          <a:p>
            <a:pPr marL="285750" lvl="0" indent="-285750">
              <a:buFont typeface="Arial" panose="020B0604020202020204" pitchFamily="34" charset="0"/>
              <a:buChar char="•"/>
              <a:defRPr sz="1500">
                <a:solidFill>
                  <a:srgbClr val="2D3744"/>
                </a:solidFill>
                <a:latin typeface="Aptos"/>
              </a:defRPr>
            </a:pPr>
            <a:r>
              <a:rPr lang="en-IN" sz="1500" dirty="0">
                <a:solidFill>
                  <a:srgbClr val="2D3744"/>
                </a:solidFill>
                <a:latin typeface="Aptos"/>
              </a:rPr>
              <a:t>Stage distribution.</a:t>
            </a:r>
          </a:p>
          <a:p>
            <a:pPr marL="285750" lvl="0" indent="-285750">
              <a:buFont typeface="Arial" panose="020B0604020202020204" pitchFamily="34" charset="0"/>
              <a:buChar char="•"/>
              <a:defRPr sz="1500">
                <a:solidFill>
                  <a:srgbClr val="2D3744"/>
                </a:solidFill>
                <a:latin typeface="Aptos"/>
              </a:defRPr>
            </a:pPr>
            <a:r>
              <a:rPr lang="en-IN" sz="1500" dirty="0">
                <a:solidFill>
                  <a:srgbClr val="2D3744"/>
                </a:solidFill>
                <a:latin typeface="Aptos"/>
              </a:rPr>
              <a:t>Age of open opportunities.</a:t>
            </a:r>
          </a:p>
          <a:p>
            <a:pPr marL="285750" lvl="0" indent="-285750">
              <a:buFont typeface="Arial" panose="020B0604020202020204" pitchFamily="34" charset="0"/>
              <a:buChar char="•"/>
              <a:defRPr sz="1500">
                <a:solidFill>
                  <a:srgbClr val="2D3744"/>
                </a:solidFill>
                <a:latin typeface="Aptos"/>
              </a:defRPr>
            </a:pPr>
            <a:r>
              <a:rPr lang="en-IN" sz="1500" dirty="0">
                <a:solidFill>
                  <a:srgbClr val="2D3744"/>
                </a:solidFill>
                <a:latin typeface="Aptos"/>
              </a:rPr>
              <a:t>Concentration among the largest deals.</a:t>
            </a:r>
          </a:p>
          <a:p>
            <a:pPr>
              <a:spcAft>
                <a:spcPts val="900"/>
              </a:spcAft>
              <a:defRPr sz="1500">
                <a:solidFill>
                  <a:srgbClr val="2D3744"/>
                </a:solidFill>
                <a:latin typeface="Aptos"/>
              </a:defRPr>
            </a:pPr>
            <a:endParaRPr dirty="0"/>
          </a:p>
        </p:txBody>
      </p:sp>
      <p:sp>
        <p:nvSpPr>
          <p:cNvPr id="7" name="Rounded Rectangle 6"/>
          <p:cNvSpPr/>
          <p:nvPr/>
        </p:nvSpPr>
        <p:spPr>
          <a:xfrm>
            <a:off x="713232" y="5715000"/>
            <a:ext cx="10789920" cy="65836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43016"/>
            <a:ext cx="10332720" cy="384048"/>
          </a:xfrm>
          <a:prstGeom prst="rect">
            <a:avLst/>
          </a:prstGeom>
          <a:noFill/>
        </p:spPr>
        <p:txBody>
          <a:bodyPr wrap="square" lIns="36576" tIns="18288" rIns="36576" bIns="18288">
            <a:spAutoFit/>
          </a:bodyPr>
          <a:lstStyle/>
          <a:p>
            <a:pPr>
              <a:spcAft>
                <a:spcPts val="0"/>
              </a:spcAft>
            </a:pPr>
            <a:r>
              <a:rPr sz="1400" b="1" i="0">
                <a:solidFill>
                  <a:srgbClr val="162B4A"/>
                </a:solidFill>
                <a:latin typeface="Aptos"/>
              </a:rPr>
              <a:t>Ask: if the largest opportunity is delayed, how does that change the interpretation?</a:t>
            </a:r>
          </a:p>
        </p:txBody>
      </p:sp>
      <p:sp>
        <p:nvSpPr>
          <p:cNvPr id="9" name="Slide Number Placeholder 8">
            <a:extLst>
              <a:ext uri="{FF2B5EF4-FFF2-40B4-BE49-F238E27FC236}">
                <a16:creationId xmlns:a16="http://schemas.microsoft.com/office/drawing/2014/main" id="{9D3288C8-E629-62EC-9F05-7178F338F75C}"/>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Correlation is not causation</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4251960"/>
          </a:xfrm>
          <a:prstGeom prst="rect">
            <a:avLst/>
          </a:prstGeom>
          <a:noFill/>
        </p:spPr>
        <p:txBody>
          <a:bodyPr wrap="square" lIns="45720" tIns="18288" rIns="36576" bIns="18288">
            <a:spAutoFit/>
          </a:bodyPr>
          <a:lstStyle/>
          <a:p>
            <a:pPr>
              <a:spcAft>
                <a:spcPts val="900"/>
              </a:spcAft>
              <a:defRPr sz="1600">
                <a:solidFill>
                  <a:srgbClr val="2D3744"/>
                </a:solidFill>
                <a:latin typeface="Aptos"/>
              </a:defRPr>
            </a:pPr>
            <a:r>
              <a:t>OBSERVATION: Two variables appear to vary together.</a:t>
            </a:r>
          </a:p>
          <a:p>
            <a:pPr>
              <a:spcAft>
                <a:spcPts val="900"/>
              </a:spcAft>
              <a:defRPr sz="1600">
                <a:solidFill>
                  <a:srgbClr val="2D3744"/>
                </a:solidFill>
                <a:latin typeface="Aptos"/>
              </a:defRPr>
            </a:pPr>
            <a:r>
              <a:t>HYPOTHESIS: One factor may help explain the pattern.</a:t>
            </a:r>
          </a:p>
          <a:p>
            <a:pPr>
              <a:spcAft>
                <a:spcPts val="900"/>
              </a:spcAft>
              <a:defRPr sz="1600">
                <a:solidFill>
                  <a:srgbClr val="2D3744"/>
                </a:solidFill>
                <a:latin typeface="Aptos"/>
              </a:defRPr>
            </a:pPr>
            <a:r>
              <a:t>EVIDENCE REQUIRED: Additional analysis or information that tests the explanation.</a:t>
            </a:r>
          </a:p>
          <a:p>
            <a:pPr>
              <a:spcAft>
                <a:spcPts val="900"/>
              </a:spcAft>
              <a:defRPr sz="1600">
                <a:solidFill>
                  <a:srgbClr val="2D3744"/>
                </a:solidFill>
                <a:latin typeface="Aptos"/>
              </a:defRPr>
            </a:pPr>
            <a:r>
              <a:t>CONCLUSION: Accept the explanation only to the extent justified by the evidence.</a:t>
            </a:r>
          </a:p>
          <a:p>
            <a:pPr>
              <a:spcAft>
                <a:spcPts val="900"/>
              </a:spcAft>
              <a:defRPr sz="1600">
                <a:solidFill>
                  <a:srgbClr val="2D3744"/>
                </a:solidFill>
                <a:latin typeface="Aptos"/>
              </a:defRPr>
            </a:pPr>
            <a:r>
              <a:t>A plausible explanation is not a proven cause.</a:t>
            </a:r>
          </a:p>
        </p:txBody>
      </p:sp>
      <p:sp>
        <p:nvSpPr>
          <p:cNvPr id="7" name="Rounded Rectangle 6"/>
          <p:cNvSpPr/>
          <p:nvPr/>
        </p:nvSpPr>
        <p:spPr>
          <a:xfrm>
            <a:off x="713232" y="5715000"/>
            <a:ext cx="10789920" cy="65836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43016"/>
            <a:ext cx="10332720" cy="384048"/>
          </a:xfrm>
          <a:prstGeom prst="rect">
            <a:avLst/>
          </a:prstGeom>
          <a:noFill/>
        </p:spPr>
        <p:txBody>
          <a:bodyPr wrap="square" lIns="36576" tIns="18288" rIns="36576" bIns="18288">
            <a:spAutoFit/>
          </a:bodyPr>
          <a:lstStyle/>
          <a:p>
            <a:pPr>
              <a:spcAft>
                <a:spcPts val="0"/>
              </a:spcAft>
            </a:pPr>
            <a:r>
              <a:rPr sz="1400" b="1" i="0">
                <a:solidFill>
                  <a:srgbClr val="162B4A"/>
                </a:solidFill>
                <a:latin typeface="Aptos"/>
              </a:rPr>
              <a:t>Do not let AI convert an association into a causal claim.</a:t>
            </a:r>
          </a:p>
        </p:txBody>
      </p:sp>
      <p:sp>
        <p:nvSpPr>
          <p:cNvPr id="9" name="Slide Number Placeholder 8">
            <a:extLst>
              <a:ext uri="{FF2B5EF4-FFF2-40B4-BE49-F238E27FC236}">
                <a16:creationId xmlns:a16="http://schemas.microsoft.com/office/drawing/2014/main" id="{597B6BA8-23D5-5B66-8364-7EF009249623}"/>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Demo 3: From analysis to business action</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1920240"/>
            <a:ext cx="2057400" cy="1938528"/>
          </a:xfrm>
          <a:prstGeom prst="roundRect">
            <a:avLst/>
          </a:prstGeom>
          <a:solidFill>
            <a:srgbClr val="E6EFF9"/>
          </a:solidFill>
          <a:ln>
            <a:solidFill>
              <a:srgbClr val="E6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EVIDENCE</a:t>
            </a:r>
          </a:p>
        </p:txBody>
      </p:sp>
      <p:sp>
        <p:nvSpPr>
          <p:cNvPr id="8" name="TextBox 7"/>
          <p:cNvSpPr txBox="1"/>
          <p:nvPr/>
        </p:nvSpPr>
        <p:spPr>
          <a:xfrm>
            <a:off x="78638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What does the
data show?</a:t>
            </a:r>
          </a:p>
        </p:txBody>
      </p:sp>
      <p:sp>
        <p:nvSpPr>
          <p:cNvPr id="9" name="TextBox 8"/>
          <p:cNvSpPr txBox="1"/>
          <p:nvPr/>
        </p:nvSpPr>
        <p:spPr>
          <a:xfrm>
            <a:off x="270662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0" name="Rounded Rectangle 9"/>
          <p:cNvSpPr/>
          <p:nvPr/>
        </p:nvSpPr>
        <p:spPr>
          <a:xfrm>
            <a:off x="2871215" y="1920240"/>
            <a:ext cx="2057400" cy="193852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6265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INTERPRETATION</a:t>
            </a:r>
          </a:p>
        </p:txBody>
      </p:sp>
      <p:sp>
        <p:nvSpPr>
          <p:cNvPr id="12" name="TextBox 11"/>
          <p:cNvSpPr txBox="1"/>
          <p:nvPr/>
        </p:nvSpPr>
        <p:spPr>
          <a:xfrm>
            <a:off x="298094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What might the
finding mean?</a:t>
            </a:r>
          </a:p>
        </p:txBody>
      </p:sp>
      <p:sp>
        <p:nvSpPr>
          <p:cNvPr id="13" name="TextBox 12"/>
          <p:cNvSpPr txBox="1"/>
          <p:nvPr/>
        </p:nvSpPr>
        <p:spPr>
          <a:xfrm>
            <a:off x="4901183"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4" name="Rounded Rectangle 13"/>
          <p:cNvSpPr/>
          <p:nvPr/>
        </p:nvSpPr>
        <p:spPr>
          <a:xfrm>
            <a:off x="5065776" y="1920240"/>
            <a:ext cx="2057400" cy="1938528"/>
          </a:xfrm>
          <a:prstGeom prst="roundRect">
            <a:avLst/>
          </a:prstGeom>
          <a:solidFill>
            <a:srgbClr val="FAF3E2"/>
          </a:solidFill>
          <a:ln>
            <a:solidFill>
              <a:srgbClr val="FAF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5721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IMPLICATION</a:t>
            </a:r>
          </a:p>
        </p:txBody>
      </p:sp>
      <p:sp>
        <p:nvSpPr>
          <p:cNvPr id="16" name="TextBox 15"/>
          <p:cNvSpPr txBox="1"/>
          <p:nvPr/>
        </p:nvSpPr>
        <p:spPr>
          <a:xfrm>
            <a:off x="517550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Why might it
matter?</a:t>
            </a:r>
          </a:p>
        </p:txBody>
      </p:sp>
      <p:sp>
        <p:nvSpPr>
          <p:cNvPr id="17" name="TextBox 16"/>
          <p:cNvSpPr txBox="1"/>
          <p:nvPr/>
        </p:nvSpPr>
        <p:spPr>
          <a:xfrm>
            <a:off x="709574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8" name="Rounded Rectangle 17"/>
          <p:cNvSpPr/>
          <p:nvPr/>
        </p:nvSpPr>
        <p:spPr>
          <a:xfrm>
            <a:off x="7260336" y="1920240"/>
            <a:ext cx="2057400" cy="1938528"/>
          </a:xfrm>
          <a:prstGeom prst="roundRect">
            <a:avLst/>
          </a:prstGeom>
          <a:solidFill>
            <a:srgbClr val="E2F3EB"/>
          </a:solidFill>
          <a:ln>
            <a:solidFill>
              <a:srgbClr val="E2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51775"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ACTION</a:t>
            </a:r>
          </a:p>
        </p:txBody>
      </p:sp>
      <p:sp>
        <p:nvSpPr>
          <p:cNvPr id="20" name="TextBox 19"/>
          <p:cNvSpPr txBox="1"/>
          <p:nvPr/>
        </p:nvSpPr>
        <p:spPr>
          <a:xfrm>
            <a:off x="7370063"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What should be
investigated or changed?</a:t>
            </a:r>
          </a:p>
        </p:txBody>
      </p:sp>
      <p:sp>
        <p:nvSpPr>
          <p:cNvPr id="21" name="TextBox 20"/>
          <p:cNvSpPr txBox="1"/>
          <p:nvPr/>
        </p:nvSpPr>
        <p:spPr>
          <a:xfrm>
            <a:off x="929030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22" name="Rounded Rectangle 21"/>
          <p:cNvSpPr/>
          <p:nvPr/>
        </p:nvSpPr>
        <p:spPr>
          <a:xfrm>
            <a:off x="9454896" y="1920240"/>
            <a:ext cx="2057400" cy="1938528"/>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4633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VALIDATION</a:t>
            </a:r>
          </a:p>
        </p:txBody>
      </p:sp>
      <p:sp>
        <p:nvSpPr>
          <p:cNvPr id="24" name="TextBox 23"/>
          <p:cNvSpPr txBox="1"/>
          <p:nvPr/>
        </p:nvSpPr>
        <p:spPr>
          <a:xfrm>
            <a:off x="956462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How will we know
the action is justified?</a:t>
            </a:r>
          </a:p>
        </p:txBody>
      </p:sp>
      <p:sp>
        <p:nvSpPr>
          <p:cNvPr id="25" name="Rounded Rectangle 24"/>
          <p:cNvSpPr/>
          <p:nvPr/>
        </p:nvSpPr>
        <p:spPr>
          <a:xfrm>
            <a:off x="749808" y="4572000"/>
            <a:ext cx="10698480" cy="914400"/>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0120" y="4773168"/>
            <a:ext cx="10287000" cy="502920"/>
          </a:xfrm>
          <a:prstGeom prst="rect">
            <a:avLst/>
          </a:prstGeom>
          <a:noFill/>
        </p:spPr>
        <p:txBody>
          <a:bodyPr wrap="square" lIns="36576" tIns="18288" rIns="36576" bIns="18288">
            <a:spAutoFit/>
          </a:bodyPr>
          <a:lstStyle/>
          <a:p>
            <a:pPr algn="ctr">
              <a:spcAft>
                <a:spcPts val="0"/>
              </a:spcAft>
            </a:pPr>
            <a:r>
              <a:rPr sz="1500" b="1" i="0">
                <a:solidFill>
                  <a:srgbClr val="162B4A"/>
                </a:solidFill>
                <a:latin typeface="Aptos"/>
              </a:rPr>
              <a:t>The recommendation should follow from validated findings.</a:t>
            </a:r>
          </a:p>
        </p:txBody>
      </p:sp>
      <p:sp>
        <p:nvSpPr>
          <p:cNvPr id="27" name="Slide Number Placeholder 26">
            <a:extLst>
              <a:ext uri="{FF2B5EF4-FFF2-40B4-BE49-F238E27FC236}">
                <a16:creationId xmlns:a16="http://schemas.microsoft.com/office/drawing/2014/main" id="{0B557B25-7E32-1E80-9D87-1CF2483F3E56}"/>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Demo 3: Create an executive decision brief</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Use only findings from the validated analysis.</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221992"/>
            <a:ext cx="10332720" cy="3749039"/>
          </a:xfrm>
          <a:prstGeom prst="rect">
            <a:avLst/>
          </a:prstGeom>
          <a:noFill/>
        </p:spPr>
        <p:txBody>
          <a:bodyPr wrap="square" lIns="36576" tIns="18288" rIns="36576" bIns="18288">
            <a:spAutoFit/>
          </a:bodyPr>
          <a:lstStyle/>
          <a:p>
            <a:pPr>
              <a:spcAft>
                <a:spcPts val="0"/>
              </a:spcAft>
            </a:pPr>
            <a:r>
              <a:rPr sz="1100" b="0" i="0">
                <a:solidFill>
                  <a:srgbClr val="2D3744"/>
                </a:solidFill>
                <a:latin typeface="Consolas"/>
              </a:rPr>
              <a:t>Using only the findings from the validated analysis of
sales_pipeline_300.csv, prepare a decision brief for a sales
or business leader.
1. EXECUTIVE TAKEAWAY: State the most important supported finding.
2. THREE MATERIAL INSIGHTS: Include metrics, comparisons, and interpretation.
3. TWO POTENTIAL RISKS: Explain possible consequences and evidence.
4. TWO POTENTIAL OPPORTUNITIES: Describe potential benefit and evidence needed.
5. RECOMMENDED NEXT ACTION: Propose a specific, proportionate action.
6. FIVE FOLLOW-UP QUESTIONS: Identify questions before a significant decision.
7. LIMITATIONS: State what the dataset cannot establish and identify assumptions.
Rules: distinguish observations from interpretations, cite metrics,
disclose assumptions, avoid unsupported causal claims, and do not
invent monetary benefits, forecasts, or business impacts.
Where evidence is insufficient, say so.
Maximum length: 500 words.</a:t>
            </a:r>
          </a:p>
        </p:txBody>
      </p:sp>
      <p:sp>
        <p:nvSpPr>
          <p:cNvPr id="11" name="Slide Number Placeholder 10">
            <a:extLst>
              <a:ext uri="{FF2B5EF4-FFF2-40B4-BE49-F238E27FC236}">
                <a16:creationId xmlns:a16="http://schemas.microsoft.com/office/drawing/2014/main" id="{6B534976-BB3C-36AD-BE0A-8271BC523ABE}"/>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467820"/>
          </a:xfrm>
          <a:prstGeom prst="rect">
            <a:avLst/>
          </a:prstGeom>
          <a:noFill/>
        </p:spPr>
        <p:txBody>
          <a:bodyPr wrap="square" lIns="36576" tIns="18288" rIns="36576" bIns="18288">
            <a:spAutoFit/>
          </a:bodyPr>
          <a:lstStyle/>
          <a:p>
            <a:pPr>
              <a:spcAft>
                <a:spcPts val="0"/>
              </a:spcAft>
            </a:pPr>
            <a:r>
              <a:rPr lang="en-US" sz="2800" b="1" i="0" dirty="0">
                <a:solidFill>
                  <a:srgbClr val="162B4A"/>
                </a:solidFill>
                <a:latin typeface="Aptos Display"/>
              </a:rPr>
              <a:t>Demo 4: </a:t>
            </a:r>
            <a:r>
              <a:rPr sz="2800" b="1" i="0" dirty="0">
                <a:solidFill>
                  <a:srgbClr val="162B4A"/>
                </a:solidFill>
                <a:latin typeface="Aptos Display"/>
              </a:rPr>
              <a:t>Red-team the recommendation</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Challenge specific claims before the briefing is shared.</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221992"/>
            <a:ext cx="10332720" cy="3749039"/>
          </a:xfrm>
          <a:prstGeom prst="rect">
            <a:avLst/>
          </a:prstGeom>
          <a:noFill/>
        </p:spPr>
        <p:txBody>
          <a:bodyPr wrap="square" lIns="36576" tIns="18288" rIns="36576" bIns="18288">
            <a:spAutoFit/>
          </a:bodyPr>
          <a:lstStyle/>
          <a:p>
            <a:pPr>
              <a:spcAft>
                <a:spcPts val="0"/>
              </a:spcAft>
            </a:pPr>
            <a:r>
              <a:rPr sz="1200" b="0" i="0">
                <a:solidFill>
                  <a:srgbClr val="2D3744"/>
                </a:solidFill>
                <a:latin typeface="Consolas"/>
              </a:rPr>
              <a:t>Act as a skeptical executive reviewer.
Challenge the decision brief you just produced.
Identify:
1. Claims that may be overstated
2. Conclusions that depend on assumptions
3. Weak or incomplete evidence
4. Risks that may have been overlooked
5. Missing information that could change the decision
6. Statements that sound more certain than the evidence supports
7. Recommendations that are not sufficiently justified
For each issue provide the original statement, why it is
questionable, evidence that is missing, and a safer replacement.
Do not rewrite the entire brief. Do not introduce new facts.
Preserve the distinction between evidence, interpretation, and uncertainty.</a:t>
            </a:r>
          </a:p>
        </p:txBody>
      </p:sp>
      <p:sp>
        <p:nvSpPr>
          <p:cNvPr id="10" name="Slide Number Placeholder 9">
            <a:extLst>
              <a:ext uri="{FF2B5EF4-FFF2-40B4-BE49-F238E27FC236}">
                <a16:creationId xmlns:a16="http://schemas.microsoft.com/office/drawing/2014/main" id="{8D2E5949-6E7E-51E0-6885-E13FB36EA666}"/>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Data team application: Data-quality analysis</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4251960"/>
          </a:xfrm>
          <a:prstGeom prst="rect">
            <a:avLst/>
          </a:prstGeom>
          <a:noFill/>
        </p:spPr>
        <p:txBody>
          <a:bodyPr wrap="square" lIns="45720" tIns="18288" rIns="36576" bIns="18288">
            <a:spAutoFit/>
          </a:bodyPr>
          <a:lstStyle/>
          <a:p>
            <a:pPr>
              <a:spcAft>
                <a:spcPts val="900"/>
              </a:spcAft>
              <a:defRPr sz="1500">
                <a:solidFill>
                  <a:srgbClr val="2D3744"/>
                </a:solidFill>
                <a:latin typeface="Aptos"/>
              </a:defRPr>
            </a:pPr>
            <a:r>
              <a:t>Profile records and group exceptions by quality dimension.</a:t>
            </a:r>
          </a:p>
          <a:p>
            <a:pPr>
              <a:spcAft>
                <a:spcPts val="900"/>
              </a:spcAft>
              <a:defRPr sz="1500">
                <a:solidFill>
                  <a:srgbClr val="2D3744"/>
                </a:solidFill>
                <a:latin typeface="Aptos"/>
              </a:defRPr>
            </a:pPr>
            <a:r>
              <a:t>Compare error rates across sources where comparable denominators exist.</a:t>
            </a:r>
          </a:p>
          <a:p>
            <a:pPr>
              <a:spcAft>
                <a:spcPts val="900"/>
              </a:spcAft>
              <a:defRPr sz="1500">
                <a:solidFill>
                  <a:srgbClr val="2D3744"/>
                </a:solidFill>
                <a:latin typeface="Aptos"/>
              </a:defRPr>
            </a:pPr>
            <a:r>
              <a:t>Identify recurring patterns and propose validation rules.</a:t>
            </a:r>
          </a:p>
          <a:p>
            <a:pPr>
              <a:spcAft>
                <a:spcPts val="900"/>
              </a:spcAft>
              <a:defRPr sz="1500">
                <a:solidFill>
                  <a:srgbClr val="2D3744"/>
                </a:solidFill>
                <a:latin typeface="Aptos"/>
              </a:defRPr>
            </a:pPr>
            <a:r>
              <a:t>Separate observed defects from possible root causes.</a:t>
            </a:r>
          </a:p>
          <a:p>
            <a:pPr>
              <a:spcAft>
                <a:spcPts val="900"/>
              </a:spcAft>
              <a:defRPr sz="1500">
                <a:solidFill>
                  <a:srgbClr val="2D3744"/>
                </a:solidFill>
                <a:latin typeface="Aptos"/>
              </a:defRPr>
            </a:pPr>
            <a:r>
              <a:t>Prioritize by business significance, not frequency alone.</a:t>
            </a:r>
          </a:p>
          <a:p>
            <a:pPr>
              <a:spcAft>
                <a:spcPts val="900"/>
              </a:spcAft>
              <a:defRPr sz="1500">
                <a:solidFill>
                  <a:srgbClr val="2D3744"/>
                </a:solidFill>
                <a:latin typeface="Aptos"/>
              </a:defRPr>
            </a:pPr>
            <a:r>
              <a:t>A data-quality symptom does not automatically establish its root cause.</a:t>
            </a:r>
          </a:p>
        </p:txBody>
      </p:sp>
      <p:sp>
        <p:nvSpPr>
          <p:cNvPr id="7" name="Slide Number Placeholder 6">
            <a:extLst>
              <a:ext uri="{FF2B5EF4-FFF2-40B4-BE49-F238E27FC236}">
                <a16:creationId xmlns:a16="http://schemas.microsoft.com/office/drawing/2014/main" id="{A0391441-F904-B706-0E4D-6FB0E634C817}"/>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467820"/>
          </a:xfrm>
          <a:prstGeom prst="rect">
            <a:avLst/>
          </a:prstGeom>
          <a:noFill/>
        </p:spPr>
        <p:txBody>
          <a:bodyPr wrap="square" lIns="36576" tIns="18288" rIns="36576" bIns="18288">
            <a:spAutoFit/>
          </a:bodyPr>
          <a:lstStyle/>
          <a:p>
            <a:pPr>
              <a:spcAft>
                <a:spcPts val="0"/>
              </a:spcAft>
            </a:pPr>
            <a:r>
              <a:rPr lang="en-US" sz="2800" b="1" i="0" dirty="0">
                <a:solidFill>
                  <a:srgbClr val="162B4A"/>
                </a:solidFill>
                <a:latin typeface="Aptos Display"/>
              </a:rPr>
              <a:t>Demo 5: </a:t>
            </a:r>
            <a:r>
              <a:rPr sz="2800" b="1" i="0" dirty="0">
                <a:solidFill>
                  <a:srgbClr val="162B4A"/>
                </a:solidFill>
                <a:latin typeface="Aptos Display"/>
              </a:rPr>
              <a:t>Data track: Investigate data quality</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Example application for Data participants.</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221992"/>
            <a:ext cx="10332720" cy="3749039"/>
          </a:xfrm>
          <a:prstGeom prst="rect">
            <a:avLst/>
          </a:prstGeom>
          <a:noFill/>
        </p:spPr>
        <p:txBody>
          <a:bodyPr wrap="square" lIns="36576" tIns="18288" rIns="36576" bIns="18288">
            <a:spAutoFit/>
          </a:bodyPr>
          <a:lstStyle/>
          <a:p>
            <a:pPr>
              <a:spcAft>
                <a:spcPts val="0"/>
              </a:spcAft>
            </a:pPr>
            <a:r>
              <a:rPr sz="1200" b="0" i="0">
                <a:solidFill>
                  <a:srgbClr val="2D3744"/>
                </a:solidFill>
                <a:latin typeface="Consolas"/>
              </a:rPr>
              <a:t>Act as a senior data analyst investigating the supplied
WinTrust data-quality exceptions dataset.
Identify the most material data-quality patterns.
For each finding provide: data-quality dimension, number of affected
records, denominator and error rate, supporting evidence, potential
downstream impact, possible explanation labeled as a hypothesis,
validation required, and recommended next step.
Rank findings by business significance, not merely frequency.
Do not infer root cause from a symptom alone.
Do not claim a data defect caused a business outcome unless evidence
establishes that relationship.
Identify missing information that would materially change the investigation.</a:t>
            </a:r>
          </a:p>
        </p:txBody>
      </p:sp>
      <p:sp>
        <p:nvSpPr>
          <p:cNvPr id="10" name="Slide Number Placeholder 9">
            <a:extLst>
              <a:ext uri="{FF2B5EF4-FFF2-40B4-BE49-F238E27FC236}">
                <a16:creationId xmlns:a16="http://schemas.microsoft.com/office/drawing/2014/main" id="{51CF2562-53C4-39DC-3E81-9690673C297B}"/>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467820"/>
          </a:xfrm>
          <a:prstGeom prst="rect">
            <a:avLst/>
          </a:prstGeom>
          <a:noFill/>
        </p:spPr>
        <p:txBody>
          <a:bodyPr wrap="square" lIns="36576" tIns="18288" rIns="36576" bIns="18288">
            <a:spAutoFit/>
          </a:bodyPr>
          <a:lstStyle/>
          <a:p>
            <a:pPr>
              <a:spcAft>
                <a:spcPts val="0"/>
              </a:spcAft>
            </a:pPr>
            <a:r>
              <a:rPr lang="en-US" sz="2800" b="1" i="0" dirty="0">
                <a:solidFill>
                  <a:srgbClr val="162B4A"/>
                </a:solidFill>
                <a:latin typeface="Aptos Display"/>
              </a:rPr>
              <a:t>Demo 6: </a:t>
            </a:r>
            <a:r>
              <a:rPr sz="2800" b="1" i="0" dirty="0">
                <a:solidFill>
                  <a:srgbClr val="162B4A"/>
                </a:solidFill>
                <a:latin typeface="Aptos Display"/>
              </a:rPr>
              <a:t>Enterprise Operations: Ticket and SLA analysis</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Example application for Enterprise Operations participants.</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221992"/>
            <a:ext cx="10332720" cy="3749039"/>
          </a:xfrm>
          <a:prstGeom prst="rect">
            <a:avLst/>
          </a:prstGeom>
          <a:noFill/>
        </p:spPr>
        <p:txBody>
          <a:bodyPr wrap="square" lIns="36576" tIns="18288" rIns="36576" bIns="18288">
            <a:spAutoFit/>
          </a:bodyPr>
          <a:lstStyle/>
          <a:p>
            <a:pPr>
              <a:spcAft>
                <a:spcPts val="0"/>
              </a:spcAft>
            </a:pPr>
            <a:r>
              <a:rPr sz="1200" b="0" i="0">
                <a:solidFill>
                  <a:srgbClr val="2D3744"/>
                </a:solidFill>
                <a:latin typeface="Consolas"/>
              </a:rPr>
              <a:t>Act as an Enterprise Operations analyst.
Analyze the supplied WinTrust operational ticket dataset.
Where relevant fields are available, summarize:
- Ticket volumes by severity and category
- SLA-breach counts and rates
- Differences between ticket groups
- Recurring symptoms
- Potential concentration of operational risk
- Records requiring further investigation
For each finding, provide calculation method, numerator, denominator,
and limitations.
Separate observed facts, potential explanations, and recommended
investigations. Do not assume a high ticket count proves a root cause.
Do not recommend closing, suppressing, or downgrading incidents based
only on statistical patterns.
Identify missing definitions or fields that prevent a reliable conclusion.</a:t>
            </a:r>
          </a:p>
        </p:txBody>
      </p:sp>
      <p:sp>
        <p:nvSpPr>
          <p:cNvPr id="10" name="Slide Number Placeholder 9">
            <a:extLst>
              <a:ext uri="{FF2B5EF4-FFF2-40B4-BE49-F238E27FC236}">
                <a16:creationId xmlns:a16="http://schemas.microsoft.com/office/drawing/2014/main" id="{7BEC2B35-6DAF-124F-DFA7-5AF178E5D0BC}"/>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GitHub Copilot: From analysis to repeatable code</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6656" y="1920240"/>
            <a:ext cx="2057400" cy="1938528"/>
          </a:xfrm>
          <a:prstGeom prst="roundRect">
            <a:avLst/>
          </a:prstGeom>
          <a:solidFill>
            <a:srgbClr val="E6EFF9"/>
          </a:solidFill>
          <a:ln>
            <a:solidFill>
              <a:srgbClr val="E6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DEFINE</a:t>
            </a:r>
          </a:p>
        </p:txBody>
      </p:sp>
      <p:sp>
        <p:nvSpPr>
          <p:cNvPr id="8" name="TextBox 7"/>
          <p:cNvSpPr txBox="1"/>
          <p:nvPr/>
        </p:nvSpPr>
        <p:spPr>
          <a:xfrm>
            <a:off x="78638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Specify the
business metric</a:t>
            </a:r>
          </a:p>
        </p:txBody>
      </p:sp>
      <p:sp>
        <p:nvSpPr>
          <p:cNvPr id="9" name="TextBox 8"/>
          <p:cNvSpPr txBox="1"/>
          <p:nvPr/>
        </p:nvSpPr>
        <p:spPr>
          <a:xfrm>
            <a:off x="270662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0" name="Rounded Rectangle 9"/>
          <p:cNvSpPr/>
          <p:nvPr/>
        </p:nvSpPr>
        <p:spPr>
          <a:xfrm>
            <a:off x="2871215" y="1920240"/>
            <a:ext cx="2057400" cy="193852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6265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CONFIRM</a:t>
            </a:r>
          </a:p>
        </p:txBody>
      </p:sp>
      <p:sp>
        <p:nvSpPr>
          <p:cNvPr id="12" name="TextBox 11"/>
          <p:cNvSpPr txBox="1"/>
          <p:nvPr/>
        </p:nvSpPr>
        <p:spPr>
          <a:xfrm>
            <a:off x="298094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Agree on rules
and definitions</a:t>
            </a:r>
          </a:p>
        </p:txBody>
      </p:sp>
      <p:sp>
        <p:nvSpPr>
          <p:cNvPr id="13" name="TextBox 12"/>
          <p:cNvSpPr txBox="1"/>
          <p:nvPr/>
        </p:nvSpPr>
        <p:spPr>
          <a:xfrm>
            <a:off x="4901183"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4" name="Rounded Rectangle 13"/>
          <p:cNvSpPr/>
          <p:nvPr/>
        </p:nvSpPr>
        <p:spPr>
          <a:xfrm>
            <a:off x="5065776" y="1920240"/>
            <a:ext cx="2057400" cy="1938528"/>
          </a:xfrm>
          <a:prstGeom prst="roundRect">
            <a:avLst/>
          </a:prstGeom>
          <a:solidFill>
            <a:srgbClr val="FAF3E2"/>
          </a:solidFill>
          <a:ln>
            <a:solidFill>
              <a:srgbClr val="FAF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5721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GENERATE</a:t>
            </a:r>
          </a:p>
        </p:txBody>
      </p:sp>
      <p:sp>
        <p:nvSpPr>
          <p:cNvPr id="16" name="TextBox 15"/>
          <p:cNvSpPr txBox="1"/>
          <p:nvPr/>
        </p:nvSpPr>
        <p:spPr>
          <a:xfrm>
            <a:off x="517550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Create the
analytical code</a:t>
            </a:r>
          </a:p>
        </p:txBody>
      </p:sp>
      <p:sp>
        <p:nvSpPr>
          <p:cNvPr id="17" name="TextBox 16"/>
          <p:cNvSpPr txBox="1"/>
          <p:nvPr/>
        </p:nvSpPr>
        <p:spPr>
          <a:xfrm>
            <a:off x="709574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18" name="Rounded Rectangle 17"/>
          <p:cNvSpPr/>
          <p:nvPr/>
        </p:nvSpPr>
        <p:spPr>
          <a:xfrm>
            <a:off x="7260336" y="1920240"/>
            <a:ext cx="2057400" cy="1938528"/>
          </a:xfrm>
          <a:prstGeom prst="roundRect">
            <a:avLst/>
          </a:prstGeom>
          <a:solidFill>
            <a:srgbClr val="E2F3EB"/>
          </a:solidFill>
          <a:ln>
            <a:solidFill>
              <a:srgbClr val="E2F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51775"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TEST</a:t>
            </a:r>
          </a:p>
        </p:txBody>
      </p:sp>
      <p:sp>
        <p:nvSpPr>
          <p:cNvPr id="20" name="TextBox 19"/>
          <p:cNvSpPr txBox="1"/>
          <p:nvPr/>
        </p:nvSpPr>
        <p:spPr>
          <a:xfrm>
            <a:off x="7370063"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Review logic and
run edge-case tests</a:t>
            </a:r>
          </a:p>
        </p:txBody>
      </p:sp>
      <p:sp>
        <p:nvSpPr>
          <p:cNvPr id="21" name="TextBox 20"/>
          <p:cNvSpPr txBox="1"/>
          <p:nvPr/>
        </p:nvSpPr>
        <p:spPr>
          <a:xfrm>
            <a:off x="9290304" y="2633472"/>
            <a:ext cx="201168" cy="365760"/>
          </a:xfrm>
          <a:prstGeom prst="rect">
            <a:avLst/>
          </a:prstGeom>
          <a:noFill/>
        </p:spPr>
        <p:txBody>
          <a:bodyPr wrap="square" lIns="36576" tIns="18288" rIns="36576" bIns="18288">
            <a:spAutoFit/>
          </a:bodyPr>
          <a:lstStyle/>
          <a:p>
            <a:pPr algn="ctr">
              <a:spcAft>
                <a:spcPts val="0"/>
              </a:spcAft>
            </a:pPr>
            <a:r>
              <a:rPr sz="2200" b="1" i="0">
                <a:solidFill>
                  <a:srgbClr val="008991"/>
                </a:solidFill>
                <a:latin typeface="Aptos"/>
              </a:rPr>
              <a:t>›</a:t>
            </a:r>
          </a:p>
        </p:txBody>
      </p:sp>
      <p:sp>
        <p:nvSpPr>
          <p:cNvPr id="22" name="Rounded Rectangle 21"/>
          <p:cNvSpPr/>
          <p:nvPr/>
        </p:nvSpPr>
        <p:spPr>
          <a:xfrm>
            <a:off x="9454896" y="1920240"/>
            <a:ext cx="2057400" cy="1938528"/>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46336" y="2148840"/>
            <a:ext cx="1874519" cy="365760"/>
          </a:xfrm>
          <a:prstGeom prst="rect">
            <a:avLst/>
          </a:prstGeom>
          <a:noFill/>
        </p:spPr>
        <p:txBody>
          <a:bodyPr wrap="square" lIns="36576" tIns="18288" rIns="36576" bIns="18288">
            <a:spAutoFit/>
          </a:bodyPr>
          <a:lstStyle/>
          <a:p>
            <a:pPr algn="ctr">
              <a:spcAft>
                <a:spcPts val="0"/>
              </a:spcAft>
            </a:pPr>
            <a:r>
              <a:rPr sz="1400" b="1" i="0">
                <a:solidFill>
                  <a:srgbClr val="162B4A"/>
                </a:solidFill>
                <a:latin typeface="Aptos"/>
              </a:rPr>
              <a:t>APPROVE</a:t>
            </a:r>
          </a:p>
        </p:txBody>
      </p:sp>
      <p:sp>
        <p:nvSpPr>
          <p:cNvPr id="24" name="TextBox 23"/>
          <p:cNvSpPr txBox="1"/>
          <p:nvPr/>
        </p:nvSpPr>
        <p:spPr>
          <a:xfrm>
            <a:off x="9564624" y="2670048"/>
            <a:ext cx="1837943" cy="914400"/>
          </a:xfrm>
          <a:prstGeom prst="rect">
            <a:avLst/>
          </a:prstGeom>
          <a:noFill/>
        </p:spPr>
        <p:txBody>
          <a:bodyPr wrap="square" lIns="36576" tIns="18288" rIns="36576" bIns="18288">
            <a:spAutoFit/>
          </a:bodyPr>
          <a:lstStyle/>
          <a:p>
            <a:pPr algn="ctr">
              <a:spcAft>
                <a:spcPts val="0"/>
              </a:spcAft>
            </a:pPr>
            <a:r>
              <a:rPr sz="1100" b="0" i="0">
                <a:solidFill>
                  <a:srgbClr val="2D3744"/>
                </a:solidFill>
                <a:latin typeface="Aptos"/>
              </a:rPr>
              <a:t>Compare outputs
and obtain review</a:t>
            </a:r>
          </a:p>
        </p:txBody>
      </p:sp>
      <p:sp>
        <p:nvSpPr>
          <p:cNvPr id="25" name="Rounded Rectangle 24"/>
          <p:cNvSpPr/>
          <p:nvPr/>
        </p:nvSpPr>
        <p:spPr>
          <a:xfrm>
            <a:off x="749808" y="4572000"/>
            <a:ext cx="10698480" cy="914400"/>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0120" y="4773168"/>
            <a:ext cx="10287000" cy="502920"/>
          </a:xfrm>
          <a:prstGeom prst="rect">
            <a:avLst/>
          </a:prstGeom>
          <a:noFill/>
        </p:spPr>
        <p:txBody>
          <a:bodyPr wrap="square" lIns="36576" tIns="18288" rIns="36576" bIns="18288">
            <a:spAutoFit/>
          </a:bodyPr>
          <a:lstStyle/>
          <a:p>
            <a:pPr algn="ctr">
              <a:spcAft>
                <a:spcPts val="0"/>
              </a:spcAft>
            </a:pPr>
            <a:r>
              <a:rPr sz="1500" b="1" i="0">
                <a:solidFill>
                  <a:srgbClr val="162B4A"/>
                </a:solidFill>
                <a:latin typeface="Aptos"/>
              </a:rPr>
              <a:t>Generated code can consistently reproduce an incorrect calculation if the logic is wrong.</a:t>
            </a:r>
          </a:p>
        </p:txBody>
      </p:sp>
      <p:sp>
        <p:nvSpPr>
          <p:cNvPr id="27" name="Slide Number Placeholder 26">
            <a:extLst>
              <a:ext uri="{FF2B5EF4-FFF2-40B4-BE49-F238E27FC236}">
                <a16:creationId xmlns:a16="http://schemas.microsoft.com/office/drawing/2014/main" id="{24319F99-AF79-1415-1841-ACD98850F87E}"/>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467820"/>
          </a:xfrm>
          <a:prstGeom prst="rect">
            <a:avLst/>
          </a:prstGeom>
          <a:noFill/>
        </p:spPr>
        <p:txBody>
          <a:bodyPr wrap="square" lIns="36576" tIns="18288" rIns="36576" bIns="18288">
            <a:spAutoFit/>
          </a:bodyPr>
          <a:lstStyle/>
          <a:p>
            <a:pPr>
              <a:spcAft>
                <a:spcPts val="0"/>
              </a:spcAft>
            </a:pPr>
            <a:r>
              <a:rPr lang="en-US" sz="2800" b="1" i="0" dirty="0">
                <a:solidFill>
                  <a:srgbClr val="162B4A"/>
                </a:solidFill>
                <a:latin typeface="Aptos Display"/>
              </a:rPr>
              <a:t>Demo 7A: </a:t>
            </a:r>
            <a:r>
              <a:rPr sz="2800" b="1" i="0" dirty="0">
                <a:solidFill>
                  <a:srgbClr val="162B4A"/>
                </a:solidFill>
                <a:latin typeface="Aptos Display"/>
              </a:rPr>
              <a:t>GitHub Copilot example: Data team</a:t>
            </a:r>
          </a:p>
        </p:txBody>
      </p:sp>
      <p:sp>
        <p:nvSpPr>
          <p:cNvPr id="5" name="TextBox 4"/>
          <p:cNvSpPr txBox="1"/>
          <p:nvPr/>
        </p:nvSpPr>
        <p:spPr>
          <a:xfrm>
            <a:off x="640080" y="1417320"/>
            <a:ext cx="10881360" cy="252377"/>
          </a:xfrm>
          <a:prstGeom prst="rect">
            <a:avLst/>
          </a:prstGeom>
          <a:noFill/>
        </p:spPr>
        <p:txBody>
          <a:bodyPr wrap="square" lIns="36576" tIns="18288" rIns="36576" bIns="18288">
            <a:spAutoFit/>
          </a:bodyPr>
          <a:lstStyle/>
          <a:p>
            <a:pPr>
              <a:spcAft>
                <a:spcPts val="0"/>
              </a:spcAft>
            </a:pPr>
            <a:r>
              <a:rPr lang="en-IN" sz="1400" dirty="0"/>
              <a:t>Ask GitHub Copilot to help create a SQL query that summarizes pipeline and revenue by month, region, and product.</a:t>
            </a:r>
            <a:endParaRPr sz="1300" b="0" i="0" dirty="0">
              <a:solidFill>
                <a:srgbClr val="616D7B"/>
              </a:solidFill>
              <a:latin typeface="Aptos"/>
            </a:endParaRP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029992"/>
            <a:ext cx="10332720" cy="4099584"/>
          </a:xfrm>
          <a:prstGeom prst="rect">
            <a:avLst/>
          </a:prstGeom>
          <a:noFill/>
        </p:spPr>
        <p:txBody>
          <a:bodyPr wrap="square" lIns="36576" tIns="18288" rIns="36576" bIns="18288">
            <a:spAutoFit/>
          </a:bodyPr>
          <a:lstStyle/>
          <a:p>
            <a:r>
              <a:rPr lang="en-IN" sz="1100" dirty="0"/>
              <a:t>Act as a senior data analyst and SQL developer. The </a:t>
            </a:r>
            <a:r>
              <a:rPr lang="en-IN" sz="1100" dirty="0" err="1"/>
              <a:t>WinTrust</a:t>
            </a:r>
            <a:r>
              <a:rPr lang="en-IN" sz="1100" dirty="0"/>
              <a:t> data team needs a sales performance summary.</a:t>
            </a:r>
          </a:p>
          <a:p>
            <a:endParaRPr lang="en-IN" sz="1100" dirty="0"/>
          </a:p>
          <a:p>
            <a:r>
              <a:rPr lang="en-IN" sz="1100" dirty="0"/>
              <a:t>The source file is sales_pipeline_300.csv, with these columns:</a:t>
            </a:r>
          </a:p>
          <a:p>
            <a:r>
              <a:rPr lang="en-IN" sz="1100" dirty="0"/>
              <a:t>- </a:t>
            </a:r>
            <a:r>
              <a:rPr lang="en-IN" sz="1100" dirty="0" err="1"/>
              <a:t>Deal_ID</a:t>
            </a:r>
            <a:r>
              <a:rPr lang="en-IN" sz="1100" dirty="0"/>
              <a:t>, Month, Region, Product, </a:t>
            </a:r>
            <a:r>
              <a:rPr lang="en-IN" sz="1100" dirty="0" err="1"/>
              <a:t>Customer_Segment</a:t>
            </a:r>
            <a:r>
              <a:rPr lang="en-IN" sz="1100" dirty="0"/>
              <a:t>, </a:t>
            </a:r>
            <a:r>
              <a:rPr lang="en-IN" sz="1100" dirty="0" err="1"/>
              <a:t>Pipeline_Value_INR</a:t>
            </a:r>
            <a:r>
              <a:rPr lang="en-IN" sz="1100" dirty="0"/>
              <a:t>, </a:t>
            </a:r>
            <a:r>
              <a:rPr lang="en-IN" sz="1100" dirty="0" err="1"/>
              <a:t>Win_Probability</a:t>
            </a:r>
            <a:r>
              <a:rPr lang="en-IN" sz="1100" dirty="0"/>
              <a:t>, </a:t>
            </a:r>
            <a:r>
              <a:rPr lang="en-IN" sz="1100" dirty="0" err="1"/>
              <a:t>Actual_Revenue_INR</a:t>
            </a:r>
            <a:r>
              <a:rPr lang="en-IN" sz="1100" dirty="0"/>
              <a:t>, Sales_Cycle_Days, </a:t>
            </a:r>
            <a:r>
              <a:rPr lang="en-IN" sz="1100" dirty="0" err="1"/>
              <a:t>Customer_Risk</a:t>
            </a:r>
            <a:endParaRPr lang="en-IN" sz="1100" dirty="0"/>
          </a:p>
          <a:p>
            <a:endParaRPr lang="en-IN" sz="1100" dirty="0"/>
          </a:p>
          <a:p>
            <a:r>
              <a:rPr lang="en-IN" sz="1100" dirty="0"/>
              <a:t>Generate SQL for a table named </a:t>
            </a:r>
            <a:r>
              <a:rPr lang="en-IN" sz="1100" dirty="0" err="1"/>
              <a:t>sales_pipeline</a:t>
            </a:r>
            <a:r>
              <a:rPr lang="en-IN" sz="1100" dirty="0"/>
              <a:t> with the same columns.</a:t>
            </a:r>
          </a:p>
          <a:p>
            <a:endParaRPr lang="en-IN" sz="1100" dirty="0"/>
          </a:p>
          <a:p>
            <a:r>
              <a:rPr lang="en-IN" sz="1100" dirty="0"/>
              <a:t>The query must:</a:t>
            </a:r>
          </a:p>
          <a:p>
            <a:pPr lvl="0"/>
            <a:r>
              <a:rPr lang="en-IN" sz="1100" dirty="0"/>
              <a:t>- Summarize pipeline value and actual revenue by Month, Region and Product.</a:t>
            </a:r>
          </a:p>
          <a:p>
            <a:pPr lvl="0"/>
            <a:r>
              <a:rPr lang="en-IN" sz="1100" dirty="0"/>
              <a:t>- Calculate the average </a:t>
            </a:r>
            <a:r>
              <a:rPr lang="en-IN" sz="1100" dirty="0" err="1"/>
              <a:t>Win_Probability</a:t>
            </a:r>
            <a:r>
              <a:rPr lang="en-IN" sz="1100" dirty="0"/>
              <a:t> and average Sales_Cycle_Days.</a:t>
            </a:r>
          </a:p>
          <a:p>
            <a:pPr lvl="0"/>
            <a:r>
              <a:rPr lang="en-IN" sz="1100" dirty="0"/>
              <a:t>- Count the number of records in each group.</a:t>
            </a:r>
          </a:p>
          <a:p>
            <a:pPr lvl="0"/>
            <a:r>
              <a:rPr lang="en-IN" sz="1100" dirty="0"/>
              <a:t>- Handle NULL values appropriately and explain the chosen approach.</a:t>
            </a:r>
          </a:p>
          <a:p>
            <a:pPr lvl="0"/>
            <a:r>
              <a:rPr lang="en-IN" sz="1100" dirty="0"/>
              <a:t>- Use clear aliases for the aggregated columns.</a:t>
            </a:r>
          </a:p>
          <a:p>
            <a:endParaRPr lang="en-IN" sz="1100" dirty="0"/>
          </a:p>
          <a:p>
            <a:r>
              <a:rPr lang="en-IN" sz="1100" dirty="0"/>
              <a:t>Constraints:</a:t>
            </a:r>
          </a:p>
          <a:p>
            <a:pPr lvl="0"/>
            <a:r>
              <a:rPr lang="en-IN" sz="1100" dirty="0"/>
              <a:t>- Do not invent columns such as </a:t>
            </a:r>
            <a:r>
              <a:rPr lang="en-IN" sz="1100" dirty="0" err="1"/>
              <a:t>Deal_Status</a:t>
            </a:r>
            <a:r>
              <a:rPr lang="en-IN" sz="1100" dirty="0"/>
              <a:t>.</a:t>
            </a:r>
          </a:p>
          <a:p>
            <a:pPr lvl="0"/>
            <a:r>
              <a:rPr lang="en-IN" sz="1100" dirty="0"/>
              <a:t>- Do not treat pipeline value as actual revenue.</a:t>
            </a:r>
          </a:p>
          <a:p>
            <a:pPr lvl="0"/>
            <a:r>
              <a:rPr lang="en-IN" sz="1100" dirty="0"/>
              <a:t>- Do not assume the representation of </a:t>
            </a:r>
            <a:r>
              <a:rPr lang="en-IN" sz="1100" dirty="0" err="1"/>
              <a:t>Win_Probability</a:t>
            </a:r>
            <a:r>
              <a:rPr lang="en-IN" sz="1100" dirty="0"/>
              <a:t> without stating the assumption.</a:t>
            </a:r>
          </a:p>
          <a:p>
            <a:pPr lvl="0"/>
            <a:r>
              <a:rPr lang="en-IN" sz="1100" dirty="0"/>
              <a:t>- Do not infer closed-won or closed-lost counts.</a:t>
            </a:r>
          </a:p>
          <a:p>
            <a:pPr lvl="0"/>
            <a:r>
              <a:rPr lang="en-IN" sz="1100" dirty="0"/>
              <a:t>- Do not invent business rules or filters.</a:t>
            </a:r>
          </a:p>
          <a:p>
            <a:endParaRPr lang="en-IN" sz="1100" dirty="0"/>
          </a:p>
          <a:p>
            <a:r>
              <a:rPr lang="en-IN" sz="1100" dirty="0"/>
              <a:t>Provide the SQL, explain each aggregation, identify assumptions, and suggest test cases to validate the results.</a:t>
            </a:r>
          </a:p>
          <a:p>
            <a:r>
              <a:rPr lang="en-IN" sz="1100" dirty="0"/>
              <a:t>State which SQL dialect you have assumed.</a:t>
            </a:r>
            <a:br>
              <a:rPr lang="en-IN" sz="1100" dirty="0"/>
            </a:br>
            <a:r>
              <a:rPr lang="en-IN" sz="1100" dirty="0"/>
              <a:t>Do not claim the query has been executed or validated unless it has.</a:t>
            </a:r>
          </a:p>
        </p:txBody>
      </p:sp>
      <p:sp>
        <p:nvSpPr>
          <p:cNvPr id="10" name="Slide Number Placeholder 9">
            <a:extLst>
              <a:ext uri="{FF2B5EF4-FFF2-40B4-BE49-F238E27FC236}">
                <a16:creationId xmlns:a16="http://schemas.microsoft.com/office/drawing/2014/main" id="{3149DBDE-20D9-A7C7-A17C-E83BA546FE4D}"/>
              </a:ext>
            </a:extLst>
          </p:cNvPr>
          <p:cNvSpPr>
            <a:spLocks noGrp="1"/>
          </p:cNvSpPr>
          <p:nvPr>
            <p:ph type="sldNum" sz="quarter" idx="12"/>
          </p:nvPr>
        </p:nvSpPr>
        <p:spPr/>
        <p:txBody>
          <a:bodyPr/>
          <a:lstStyle/>
          <a:p>
            <a:fld id="{C1FF6DA9-008F-8B48-92A6-B652298478BF}" type="slidenum">
              <a:rPr lang="en-US" smtClean="0"/>
              <a:t>26</a:t>
            </a:fld>
            <a:endParaRPr lang="en-US"/>
          </a:p>
        </p:txBody>
      </p:sp>
      <p:sp>
        <p:nvSpPr>
          <p:cNvPr id="11" name="TextBox 10">
            <a:extLst>
              <a:ext uri="{FF2B5EF4-FFF2-40B4-BE49-F238E27FC236}">
                <a16:creationId xmlns:a16="http://schemas.microsoft.com/office/drawing/2014/main" id="{B898D9F2-DBFA-997A-4850-CA929A4B7947}"/>
              </a:ext>
            </a:extLst>
          </p:cNvPr>
          <p:cNvSpPr txBox="1"/>
          <p:nvPr/>
        </p:nvSpPr>
        <p:spPr>
          <a:xfrm>
            <a:off x="3136392" y="6264640"/>
            <a:ext cx="6144768" cy="369332"/>
          </a:xfrm>
          <a:prstGeom prst="rect">
            <a:avLst/>
          </a:prstGeom>
          <a:noFill/>
        </p:spPr>
        <p:txBody>
          <a:bodyPr wrap="square">
            <a:spAutoFit/>
          </a:bodyPr>
          <a:lstStyle/>
          <a:p>
            <a:r>
              <a:rPr lang="en-IN" dirty="0"/>
              <a:t>Use the existing </a:t>
            </a:r>
            <a:r>
              <a:rPr lang="en-IN" dirty="0">
                <a:latin typeface="+mn-lt"/>
              </a:rPr>
              <a:t>sales_pipeline_300.csv</a:t>
            </a:r>
            <a:r>
              <a:rPr lang="en-IN" dirty="0"/>
              <a:t> dataset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CDFAB-14E1-E988-6F3F-FB30CDEA5D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543BA7F-2E4A-56BF-F636-AC7E2A5A0822}"/>
              </a:ext>
            </a:extLst>
          </p:cNvPr>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a:extLst>
              <a:ext uri="{FF2B5EF4-FFF2-40B4-BE49-F238E27FC236}">
                <a16:creationId xmlns:a16="http://schemas.microsoft.com/office/drawing/2014/main" id="{119DEBF9-0FC3-93F2-EFF0-7B456FE5F285}"/>
              </a:ext>
            </a:extLst>
          </p:cNvPr>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BAF357A-8704-980A-D7A2-C9A3945453F2}"/>
              </a:ext>
            </a:extLst>
          </p:cNvPr>
          <p:cNvSpPr txBox="1"/>
          <p:nvPr/>
        </p:nvSpPr>
        <p:spPr>
          <a:xfrm>
            <a:off x="621792" y="804672"/>
            <a:ext cx="10972800" cy="467820"/>
          </a:xfrm>
          <a:prstGeom prst="rect">
            <a:avLst/>
          </a:prstGeom>
          <a:noFill/>
        </p:spPr>
        <p:txBody>
          <a:bodyPr wrap="square" lIns="36576" tIns="18288" rIns="36576" bIns="18288">
            <a:spAutoFit/>
          </a:bodyPr>
          <a:lstStyle/>
          <a:p>
            <a:pPr>
              <a:spcAft>
                <a:spcPts val="0"/>
              </a:spcAft>
            </a:pPr>
            <a:r>
              <a:rPr lang="en-US" sz="2800" b="1" i="0" dirty="0">
                <a:solidFill>
                  <a:srgbClr val="162B4A"/>
                </a:solidFill>
                <a:latin typeface="Aptos Display"/>
              </a:rPr>
              <a:t>Demo 7B: </a:t>
            </a:r>
            <a:r>
              <a:rPr sz="2800" b="1" i="0" dirty="0">
                <a:solidFill>
                  <a:srgbClr val="162B4A"/>
                </a:solidFill>
                <a:latin typeface="Aptos Display"/>
              </a:rPr>
              <a:t>GitHub Copilot example: </a:t>
            </a:r>
            <a:r>
              <a:rPr lang="en-US" sz="2800" b="1" i="0" dirty="0">
                <a:solidFill>
                  <a:srgbClr val="162B4A"/>
                </a:solidFill>
                <a:latin typeface="Aptos Display"/>
              </a:rPr>
              <a:t>Data Team: SQL Challenge</a:t>
            </a:r>
            <a:endParaRPr sz="2800" b="1" i="0" dirty="0">
              <a:solidFill>
                <a:srgbClr val="162B4A"/>
              </a:solidFill>
              <a:latin typeface="Aptos Display"/>
            </a:endParaRPr>
          </a:p>
        </p:txBody>
      </p:sp>
      <p:sp>
        <p:nvSpPr>
          <p:cNvPr id="5" name="TextBox 4">
            <a:extLst>
              <a:ext uri="{FF2B5EF4-FFF2-40B4-BE49-F238E27FC236}">
                <a16:creationId xmlns:a16="http://schemas.microsoft.com/office/drawing/2014/main" id="{BA5BFA75-81F2-57F5-4A22-CFAEF9D8D78D}"/>
              </a:ext>
            </a:extLst>
          </p:cNvPr>
          <p:cNvSpPr txBox="1"/>
          <p:nvPr/>
        </p:nvSpPr>
        <p:spPr>
          <a:xfrm>
            <a:off x="640080" y="1417320"/>
            <a:ext cx="10881360" cy="313932"/>
          </a:xfrm>
          <a:prstGeom prst="rect">
            <a:avLst/>
          </a:prstGeom>
          <a:noFill/>
        </p:spPr>
        <p:txBody>
          <a:bodyPr wrap="square" lIns="36576" tIns="18288" rIns="36576" bIns="18288">
            <a:spAutoFit/>
          </a:bodyPr>
          <a:lstStyle/>
          <a:p>
            <a:r>
              <a:rPr lang="en-IN" dirty="0"/>
              <a:t>After generating the summary query, ask Copilot to challenge it:</a:t>
            </a:r>
          </a:p>
        </p:txBody>
      </p:sp>
      <p:sp>
        <p:nvSpPr>
          <p:cNvPr id="6" name="Rectangle 5">
            <a:extLst>
              <a:ext uri="{FF2B5EF4-FFF2-40B4-BE49-F238E27FC236}">
                <a16:creationId xmlns:a16="http://schemas.microsoft.com/office/drawing/2014/main" id="{4979AF2D-5A87-01D1-9BA6-6A1C31A8AB5E}"/>
              </a:ext>
            </a:extLst>
          </p:cNvPr>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55125B73-83B4-4721-D9C5-41473FA383B7}"/>
              </a:ext>
            </a:extLst>
          </p:cNvPr>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41DDE91C-F4FD-2A64-3411-CE5AFAB2952A}"/>
              </a:ext>
            </a:extLst>
          </p:cNvPr>
          <p:cNvSpPr txBox="1"/>
          <p:nvPr/>
        </p:nvSpPr>
        <p:spPr>
          <a:xfrm>
            <a:off x="896112" y="2029992"/>
            <a:ext cx="10332720" cy="3730252"/>
          </a:xfrm>
          <a:prstGeom prst="rect">
            <a:avLst/>
          </a:prstGeom>
          <a:noFill/>
        </p:spPr>
        <p:txBody>
          <a:bodyPr wrap="square" lIns="36576" tIns="18288" rIns="36576" bIns="18288">
            <a:spAutoFit/>
          </a:bodyPr>
          <a:lstStyle/>
          <a:p>
            <a:r>
              <a:rPr lang="en-IN" sz="1600" dirty="0"/>
              <a:t>Review the SQL query you generated.</a:t>
            </a:r>
          </a:p>
          <a:p>
            <a:endParaRPr lang="en-IN" sz="1600" dirty="0"/>
          </a:p>
          <a:p>
            <a:r>
              <a:rPr lang="en-IN" sz="1600" dirty="0"/>
              <a:t>Check for:</a:t>
            </a:r>
          </a:p>
          <a:p>
            <a:pPr lvl="0"/>
            <a:r>
              <a:rPr lang="en-IN" sz="1600" dirty="0"/>
              <a:t>- Incorrect aggregation or grouping</a:t>
            </a:r>
          </a:p>
          <a:p>
            <a:pPr lvl="0"/>
            <a:r>
              <a:rPr lang="en-IN" sz="1600" dirty="0"/>
              <a:t>- NULL handling</a:t>
            </a:r>
          </a:p>
          <a:p>
            <a:pPr lvl="0"/>
            <a:r>
              <a:rPr lang="en-IN" sz="1600" dirty="0"/>
              <a:t>- Duplicate records affecting totals</a:t>
            </a:r>
          </a:p>
          <a:p>
            <a:pPr lvl="0"/>
            <a:r>
              <a:rPr lang="en-IN" sz="1600" dirty="0"/>
              <a:t>- Incorrect interpretation of </a:t>
            </a:r>
            <a:r>
              <a:rPr lang="en-IN" sz="1600" dirty="0" err="1"/>
              <a:t>Win_Probability</a:t>
            </a:r>
            <a:endParaRPr lang="en-IN" sz="1600" dirty="0"/>
          </a:p>
          <a:p>
            <a:pPr lvl="0"/>
            <a:r>
              <a:rPr lang="en-IN" sz="1600" dirty="0"/>
              <a:t>- Confusion between </a:t>
            </a:r>
            <a:r>
              <a:rPr lang="en-IN" sz="1600" dirty="0" err="1"/>
              <a:t>Pipeline_Value_INR</a:t>
            </a:r>
            <a:r>
              <a:rPr lang="en-IN" sz="1600" dirty="0"/>
              <a:t> and </a:t>
            </a:r>
            <a:r>
              <a:rPr lang="en-IN" sz="1600" dirty="0" err="1"/>
              <a:t>Actual_Revenue_INR</a:t>
            </a:r>
            <a:endParaRPr lang="en-IN" sz="1600" dirty="0"/>
          </a:p>
          <a:p>
            <a:pPr lvl="0"/>
            <a:r>
              <a:rPr lang="en-IN" sz="1600" dirty="0"/>
              <a:t>- Unsupported assumptions or invented business rules</a:t>
            </a:r>
          </a:p>
          <a:p>
            <a:endParaRPr lang="en-IN" sz="1600" dirty="0"/>
          </a:p>
          <a:p>
            <a:r>
              <a:rPr lang="en-IN" sz="1600" dirty="0"/>
              <a:t>For each issue, explain the risk and propose a correction.</a:t>
            </a:r>
            <a:br>
              <a:rPr lang="en-IN" sz="1600" dirty="0"/>
            </a:br>
            <a:endParaRPr lang="en-IN" sz="1600" dirty="0"/>
          </a:p>
          <a:p>
            <a:r>
              <a:rPr lang="en-IN" sz="1600" dirty="0"/>
              <a:t>Then provide test cases that would reveal the issue.</a:t>
            </a:r>
          </a:p>
          <a:p>
            <a:endParaRPr lang="en-IN" sz="1600" dirty="0"/>
          </a:p>
          <a:p>
            <a:r>
              <a:rPr lang="en-IN" sz="1600" dirty="0"/>
              <a:t>Do not claim the query is correct merely because it is syntactically valid.</a:t>
            </a:r>
            <a:endParaRPr lang="en-IN" sz="1100" dirty="0"/>
          </a:p>
        </p:txBody>
      </p:sp>
      <p:sp>
        <p:nvSpPr>
          <p:cNvPr id="10" name="Slide Number Placeholder 9">
            <a:extLst>
              <a:ext uri="{FF2B5EF4-FFF2-40B4-BE49-F238E27FC236}">
                <a16:creationId xmlns:a16="http://schemas.microsoft.com/office/drawing/2014/main" id="{E09428A3-8106-91F9-017A-5A8A326F3666}"/>
              </a:ext>
            </a:extLst>
          </p:cNvPr>
          <p:cNvSpPr>
            <a:spLocks noGrp="1"/>
          </p:cNvSpPr>
          <p:nvPr>
            <p:ph type="sldNum" sz="quarter" idx="12"/>
          </p:nvPr>
        </p:nvSpPr>
        <p:spPr/>
        <p:txBody>
          <a:bodyPr/>
          <a:lstStyle/>
          <a:p>
            <a:fld id="{C1FF6DA9-008F-8B48-92A6-B652298478BF}" type="slidenum">
              <a:rPr lang="en-US" smtClean="0"/>
              <a:t>27</a:t>
            </a:fld>
            <a:endParaRPr lang="en-US"/>
          </a:p>
        </p:txBody>
      </p:sp>
    </p:spTree>
    <p:extLst>
      <p:ext uri="{BB962C8B-B14F-4D97-AF65-F5344CB8AC3E}">
        <p14:creationId xmlns:p14="http://schemas.microsoft.com/office/powerpoint/2010/main" val="3580697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467820"/>
          </a:xfrm>
          <a:prstGeom prst="rect">
            <a:avLst/>
          </a:prstGeom>
          <a:noFill/>
        </p:spPr>
        <p:txBody>
          <a:bodyPr wrap="square" lIns="36576" tIns="18288" rIns="36576" bIns="18288">
            <a:spAutoFit/>
          </a:bodyPr>
          <a:lstStyle/>
          <a:p>
            <a:pPr>
              <a:spcAft>
                <a:spcPts val="0"/>
              </a:spcAft>
            </a:pPr>
            <a:r>
              <a:rPr lang="en-US" sz="2800" b="1" i="0" dirty="0">
                <a:solidFill>
                  <a:srgbClr val="162B4A"/>
                </a:solidFill>
                <a:latin typeface="Aptos Display"/>
              </a:rPr>
              <a:t>Demo 8: </a:t>
            </a:r>
            <a:r>
              <a:rPr sz="2800" b="1" i="0" dirty="0">
                <a:solidFill>
                  <a:srgbClr val="162B4A"/>
                </a:solidFill>
                <a:latin typeface="Aptos Display"/>
              </a:rPr>
              <a:t>GitHub Copilot example: Enterprise Operations</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Generate repeatable ticket and SLA metrics with tested business rules.</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221992"/>
            <a:ext cx="10332720" cy="3749039"/>
          </a:xfrm>
          <a:prstGeom prst="rect">
            <a:avLst/>
          </a:prstGeom>
          <a:noFill/>
        </p:spPr>
        <p:txBody>
          <a:bodyPr wrap="square" lIns="36576" tIns="18288" rIns="36576" bIns="18288">
            <a:spAutoFit/>
          </a:bodyPr>
          <a:lstStyle/>
          <a:p>
            <a:pPr>
              <a:spcAft>
                <a:spcPts val="0"/>
              </a:spcAft>
            </a:pPr>
            <a:r>
              <a:rPr sz="1100" b="0" i="0">
                <a:solidFill>
                  <a:srgbClr val="2D3744"/>
                </a:solidFill>
                <a:latin typeface="Consolas"/>
              </a:rPr>
              <a:t>Create a Python 3.13 script that reads an operational ticket CSV
and calculates ticket volumes and SLA performance.
Requirements:
1. Accept the CSV path as a command-line argument.
2. Validate that required columns exist.
3. Summarize ticket counts by severity and category.
4. Calculate SLA-breach counts and rates where fields support it.
5. Define the denominator for each rate.
6. Handle missing SLA values explicitly; do not treat them as successes.
7. Report invalid or inconsistent records separately.
8. Do not modify the input file.
9. Produce a readable summary.
Generate tests for a normal ticket, a ticket exactly at the SLA
boundary, a breached ticket, a missing SLA value, an invalid severity,
and an empty dataset.
Explain the business rules. Do not invent SLA definitions.
If a definition is missing, identify it as a requirement to resolve.
Provide code, tests, and execution instructions.</a:t>
            </a:r>
          </a:p>
        </p:txBody>
      </p:sp>
      <p:sp>
        <p:nvSpPr>
          <p:cNvPr id="10" name="Slide Number Placeholder 9">
            <a:extLst>
              <a:ext uri="{FF2B5EF4-FFF2-40B4-BE49-F238E27FC236}">
                <a16:creationId xmlns:a16="http://schemas.microsoft.com/office/drawing/2014/main" id="{99FDB472-890C-FB45-6729-2734196DA38A}"/>
              </a:ext>
            </a:extLst>
          </p:cNvPr>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Common analytical anti-patterns</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4251960"/>
          </a:xfrm>
          <a:prstGeom prst="rect">
            <a:avLst/>
          </a:prstGeom>
          <a:noFill/>
        </p:spPr>
        <p:txBody>
          <a:bodyPr wrap="square" lIns="45720" tIns="18288" rIns="36576" bIns="18288">
            <a:spAutoFit/>
          </a:bodyPr>
          <a:lstStyle/>
          <a:p>
            <a:pPr>
              <a:spcAft>
                <a:spcPts val="900"/>
              </a:spcAft>
              <a:defRPr sz="1500">
                <a:solidFill>
                  <a:srgbClr val="2D3744"/>
                </a:solidFill>
                <a:latin typeface="Aptos"/>
              </a:defRPr>
            </a:pPr>
            <a:r>
              <a:t>Asking AI for insights without defining the business question.</a:t>
            </a:r>
          </a:p>
          <a:p>
            <a:pPr>
              <a:spcAft>
                <a:spcPts val="900"/>
              </a:spcAft>
              <a:defRPr sz="1500">
                <a:solidFill>
                  <a:srgbClr val="2D3744"/>
                </a:solidFill>
                <a:latin typeface="Aptos"/>
              </a:defRPr>
            </a:pPr>
            <a:r>
              <a:t>Accepting percentages without checking denominators.</a:t>
            </a:r>
          </a:p>
          <a:p>
            <a:pPr>
              <a:spcAft>
                <a:spcPts val="900"/>
              </a:spcAft>
              <a:defRPr sz="1500">
                <a:solidFill>
                  <a:srgbClr val="2D3744"/>
                </a:solidFill>
                <a:latin typeface="Aptos"/>
              </a:defRPr>
            </a:pPr>
            <a:r>
              <a:t>Treating pipeline value as realized revenue.</a:t>
            </a:r>
          </a:p>
          <a:p>
            <a:pPr>
              <a:spcAft>
                <a:spcPts val="900"/>
              </a:spcAft>
              <a:defRPr sz="1500">
                <a:solidFill>
                  <a:srgbClr val="2D3744"/>
                </a:solidFill>
                <a:latin typeface="Aptos"/>
              </a:defRPr>
            </a:pPr>
            <a:r>
              <a:t>Treating correlation as causation.</a:t>
            </a:r>
          </a:p>
          <a:p>
            <a:pPr>
              <a:spcAft>
                <a:spcPts val="900"/>
              </a:spcAft>
              <a:defRPr sz="1500">
                <a:solidFill>
                  <a:srgbClr val="2D3744"/>
                </a:solidFill>
                <a:latin typeface="Aptos"/>
              </a:defRPr>
            </a:pPr>
            <a:r>
              <a:t>Ranking teams without checking whether they handle comparable workloads.</a:t>
            </a:r>
          </a:p>
          <a:p>
            <a:pPr>
              <a:spcAft>
                <a:spcPts val="900"/>
              </a:spcAft>
              <a:defRPr sz="1500">
                <a:solidFill>
                  <a:srgbClr val="2D3744"/>
                </a:solidFill>
                <a:latin typeface="Aptos"/>
              </a:defRPr>
            </a:pPr>
            <a:r>
              <a:t>Using averages without examining distributions.</a:t>
            </a:r>
          </a:p>
          <a:p>
            <a:pPr>
              <a:spcAft>
                <a:spcPts val="900"/>
              </a:spcAft>
              <a:defRPr sz="1500">
                <a:solidFill>
                  <a:srgbClr val="2D3744"/>
                </a:solidFill>
                <a:latin typeface="Aptos"/>
              </a:defRPr>
            </a:pPr>
            <a:r>
              <a:t>Making recommendations without identifying uncertainty.</a:t>
            </a:r>
          </a:p>
          <a:p>
            <a:pPr>
              <a:spcAft>
                <a:spcPts val="900"/>
              </a:spcAft>
              <a:defRPr sz="1500">
                <a:solidFill>
                  <a:srgbClr val="2D3744"/>
                </a:solidFill>
                <a:latin typeface="Aptos"/>
              </a:defRPr>
            </a:pPr>
            <a:r>
              <a:t>Generating analytical code without reviewing and testing it.</a:t>
            </a:r>
          </a:p>
        </p:txBody>
      </p:sp>
      <p:sp>
        <p:nvSpPr>
          <p:cNvPr id="7" name="Slide Number Placeholder 6">
            <a:extLst>
              <a:ext uri="{FF2B5EF4-FFF2-40B4-BE49-F238E27FC236}">
                <a16:creationId xmlns:a16="http://schemas.microsoft.com/office/drawing/2014/main" id="{568618C4-8338-AC40-5D5F-AF277C85D424}"/>
              </a:ext>
            </a:extLst>
          </p:cNvPr>
          <p:cNvSpPr>
            <a:spLocks noGrp="1"/>
          </p:cNvSpPr>
          <p:nvPr>
            <p:ph type="sldNum" sz="quarter" idx="12"/>
          </p:nvPr>
        </p:nvSpPr>
        <p:spPr/>
        <p:txBody>
          <a:bodyPr/>
          <a:lstStyle/>
          <a:p>
            <a:fld id="{C1FF6DA9-008F-8B48-92A6-B652298478BF}"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Reusable analytical prompt template</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Copy and adapt this template for future business analysis.</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1912031"/>
            <a:ext cx="10332720" cy="4053417"/>
          </a:xfrm>
          <a:prstGeom prst="rect">
            <a:avLst/>
          </a:prstGeom>
          <a:noFill/>
        </p:spPr>
        <p:txBody>
          <a:bodyPr wrap="square" lIns="36576" tIns="18288" rIns="36576" bIns="18288">
            <a:spAutoFit/>
          </a:bodyPr>
          <a:lstStyle/>
          <a:p>
            <a:pPr>
              <a:spcAft>
                <a:spcPts val="0"/>
              </a:spcAft>
            </a:pPr>
            <a:r>
              <a:rPr sz="900" b="0" i="0" dirty="0">
                <a:solidFill>
                  <a:srgbClr val="2D3744"/>
                </a:solidFill>
                <a:latin typeface="Consolas"/>
              </a:rPr>
              <a:t>Act as a [business/data/operations] analyst.
BUSINESS QUESTION</a:t>
            </a:r>
            <a:r>
              <a:rPr lang="en-US" sz="900" b="0" i="0" dirty="0">
                <a:solidFill>
                  <a:srgbClr val="2D3744"/>
                </a:solidFill>
                <a:latin typeface="Consolas"/>
              </a:rPr>
              <a:t> </a:t>
            </a:r>
            <a:r>
              <a:rPr sz="900" b="0" i="0" dirty="0">
                <a:solidFill>
                  <a:srgbClr val="2D3744"/>
                </a:solidFill>
                <a:latin typeface="Consolas"/>
              </a:rPr>
              <a:t>[State the business problem or decision.]
DATASET[Identify the file, relevant fields, reporting period, and definitions.]
ANALYSIS
1. Inspect the data and definitions.
2. Establish baseline metrics.
3. Compare relevant groups.
4. Identify meaningful patterns and anomalies.
5. Distinguish observations, hypotheses, and recommendations.
6. Identify limitations and missing information.
FOR EACH IMPORTANT FINDING, PROVIDE
- Metric and calculation method
- Numerator and denominator where relevant
- Supporting evidence
- Business interpretation
- Confidence and limitations
- Follow-up validation
CONSTRAINTS
Do not invent missing information. Do not infer causation from</a:t>
            </a:r>
            <a:r>
              <a:rPr lang="en-US" sz="900" b="0" i="0" dirty="0">
                <a:solidFill>
                  <a:srgbClr val="2D3744"/>
                </a:solidFill>
                <a:latin typeface="Consolas"/>
              </a:rPr>
              <a:t> </a:t>
            </a:r>
            <a:r>
              <a:rPr sz="900" b="0" i="0" dirty="0">
                <a:solidFill>
                  <a:srgbClr val="2D3744"/>
                </a:solidFill>
                <a:latin typeface="Consolas"/>
              </a:rPr>
              <a:t>correlation. Do not confuse potential value with realized outcomes.
State when the data cannot answer the question.
OUTPUT
Produce an evidence-based report with prioritized insights, risks,</a:t>
            </a:r>
            <a:r>
              <a:rPr lang="en-US" sz="900" b="0" i="0" dirty="0">
                <a:solidFill>
                  <a:srgbClr val="2D3744"/>
                </a:solidFill>
                <a:latin typeface="Consolas"/>
              </a:rPr>
              <a:t> </a:t>
            </a:r>
            <a:r>
              <a:rPr sz="900" b="0" i="0" dirty="0">
                <a:solidFill>
                  <a:srgbClr val="2D3744"/>
                </a:solidFill>
                <a:latin typeface="Consolas"/>
              </a:rPr>
              <a:t>opportunities, and recommended next steps.
Before finalizing, challenge the calculations and identify</a:t>
            </a:r>
            <a:r>
              <a:rPr lang="en-US" sz="900" b="0" i="0" dirty="0">
                <a:solidFill>
                  <a:srgbClr val="2D3744"/>
                </a:solidFill>
                <a:latin typeface="Consolas"/>
              </a:rPr>
              <a:t> </a:t>
            </a:r>
            <a:r>
              <a:rPr sz="900" b="0" i="0" dirty="0">
                <a:solidFill>
                  <a:srgbClr val="2D3744"/>
                </a:solidFill>
                <a:latin typeface="Consolas"/>
              </a:rPr>
              <a:t>conclusions that may be overstated.</a:t>
            </a:r>
          </a:p>
        </p:txBody>
      </p:sp>
      <p:sp>
        <p:nvSpPr>
          <p:cNvPr id="10" name="Slide Number Placeholder 9">
            <a:extLst>
              <a:ext uri="{FF2B5EF4-FFF2-40B4-BE49-F238E27FC236}">
                <a16:creationId xmlns:a16="http://schemas.microsoft.com/office/drawing/2014/main" id="{4A09979E-8A3B-0EA3-B6F5-ABF82D727E65}"/>
              </a:ext>
            </a:extLst>
          </p:cNvPr>
          <p:cNvSpPr>
            <a:spLocks noGrp="1"/>
          </p:cNvSpPr>
          <p:nvPr>
            <p:ph type="sldNum" sz="quarter" idx="12"/>
          </p:nvPr>
        </p:nvSpPr>
        <p:spPr/>
        <p:txBody>
          <a:bodyPr/>
          <a:lstStyle/>
          <a:p>
            <a:fld id="{C1FF6DA9-008F-8B48-92A6-B652298478BF}"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4653E-AD3C-B8B8-4B2E-B294A4F057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0E28227-5817-FC77-089F-0A3802213F02}"/>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0EECEAC-2722-1526-1C02-D70B1A6AB3FC}"/>
              </a:ext>
            </a:extLst>
          </p:cNvPr>
          <p:cNvSpPr txBox="1"/>
          <p:nvPr/>
        </p:nvSpPr>
        <p:spPr>
          <a:xfrm>
            <a:off x="594360" y="658368"/>
            <a:ext cx="4968411" cy="523220"/>
          </a:xfrm>
          <a:prstGeom prst="rect">
            <a:avLst/>
          </a:prstGeom>
          <a:noFill/>
        </p:spPr>
        <p:txBody>
          <a:bodyPr wrap="none">
            <a:spAutoFit/>
          </a:bodyPr>
          <a:lstStyle/>
          <a:p>
            <a:pPr>
              <a:defRPr sz="2800" b="1">
                <a:solidFill>
                  <a:srgbClr val="10233E"/>
                </a:solidFill>
                <a:latin typeface="Aptos Display"/>
              </a:defRPr>
            </a:pPr>
            <a:r>
              <a:rPr lang="en-US" dirty="0"/>
              <a:t>Recap </a:t>
            </a:r>
            <a:r>
              <a:rPr dirty="0"/>
              <a:t>Today's Learning Journey</a:t>
            </a:r>
          </a:p>
        </p:txBody>
      </p:sp>
      <p:sp>
        <p:nvSpPr>
          <p:cNvPr id="4" name="TextBox 3">
            <a:extLst>
              <a:ext uri="{FF2B5EF4-FFF2-40B4-BE49-F238E27FC236}">
                <a16:creationId xmlns:a16="http://schemas.microsoft.com/office/drawing/2014/main" id="{6A606987-9B70-0DED-7182-BCACC816F104}"/>
              </a:ext>
            </a:extLst>
          </p:cNvPr>
          <p:cNvSpPr txBox="1"/>
          <p:nvPr/>
        </p:nvSpPr>
        <p:spPr>
          <a:xfrm>
            <a:off x="621792" y="1307592"/>
            <a:ext cx="10058010" cy="2308324"/>
          </a:xfrm>
          <a:prstGeom prst="rect">
            <a:avLst/>
          </a:prstGeom>
          <a:noFill/>
        </p:spPr>
        <p:txBody>
          <a:bodyPr wrap="none">
            <a:spAutoFit/>
          </a:bodyPr>
          <a:lstStyle/>
          <a:p>
            <a:pPr marL="285750" lvl="0" indent="-285750">
              <a:buFont typeface="Arial" panose="020B0604020202020204" pitchFamily="34" charset="0"/>
              <a:buChar char="•"/>
            </a:pPr>
            <a:r>
              <a:rPr lang="en-IN" dirty="0">
                <a:latin typeface="Aptos" panose="020B0004020202020204" pitchFamily="34" charset="0"/>
              </a:rPr>
              <a:t>Ask AI useful analytical questions rather than simply request a summary.</a:t>
            </a:r>
          </a:p>
          <a:p>
            <a:pPr marL="285750" lvl="0" indent="-285750">
              <a:buFont typeface="Arial" panose="020B0604020202020204" pitchFamily="34" charset="0"/>
              <a:buChar char="•"/>
            </a:pPr>
            <a:r>
              <a:rPr lang="en-IN" dirty="0">
                <a:latin typeface="Aptos" panose="020B0004020202020204" pitchFamily="34" charset="0"/>
              </a:rPr>
              <a:t>Explore a dataset using business dimensions such as region, product, segment, status, and time.</a:t>
            </a:r>
          </a:p>
          <a:p>
            <a:pPr marL="285750" lvl="0" indent="-285750">
              <a:buFont typeface="Arial" panose="020B0604020202020204" pitchFamily="34" charset="0"/>
              <a:buChar char="•"/>
            </a:pPr>
            <a:r>
              <a:rPr lang="en-IN" dirty="0">
                <a:latin typeface="Aptos" panose="020B0004020202020204" pitchFamily="34" charset="0"/>
              </a:rPr>
              <a:t>Distinguish descriptive statistics from actionable insights.</a:t>
            </a:r>
          </a:p>
          <a:p>
            <a:pPr marL="285750" lvl="0" indent="-285750">
              <a:buFont typeface="Arial" panose="020B0604020202020204" pitchFamily="34" charset="0"/>
              <a:buChar char="•"/>
            </a:pPr>
            <a:r>
              <a:rPr lang="en-IN" dirty="0">
                <a:latin typeface="Aptos" panose="020B0004020202020204" pitchFamily="34" charset="0"/>
              </a:rPr>
              <a:t>Identify outliers, anomalies, potential risks, and opportunities.</a:t>
            </a:r>
          </a:p>
          <a:p>
            <a:pPr marL="285750" lvl="0" indent="-285750">
              <a:buFont typeface="Arial" panose="020B0604020202020204" pitchFamily="34" charset="0"/>
              <a:buChar char="•"/>
            </a:pPr>
            <a:r>
              <a:rPr lang="en-IN" dirty="0">
                <a:latin typeface="Aptos" panose="020B0004020202020204" pitchFamily="34" charset="0"/>
              </a:rPr>
              <a:t>Validate AI-generated calculations and question unsupported conclusions.</a:t>
            </a:r>
          </a:p>
          <a:p>
            <a:pPr marL="285750" lvl="0" indent="-285750">
              <a:buFont typeface="Arial" panose="020B0604020202020204" pitchFamily="34" charset="0"/>
              <a:buChar char="•"/>
            </a:pPr>
            <a:r>
              <a:rPr lang="en-IN" dirty="0">
                <a:latin typeface="Aptos" panose="020B0004020202020204" pitchFamily="34" charset="0"/>
              </a:rPr>
              <a:t>Recognize data-quality limitations, missing context, and misleading comparisons.</a:t>
            </a:r>
          </a:p>
          <a:p>
            <a:pPr marL="285750" lvl="0" indent="-285750">
              <a:buFont typeface="Arial" panose="020B0604020202020204" pitchFamily="34" charset="0"/>
              <a:buChar char="•"/>
            </a:pPr>
            <a:r>
              <a:rPr lang="en-IN" dirty="0">
                <a:latin typeface="Aptos" panose="020B0004020202020204" pitchFamily="34" charset="0"/>
              </a:rPr>
              <a:t>Translate validated analysis into recommendations and follow-up questions.</a:t>
            </a:r>
          </a:p>
          <a:p>
            <a:pPr marL="285750" lvl="0" indent="-285750">
              <a:buFont typeface="Arial" panose="020B0604020202020204" pitchFamily="34" charset="0"/>
              <a:buChar char="•"/>
            </a:pPr>
            <a:r>
              <a:rPr lang="en-IN" dirty="0">
                <a:latin typeface="Aptos" panose="020B0004020202020204" pitchFamily="34" charset="0"/>
              </a:rPr>
              <a:t>Use GitHub Copilot to generate and review repeatable analytical code when appropriate.</a:t>
            </a:r>
          </a:p>
        </p:txBody>
      </p:sp>
      <p:sp>
        <p:nvSpPr>
          <p:cNvPr id="5" name="Rectangle 4">
            <a:extLst>
              <a:ext uri="{FF2B5EF4-FFF2-40B4-BE49-F238E27FC236}">
                <a16:creationId xmlns:a16="http://schemas.microsoft.com/office/drawing/2014/main" id="{6FF168A3-CC92-6A61-1A44-4E24A0B99139}"/>
              </a:ext>
            </a:extLst>
          </p:cNvPr>
          <p:cNvSpPr/>
          <p:nvPr/>
        </p:nvSpPr>
        <p:spPr>
          <a:xfrm>
            <a:off x="594360" y="6510528"/>
            <a:ext cx="10972800" cy="16459"/>
          </a:xfrm>
          <a:prstGeom prst="rect">
            <a:avLst/>
          </a:prstGeom>
          <a:solidFill>
            <a:srgbClr val="E0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14071A7-319F-C6CC-751F-3C4BF141232B}"/>
              </a:ext>
            </a:extLst>
          </p:cNvPr>
          <p:cNvSpPr txBox="1"/>
          <p:nvPr/>
        </p:nvSpPr>
        <p:spPr>
          <a:xfrm>
            <a:off x="621792" y="6547104"/>
            <a:ext cx="3657600" cy="164592"/>
          </a:xfrm>
          <a:prstGeom prst="rect">
            <a:avLst/>
          </a:prstGeom>
          <a:noFill/>
        </p:spPr>
        <p:txBody>
          <a:bodyPr wrap="none">
            <a:spAutoFit/>
          </a:bodyPr>
          <a:lstStyle/>
          <a:p>
            <a:pPr>
              <a:defRPr sz="750">
                <a:solidFill>
                  <a:srgbClr val="82919E"/>
                </a:solidFill>
                <a:latin typeface="Aptos"/>
              </a:defRPr>
            </a:pPr>
            <a:r>
              <a:t>WINTRUST  |  GenAI &amp; Technology Fluency</a:t>
            </a:r>
          </a:p>
        </p:txBody>
      </p:sp>
      <p:sp>
        <p:nvSpPr>
          <p:cNvPr id="27" name="Slide Number Placeholder 26">
            <a:extLst>
              <a:ext uri="{FF2B5EF4-FFF2-40B4-BE49-F238E27FC236}">
                <a16:creationId xmlns:a16="http://schemas.microsoft.com/office/drawing/2014/main" id="{8679CC93-8BFA-C335-58DA-649310C73DDE}"/>
              </a:ext>
            </a:extLst>
          </p:cNvPr>
          <p:cNvSpPr>
            <a:spLocks noGrp="1"/>
          </p:cNvSpPr>
          <p:nvPr>
            <p:ph type="sldNum" sz="quarter" idx="12"/>
          </p:nvPr>
        </p:nvSpPr>
        <p:spPr/>
        <p:txBody>
          <a:bodyPr/>
          <a:lstStyle/>
          <a:p>
            <a:fld id="{C1FF6DA9-008F-8B48-92A6-B652298478BF}" type="slidenum">
              <a:rPr lang="en-US" smtClean="0"/>
              <a:t>31</a:t>
            </a:fld>
            <a:endParaRPr lang="en-US"/>
          </a:p>
        </p:txBody>
      </p:sp>
    </p:spTree>
    <p:extLst>
      <p:ext uri="{BB962C8B-B14F-4D97-AF65-F5344CB8AC3E}">
        <p14:creationId xmlns:p14="http://schemas.microsoft.com/office/powerpoint/2010/main" val="454479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Hands-on challenge: From pipeline data to a decision</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3499420"/>
          </a:xfrm>
          <a:prstGeom prst="rect">
            <a:avLst/>
          </a:prstGeom>
          <a:noFill/>
        </p:spPr>
        <p:txBody>
          <a:bodyPr wrap="square" lIns="45720" tIns="18288" rIns="36576" bIns="18288">
            <a:spAutoFit/>
          </a:bodyPr>
          <a:lstStyle/>
          <a:p>
            <a:pPr>
              <a:spcAft>
                <a:spcPts val="900"/>
              </a:spcAft>
              <a:defRPr sz="1500">
                <a:solidFill>
                  <a:srgbClr val="2D3744"/>
                </a:solidFill>
                <a:latin typeface="Aptos"/>
              </a:defRPr>
            </a:pPr>
            <a:r>
              <a:rPr b="1" dirty="0"/>
              <a:t>Scenario</a:t>
            </a:r>
            <a:r>
              <a:rPr dirty="0"/>
              <a:t>: </a:t>
            </a:r>
            <a:endParaRPr lang="en-US" dirty="0"/>
          </a:p>
          <a:p>
            <a:pPr>
              <a:spcAft>
                <a:spcPts val="900"/>
              </a:spcAft>
              <a:defRPr sz="1500">
                <a:solidFill>
                  <a:srgbClr val="2D3744"/>
                </a:solidFill>
                <a:latin typeface="Aptos"/>
              </a:defRPr>
            </a:pPr>
            <a:r>
              <a:rPr dirty="0"/>
              <a:t>Support a </a:t>
            </a:r>
            <a:r>
              <a:rPr dirty="0" err="1"/>
              <a:t>WinTrust</a:t>
            </a:r>
            <a:r>
              <a:rPr dirty="0"/>
              <a:t> business leader who wants to understand the current sales pipeline and where management attention may be required.</a:t>
            </a:r>
          </a:p>
          <a:p>
            <a:pPr>
              <a:spcAft>
                <a:spcPts val="900"/>
              </a:spcAft>
              <a:defRPr sz="1500">
                <a:solidFill>
                  <a:srgbClr val="2D3744"/>
                </a:solidFill>
                <a:latin typeface="Aptos"/>
              </a:defRPr>
            </a:pPr>
            <a:r>
              <a:rPr dirty="0"/>
              <a:t>Use </a:t>
            </a:r>
            <a:r>
              <a:rPr b="1" dirty="0"/>
              <a:t>sales_pipeline_300.csv</a:t>
            </a:r>
            <a:r>
              <a:rPr dirty="0"/>
              <a:t> to produce a concise, evidence-based recommendation.</a:t>
            </a:r>
          </a:p>
          <a:p>
            <a:pPr>
              <a:spcAft>
                <a:spcPts val="900"/>
              </a:spcAft>
              <a:defRPr sz="1500">
                <a:solidFill>
                  <a:srgbClr val="2D3744"/>
                </a:solidFill>
                <a:latin typeface="Aptos"/>
              </a:defRPr>
            </a:pPr>
            <a:r>
              <a:rPr lang="en-US" b="1" dirty="0"/>
              <a:t>Tasks</a:t>
            </a:r>
            <a:r>
              <a:rPr lang="en-US" dirty="0"/>
              <a:t>:</a:t>
            </a:r>
          </a:p>
          <a:p>
            <a:pPr marL="285750" lvl="0" indent="-285750">
              <a:buFont typeface="Arial" panose="020B0604020202020204" pitchFamily="34" charset="0"/>
              <a:buChar char="•"/>
            </a:pPr>
            <a:r>
              <a:rPr lang="en-IN" sz="1500" dirty="0">
                <a:latin typeface="Aptos" panose="020B0004020202020204" pitchFamily="34" charset="0"/>
              </a:rPr>
              <a:t>Inspect the dataset and establish baseline metrics.</a:t>
            </a:r>
          </a:p>
          <a:p>
            <a:pPr marL="285750" lvl="0" indent="-285750">
              <a:buFont typeface="Arial" panose="020B0604020202020204" pitchFamily="34" charset="0"/>
              <a:buChar char="•"/>
            </a:pPr>
            <a:r>
              <a:rPr lang="en-IN" sz="1500" dirty="0" err="1">
                <a:latin typeface="Aptos" panose="020B0004020202020204" pitchFamily="34" charset="0"/>
              </a:rPr>
              <a:t>Analyze</a:t>
            </a:r>
            <a:r>
              <a:rPr lang="en-IN" sz="1500" dirty="0">
                <a:latin typeface="Aptos" panose="020B0004020202020204" pitchFamily="34" charset="0"/>
              </a:rPr>
              <a:t> relevant differences across regions, products, customer segments, and deal outcomes.</a:t>
            </a:r>
          </a:p>
          <a:p>
            <a:pPr marL="285750" lvl="0" indent="-285750">
              <a:buFont typeface="Arial" panose="020B0604020202020204" pitchFamily="34" charset="0"/>
              <a:buChar char="•"/>
            </a:pPr>
            <a:r>
              <a:rPr lang="en-IN" sz="1500" dirty="0">
                <a:latin typeface="Aptos" panose="020B0004020202020204" pitchFamily="34" charset="0"/>
              </a:rPr>
              <a:t>Identify three meaningful insights.</a:t>
            </a:r>
          </a:p>
          <a:p>
            <a:pPr marL="285750" lvl="0" indent="-285750">
              <a:buFont typeface="Arial" panose="020B0604020202020204" pitchFamily="34" charset="0"/>
              <a:buChar char="•"/>
            </a:pPr>
            <a:r>
              <a:rPr lang="en-IN" sz="1500" dirty="0">
                <a:latin typeface="Aptos" panose="020B0004020202020204" pitchFamily="34" charset="0"/>
              </a:rPr>
              <a:t>Identify two potential risks.</a:t>
            </a:r>
          </a:p>
          <a:p>
            <a:pPr marL="285750" lvl="0" indent="-285750">
              <a:buFont typeface="Arial" panose="020B0604020202020204" pitchFamily="34" charset="0"/>
              <a:buChar char="•"/>
            </a:pPr>
            <a:r>
              <a:rPr lang="en-IN" sz="1500" dirty="0">
                <a:latin typeface="Aptos" panose="020B0004020202020204" pitchFamily="34" charset="0"/>
              </a:rPr>
              <a:t>Identify two potential opportunities.</a:t>
            </a:r>
          </a:p>
          <a:p>
            <a:pPr marL="285750" lvl="0" indent="-285750">
              <a:buFont typeface="Arial" panose="020B0604020202020204" pitchFamily="34" charset="0"/>
              <a:buChar char="•"/>
            </a:pPr>
            <a:r>
              <a:rPr lang="en-IN" sz="1500" dirty="0">
                <a:latin typeface="Aptos" panose="020B0004020202020204" pitchFamily="34" charset="0"/>
              </a:rPr>
              <a:t>Challenge at least two findings.</a:t>
            </a:r>
          </a:p>
          <a:p>
            <a:pPr marL="285750" lvl="0" indent="-285750">
              <a:buFont typeface="Arial" panose="020B0604020202020204" pitchFamily="34" charset="0"/>
              <a:buChar char="•"/>
            </a:pPr>
            <a:r>
              <a:rPr lang="en-IN" sz="1500" dirty="0">
                <a:latin typeface="Aptos" panose="020B0004020202020204" pitchFamily="34" charset="0"/>
              </a:rPr>
              <a:t>Prepare one executive recommendation.</a:t>
            </a:r>
          </a:p>
          <a:p>
            <a:pPr marL="285750" lvl="0" indent="-285750">
              <a:buFont typeface="Arial" panose="020B0604020202020204" pitchFamily="34" charset="0"/>
              <a:buChar char="•"/>
            </a:pPr>
            <a:r>
              <a:rPr lang="en-IN" sz="1500" dirty="0">
                <a:latin typeface="Aptos" panose="020B0004020202020204" pitchFamily="34" charset="0"/>
              </a:rPr>
              <a:t>Identify five follow-up questions.</a:t>
            </a:r>
          </a:p>
        </p:txBody>
      </p:sp>
      <p:sp>
        <p:nvSpPr>
          <p:cNvPr id="9" name="Slide Number Placeholder 8">
            <a:extLst>
              <a:ext uri="{FF2B5EF4-FFF2-40B4-BE49-F238E27FC236}">
                <a16:creationId xmlns:a16="http://schemas.microsoft.com/office/drawing/2014/main" id="{EEC18BFA-F1C1-B6A6-B8ED-E5EE6EABB27E}"/>
              </a:ext>
            </a:extLst>
          </p:cNvPr>
          <p:cNvSpPr>
            <a:spLocks noGrp="1"/>
          </p:cNvSpPr>
          <p:nvPr>
            <p:ph type="sldNum" sz="quarter" idx="12"/>
          </p:nvPr>
        </p:nvSpPr>
        <p:spPr/>
        <p:txBody>
          <a:bodyPr/>
          <a:lstStyle/>
          <a:p>
            <a:fld id="{C1FF6DA9-008F-8B48-92A6-B652298478BF}" type="slidenum">
              <a:rPr lang="en-US" smtClean="0"/>
              <a:t>32</a:t>
            </a:fld>
            <a:endParaRPr lang="en-US"/>
          </a:p>
        </p:txBody>
      </p:sp>
      <p:sp>
        <p:nvSpPr>
          <p:cNvPr id="8" name="TextBox 7">
            <a:extLst>
              <a:ext uri="{FF2B5EF4-FFF2-40B4-BE49-F238E27FC236}">
                <a16:creationId xmlns:a16="http://schemas.microsoft.com/office/drawing/2014/main" id="{CB8215DB-9CAE-2E8E-CFB8-7F0F7AA46CB2}"/>
              </a:ext>
            </a:extLst>
          </p:cNvPr>
          <p:cNvSpPr txBox="1"/>
          <p:nvPr/>
        </p:nvSpPr>
        <p:spPr>
          <a:xfrm>
            <a:off x="3166110" y="5546330"/>
            <a:ext cx="6094476" cy="369332"/>
          </a:xfrm>
          <a:prstGeom prst="rect">
            <a:avLst/>
          </a:prstGeom>
          <a:noFill/>
        </p:spPr>
        <p:txBody>
          <a:bodyPr wrap="square">
            <a:spAutoFit/>
          </a:bodyPr>
          <a:lstStyle/>
          <a:p>
            <a:pPr algn="just">
              <a:lnSpc>
                <a:spcPct val="100000"/>
              </a:lnSpc>
              <a:spcAft>
                <a:spcPts val="800"/>
              </a:spcAft>
              <a:buNone/>
            </a:pPr>
            <a:r>
              <a:rPr lang="en-IN" sz="1800" b="1" dirty="0">
                <a:effectLst/>
                <a:latin typeface="+mn-lt"/>
                <a:ea typeface="Aptos" panose="020B0004020202020204" pitchFamily="34" charset="0"/>
                <a:cs typeface="Times New Roman" panose="02020603050405020304" pitchFamily="18" charset="0"/>
              </a:rPr>
              <a:t>File</a:t>
            </a:r>
            <a:r>
              <a:rPr lang="en-IN" sz="1800" dirty="0">
                <a:effectLst/>
                <a:latin typeface="+mn-lt"/>
                <a:ea typeface="Aptos" panose="020B0004020202020204" pitchFamily="34" charset="0"/>
                <a:cs typeface="Times New Roman" panose="02020603050405020304" pitchFamily="18" charset="0"/>
              </a:rPr>
              <a:t>: </a:t>
            </a:r>
            <a:r>
              <a:rPr lang="en-IN" sz="1800" dirty="0" err="1">
                <a:effectLst/>
                <a:latin typeface="+mn-lt"/>
                <a:ea typeface="Aptos" panose="020B0004020202020204" pitchFamily="34" charset="0"/>
                <a:cs typeface="Times New Roman" panose="02020603050405020304" pitchFamily="18" charset="0"/>
              </a:rPr>
              <a:t>Participant_Handouts</a:t>
            </a:r>
            <a:r>
              <a:rPr lang="en-IN" sz="1800" dirty="0">
                <a:effectLst/>
                <a:latin typeface="+mn-lt"/>
                <a:ea typeface="Aptos" panose="020B0004020202020204" pitchFamily="34" charset="0"/>
                <a:cs typeface="Times New Roman" panose="02020603050405020304" pitchFamily="18" charset="0"/>
              </a:rPr>
              <a:t>/</a:t>
            </a:r>
            <a:r>
              <a:rPr lang="en-US" dirty="0">
                <a:ea typeface="Aptos" panose="020B0004020202020204" pitchFamily="34" charset="0"/>
                <a:cs typeface="Times New Roman" panose="02020603050405020304" pitchFamily="18" charset="0"/>
              </a:rPr>
              <a:t>Session_03_Insight_to_Decision.md</a:t>
            </a:r>
            <a:endParaRPr lang="en-IN" sz="1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Hands-on workflow and deliverables</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58368" y="1691640"/>
            <a:ext cx="5321808" cy="4434840"/>
          </a:xfrm>
          <a:prstGeom prst="roundRect">
            <a:avLst/>
          </a:prstGeom>
          <a:solidFill>
            <a:srgbClr val="E6EFF9"/>
          </a:solidFill>
          <a:ln>
            <a:solidFill>
              <a:srgbClr val="E6EF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691640"/>
            <a:ext cx="5321808" cy="4434840"/>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20240"/>
            <a:ext cx="4754880" cy="365760"/>
          </a:xfrm>
          <a:prstGeom prst="rect">
            <a:avLst/>
          </a:prstGeom>
          <a:noFill/>
        </p:spPr>
        <p:txBody>
          <a:bodyPr wrap="square" lIns="36576" tIns="18288" rIns="36576" bIns="18288">
            <a:spAutoFit/>
          </a:bodyPr>
          <a:lstStyle/>
          <a:p>
            <a:pPr>
              <a:spcAft>
                <a:spcPts val="0"/>
              </a:spcAft>
            </a:pPr>
            <a:r>
              <a:rPr sz="1800" b="1" i="0">
                <a:solidFill>
                  <a:srgbClr val="162B4A"/>
                </a:solidFill>
                <a:latin typeface="Aptos"/>
              </a:rPr>
              <a:t>30-minute workflow</a:t>
            </a:r>
          </a:p>
        </p:txBody>
      </p:sp>
      <p:sp>
        <p:nvSpPr>
          <p:cNvPr id="9" name="TextBox 8"/>
          <p:cNvSpPr txBox="1"/>
          <p:nvPr/>
        </p:nvSpPr>
        <p:spPr>
          <a:xfrm>
            <a:off x="914400" y="2441448"/>
            <a:ext cx="4709160" cy="3474720"/>
          </a:xfrm>
          <a:prstGeom prst="rect">
            <a:avLst/>
          </a:prstGeom>
          <a:noFill/>
        </p:spPr>
        <p:txBody>
          <a:bodyPr wrap="square" lIns="45720" tIns="18288" rIns="36576" bIns="18288">
            <a:spAutoFit/>
          </a:bodyPr>
          <a:lstStyle/>
          <a:p>
            <a:pPr>
              <a:spcAft>
                <a:spcPts val="700"/>
              </a:spcAft>
              <a:defRPr sz="1300">
                <a:solidFill>
                  <a:srgbClr val="2D3744"/>
                </a:solidFill>
                <a:latin typeface="Aptos"/>
              </a:defRPr>
            </a:pPr>
            <a:r>
              <a:t>0-5 min: Inspect the data and establish baseline metrics.</a:t>
            </a:r>
          </a:p>
          <a:p>
            <a:pPr>
              <a:spcAft>
                <a:spcPts val="700"/>
              </a:spcAft>
              <a:defRPr sz="1300">
                <a:solidFill>
                  <a:srgbClr val="2D3744"/>
                </a:solidFill>
                <a:latin typeface="Aptos"/>
              </a:defRPr>
            </a:pPr>
            <a:r>
              <a:t>5-15 min: Compare groups and identify patterns.</a:t>
            </a:r>
          </a:p>
          <a:p>
            <a:pPr>
              <a:spcAft>
                <a:spcPts val="700"/>
              </a:spcAft>
              <a:defRPr sz="1300">
                <a:solidFill>
                  <a:srgbClr val="2D3744"/>
                </a:solidFill>
                <a:latin typeface="Aptos"/>
              </a:defRPr>
            </a:pPr>
            <a:r>
              <a:t>15-20 min: Challenge two findings and check calculations.</a:t>
            </a:r>
          </a:p>
          <a:p>
            <a:pPr>
              <a:spcAft>
                <a:spcPts val="700"/>
              </a:spcAft>
              <a:defRPr sz="1300">
                <a:solidFill>
                  <a:srgbClr val="2D3744"/>
                </a:solidFill>
                <a:latin typeface="Aptos"/>
              </a:defRPr>
            </a:pPr>
            <a:r>
              <a:t>20-27 min: Prepare the executive recommendation.</a:t>
            </a:r>
          </a:p>
          <a:p>
            <a:pPr>
              <a:spcAft>
                <a:spcPts val="700"/>
              </a:spcAft>
              <a:defRPr sz="1300">
                <a:solidFill>
                  <a:srgbClr val="2D3744"/>
                </a:solidFill>
                <a:latin typeface="Aptos"/>
              </a:defRPr>
            </a:pPr>
            <a:r>
              <a:t>27-30 min: Review against the quality checklist.</a:t>
            </a:r>
          </a:p>
        </p:txBody>
      </p:sp>
      <p:sp>
        <p:nvSpPr>
          <p:cNvPr id="10" name="TextBox 9"/>
          <p:cNvSpPr txBox="1"/>
          <p:nvPr/>
        </p:nvSpPr>
        <p:spPr>
          <a:xfrm>
            <a:off x="6446520" y="1920240"/>
            <a:ext cx="4754880" cy="365760"/>
          </a:xfrm>
          <a:prstGeom prst="rect">
            <a:avLst/>
          </a:prstGeom>
          <a:noFill/>
        </p:spPr>
        <p:txBody>
          <a:bodyPr wrap="square" lIns="36576" tIns="18288" rIns="36576" bIns="18288">
            <a:spAutoFit/>
          </a:bodyPr>
          <a:lstStyle/>
          <a:p>
            <a:pPr>
              <a:spcAft>
                <a:spcPts val="0"/>
              </a:spcAft>
            </a:pPr>
            <a:r>
              <a:rPr sz="1800" b="1" i="0">
                <a:solidFill>
                  <a:srgbClr val="162B4A"/>
                </a:solidFill>
                <a:latin typeface="Aptos"/>
              </a:rPr>
              <a:t>Required deliverables</a:t>
            </a:r>
          </a:p>
        </p:txBody>
      </p:sp>
      <p:sp>
        <p:nvSpPr>
          <p:cNvPr id="11" name="TextBox 10"/>
          <p:cNvSpPr txBox="1"/>
          <p:nvPr/>
        </p:nvSpPr>
        <p:spPr>
          <a:xfrm>
            <a:off x="6446520" y="2441448"/>
            <a:ext cx="4709160" cy="3474720"/>
          </a:xfrm>
          <a:prstGeom prst="rect">
            <a:avLst/>
          </a:prstGeom>
          <a:noFill/>
        </p:spPr>
        <p:txBody>
          <a:bodyPr wrap="square" lIns="45720" tIns="18288" rIns="36576" bIns="18288">
            <a:spAutoFit/>
          </a:bodyPr>
          <a:lstStyle/>
          <a:p>
            <a:pPr>
              <a:spcAft>
                <a:spcPts val="700"/>
              </a:spcAft>
              <a:defRPr sz="1300">
                <a:solidFill>
                  <a:srgbClr val="2D3744"/>
                </a:solidFill>
                <a:latin typeface="Aptos"/>
              </a:defRPr>
            </a:pPr>
            <a:r>
              <a:rPr dirty="0"/>
              <a:t>Three evidence-based insights</a:t>
            </a:r>
          </a:p>
          <a:p>
            <a:pPr>
              <a:spcAft>
                <a:spcPts val="700"/>
              </a:spcAft>
              <a:defRPr sz="1300">
                <a:solidFill>
                  <a:srgbClr val="2D3744"/>
                </a:solidFill>
                <a:latin typeface="Aptos"/>
              </a:defRPr>
            </a:pPr>
            <a:r>
              <a:rPr dirty="0"/>
              <a:t>Two potential risks</a:t>
            </a:r>
          </a:p>
          <a:p>
            <a:pPr>
              <a:spcAft>
                <a:spcPts val="700"/>
              </a:spcAft>
              <a:defRPr sz="1300">
                <a:solidFill>
                  <a:srgbClr val="2D3744"/>
                </a:solidFill>
                <a:latin typeface="Aptos"/>
              </a:defRPr>
            </a:pPr>
            <a:r>
              <a:rPr dirty="0"/>
              <a:t>Two potential opportunities</a:t>
            </a:r>
          </a:p>
          <a:p>
            <a:pPr>
              <a:spcAft>
                <a:spcPts val="700"/>
              </a:spcAft>
              <a:defRPr sz="1300">
                <a:solidFill>
                  <a:srgbClr val="2D3744"/>
                </a:solidFill>
                <a:latin typeface="Aptos"/>
              </a:defRPr>
            </a:pPr>
            <a:r>
              <a:rPr dirty="0"/>
              <a:t>Five follow-up questions</a:t>
            </a:r>
          </a:p>
          <a:p>
            <a:pPr>
              <a:spcAft>
                <a:spcPts val="700"/>
              </a:spcAft>
              <a:defRPr sz="1300">
                <a:solidFill>
                  <a:srgbClr val="2D3744"/>
                </a:solidFill>
                <a:latin typeface="Aptos"/>
              </a:defRPr>
            </a:pPr>
            <a:r>
              <a:rPr dirty="0"/>
              <a:t>One executive recommendation</a:t>
            </a:r>
          </a:p>
          <a:p>
            <a:pPr>
              <a:spcAft>
                <a:spcPts val="700"/>
              </a:spcAft>
              <a:defRPr sz="1300">
                <a:solidFill>
                  <a:srgbClr val="2D3744"/>
                </a:solidFill>
                <a:latin typeface="Aptos"/>
              </a:defRPr>
            </a:pPr>
            <a:r>
              <a:rPr dirty="0"/>
              <a:t>Limitations and assumptions</a:t>
            </a:r>
          </a:p>
        </p:txBody>
      </p:sp>
      <p:sp>
        <p:nvSpPr>
          <p:cNvPr id="12" name="Slide Number Placeholder 11">
            <a:extLst>
              <a:ext uri="{FF2B5EF4-FFF2-40B4-BE49-F238E27FC236}">
                <a16:creationId xmlns:a16="http://schemas.microsoft.com/office/drawing/2014/main" id="{41FB1CD5-2AE7-707B-F6E3-7B166C689F7A}"/>
              </a:ext>
            </a:extLst>
          </p:cNvPr>
          <p:cNvSpPr>
            <a:spLocks noGrp="1"/>
          </p:cNvSpPr>
          <p:nvPr>
            <p:ph type="sldNum" sz="quarter" idx="12"/>
          </p:nvPr>
        </p:nvSpPr>
        <p:spPr/>
        <p:txBody>
          <a:bodyPr/>
          <a:lstStyle/>
          <a:p>
            <a:fld id="{C1FF6DA9-008F-8B48-92A6-B652298478BF}"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Quality checklist</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2899255"/>
          </a:xfrm>
          <a:prstGeom prst="rect">
            <a:avLst/>
          </a:prstGeom>
          <a:noFill/>
        </p:spPr>
        <p:txBody>
          <a:bodyPr wrap="square" lIns="45720" tIns="18288" rIns="36576" bIns="18288">
            <a:spAutoFit/>
          </a:bodyPr>
          <a:lstStyle/>
          <a:p>
            <a:pPr>
              <a:spcAft>
                <a:spcPts val="900"/>
              </a:spcAft>
              <a:defRPr sz="1400">
                <a:solidFill>
                  <a:srgbClr val="2D3744"/>
                </a:solidFill>
                <a:latin typeface="Aptos"/>
              </a:defRPr>
            </a:pPr>
            <a:r>
              <a:rPr dirty="0"/>
              <a:t>Every material finding has supporting evidence.</a:t>
            </a:r>
          </a:p>
          <a:p>
            <a:pPr>
              <a:spcAft>
                <a:spcPts val="900"/>
              </a:spcAft>
              <a:defRPr sz="1400">
                <a:solidFill>
                  <a:srgbClr val="2D3744"/>
                </a:solidFill>
                <a:latin typeface="Aptos"/>
              </a:defRPr>
            </a:pPr>
            <a:r>
              <a:rPr dirty="0"/>
              <a:t>The calculation method and denominator are clear.</a:t>
            </a:r>
          </a:p>
          <a:p>
            <a:pPr>
              <a:spcAft>
                <a:spcPts val="900"/>
              </a:spcAft>
              <a:defRPr sz="1400">
                <a:solidFill>
                  <a:srgbClr val="2D3744"/>
                </a:solidFill>
                <a:latin typeface="Aptos"/>
              </a:defRPr>
            </a:pPr>
            <a:r>
              <a:rPr dirty="0"/>
              <a:t>Pipeline and realized revenue are not confused.</a:t>
            </a:r>
          </a:p>
          <a:p>
            <a:pPr>
              <a:spcAft>
                <a:spcPts val="900"/>
              </a:spcAft>
              <a:defRPr sz="1400">
                <a:solidFill>
                  <a:srgbClr val="2D3744"/>
                </a:solidFill>
                <a:latin typeface="Aptos"/>
              </a:defRPr>
            </a:pPr>
            <a:r>
              <a:rPr dirty="0"/>
              <a:t>At least two findings have been challenged or recalculated.</a:t>
            </a:r>
          </a:p>
          <a:p>
            <a:pPr>
              <a:spcAft>
                <a:spcPts val="900"/>
              </a:spcAft>
              <a:defRPr sz="1400">
                <a:solidFill>
                  <a:srgbClr val="2D3744"/>
                </a:solidFill>
                <a:latin typeface="Aptos"/>
              </a:defRPr>
            </a:pPr>
            <a:r>
              <a:rPr dirty="0"/>
              <a:t>Observations, hypotheses, and recommendations are distinguishable.</a:t>
            </a:r>
          </a:p>
          <a:p>
            <a:pPr>
              <a:spcAft>
                <a:spcPts val="900"/>
              </a:spcAft>
              <a:defRPr sz="1400">
                <a:solidFill>
                  <a:srgbClr val="2D3744"/>
                </a:solidFill>
                <a:latin typeface="Aptos"/>
              </a:defRPr>
            </a:pPr>
            <a:r>
              <a:rPr dirty="0"/>
              <a:t>Important limitations and missing information are stated.</a:t>
            </a:r>
          </a:p>
          <a:p>
            <a:pPr>
              <a:spcAft>
                <a:spcPts val="900"/>
              </a:spcAft>
              <a:defRPr sz="1400">
                <a:solidFill>
                  <a:srgbClr val="2D3744"/>
                </a:solidFill>
                <a:latin typeface="Aptos"/>
              </a:defRPr>
            </a:pPr>
            <a:r>
              <a:rPr dirty="0"/>
              <a:t>The recommendation follows from the evidence.</a:t>
            </a:r>
          </a:p>
          <a:p>
            <a:pPr>
              <a:spcAft>
                <a:spcPts val="900"/>
              </a:spcAft>
              <a:defRPr sz="1400">
                <a:solidFill>
                  <a:srgbClr val="2D3744"/>
                </a:solidFill>
                <a:latin typeface="Aptos"/>
              </a:defRPr>
            </a:pPr>
            <a:r>
              <a:rPr dirty="0"/>
              <a:t>The brief is concise and useful to a business leader.</a:t>
            </a:r>
            <a:endParaRPr lang="en-US" dirty="0"/>
          </a:p>
          <a:p>
            <a:pPr>
              <a:spcAft>
                <a:spcPts val="900"/>
              </a:spcAft>
              <a:defRPr sz="1400">
                <a:solidFill>
                  <a:srgbClr val="2D3744"/>
                </a:solidFill>
                <a:latin typeface="Aptos"/>
              </a:defRPr>
            </a:pPr>
            <a:endParaRPr lang="en-IN" dirty="0"/>
          </a:p>
        </p:txBody>
      </p:sp>
      <p:sp>
        <p:nvSpPr>
          <p:cNvPr id="7" name="Rounded Rectangle 6"/>
          <p:cNvSpPr/>
          <p:nvPr/>
        </p:nvSpPr>
        <p:spPr>
          <a:xfrm>
            <a:off x="713232" y="5715000"/>
            <a:ext cx="10789920" cy="65836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43016"/>
            <a:ext cx="10332720" cy="384048"/>
          </a:xfrm>
          <a:prstGeom prst="rect">
            <a:avLst/>
          </a:prstGeom>
          <a:noFill/>
        </p:spPr>
        <p:txBody>
          <a:bodyPr wrap="square" lIns="36576" tIns="18288" rIns="36576" bIns="18288">
            <a:spAutoFit/>
          </a:bodyPr>
          <a:lstStyle/>
          <a:p>
            <a:pPr>
              <a:spcAft>
                <a:spcPts val="0"/>
              </a:spcAft>
            </a:pPr>
            <a:r>
              <a:rPr sz="1400" b="1" i="0">
                <a:solidFill>
                  <a:srgbClr val="162B4A"/>
                </a:solidFill>
                <a:latin typeface="Aptos"/>
              </a:rPr>
              <a:t>Reward evidence, validation, and sound judgment, not polished writing alone.</a:t>
            </a:r>
          </a:p>
        </p:txBody>
      </p:sp>
      <p:sp>
        <p:nvSpPr>
          <p:cNvPr id="9" name="Slide Number Placeholder 8">
            <a:extLst>
              <a:ext uri="{FF2B5EF4-FFF2-40B4-BE49-F238E27FC236}">
                <a16:creationId xmlns:a16="http://schemas.microsoft.com/office/drawing/2014/main" id="{DF0B8E42-528D-37DD-8899-FB28AFFE5D20}"/>
              </a:ext>
            </a:extLst>
          </p:cNvPr>
          <p:cNvSpPr>
            <a:spLocks noGrp="1"/>
          </p:cNvSpPr>
          <p:nvPr>
            <p:ph type="sldNum" sz="quarter" idx="12"/>
          </p:nvPr>
        </p:nvSpPr>
        <p:spPr/>
        <p:txBody>
          <a:bodyPr/>
          <a:lstStyle/>
          <a:p>
            <a:fld id="{C1FF6DA9-008F-8B48-92A6-B652298478BF}" type="slidenum">
              <a:rPr lang="en-US" smtClean="0"/>
              <a:t>34</a:t>
            </a:fld>
            <a:endParaRPr lang="en-US"/>
          </a:p>
        </p:txBody>
      </p:sp>
      <p:sp>
        <p:nvSpPr>
          <p:cNvPr id="10" name="Rectangle: Rounded Corners 9">
            <a:extLst>
              <a:ext uri="{FF2B5EF4-FFF2-40B4-BE49-F238E27FC236}">
                <a16:creationId xmlns:a16="http://schemas.microsoft.com/office/drawing/2014/main" id="{52226ECF-F7BF-481F-9CC5-2F89CDA47A8D}"/>
              </a:ext>
            </a:extLst>
          </p:cNvPr>
          <p:cNvSpPr/>
          <p:nvPr/>
        </p:nvSpPr>
        <p:spPr>
          <a:xfrm>
            <a:off x="5618988" y="4390045"/>
            <a:ext cx="914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Start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Hands-on prompt</a:t>
            </a:r>
          </a:p>
        </p:txBody>
      </p:sp>
      <p:sp>
        <p:nvSpPr>
          <p:cNvPr id="5" name="TextBox 4"/>
          <p:cNvSpPr txBox="1"/>
          <p:nvPr/>
        </p:nvSpPr>
        <p:spPr>
          <a:xfrm>
            <a:off x="640080" y="1417320"/>
            <a:ext cx="10881360" cy="365760"/>
          </a:xfrm>
          <a:prstGeom prst="rect">
            <a:avLst/>
          </a:prstGeom>
          <a:noFill/>
        </p:spPr>
        <p:txBody>
          <a:bodyPr wrap="square" lIns="36576" tIns="18288" rIns="36576" bIns="18288">
            <a:spAutoFit/>
          </a:bodyPr>
          <a:lstStyle/>
          <a:p>
            <a:pPr>
              <a:spcAft>
                <a:spcPts val="0"/>
              </a:spcAft>
            </a:pPr>
            <a:r>
              <a:rPr sz="1300" b="0" i="0">
                <a:solidFill>
                  <a:srgbClr val="616D7B"/>
                </a:solidFill>
                <a:latin typeface="Aptos"/>
              </a:rPr>
              <a:t>Use Copilot Chat. GitHub Copilot is optional for code-based validation.</a:t>
            </a:r>
          </a:p>
        </p:txBody>
      </p:sp>
      <p:sp>
        <p:nvSpPr>
          <p:cNvPr id="6" name="Rectangle 5"/>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1810512"/>
            <a:ext cx="10881360" cy="4480560"/>
          </a:xfrm>
          <a:prstGeom prst="roundRect">
            <a:avLst/>
          </a:prstGeom>
          <a:solidFill>
            <a:srgbClr val="F1F5F9"/>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084159"/>
            <a:ext cx="10332720" cy="3930307"/>
          </a:xfrm>
          <a:prstGeom prst="rect">
            <a:avLst/>
          </a:prstGeom>
          <a:noFill/>
        </p:spPr>
        <p:txBody>
          <a:bodyPr wrap="square" lIns="36576" tIns="18288" rIns="36576" bIns="18288">
            <a:spAutoFit/>
          </a:bodyPr>
          <a:lstStyle/>
          <a:p>
            <a:pPr>
              <a:spcAft>
                <a:spcPts val="0"/>
              </a:spcAft>
            </a:pPr>
            <a:r>
              <a:rPr sz="1100" b="0" i="0" dirty="0">
                <a:solidFill>
                  <a:srgbClr val="2D3744"/>
                </a:solidFill>
                <a:latin typeface="Consolas"/>
              </a:rPr>
              <a:t>Act as a senior business data analyst supporting a </a:t>
            </a:r>
            <a:r>
              <a:rPr sz="1100" b="0" i="0" dirty="0" err="1">
                <a:solidFill>
                  <a:srgbClr val="2D3744"/>
                </a:solidFill>
                <a:latin typeface="Consolas"/>
              </a:rPr>
              <a:t>WinTrust</a:t>
            </a:r>
            <a:r>
              <a:rPr sz="1100" b="0" i="0" dirty="0">
                <a:solidFill>
                  <a:srgbClr val="2D3744"/>
                </a:solidFill>
                <a:latin typeface="Consolas"/>
              </a:rPr>
              <a:t> business leader.
Analyze sales_pipeline_300.csv to determine where management attention may be required.
FIRST: INSPECT THE DATA
Identify columns, data types, missing values, duplicate </a:t>
            </a:r>
            <a:r>
              <a:rPr sz="1100" b="0" i="0" dirty="0" err="1">
                <a:solidFill>
                  <a:srgbClr val="2D3744"/>
                </a:solidFill>
                <a:latin typeface="Consolas"/>
              </a:rPr>
              <a:t>identifiers,and</a:t>
            </a:r>
            <a:r>
              <a:rPr sz="1100" b="0" i="0" dirty="0">
                <a:solidFill>
                  <a:srgbClr val="2D3744"/>
                </a:solidFill>
                <a:latin typeface="Consolas"/>
              </a:rPr>
              <a:t> relevant business definitions.
Then:
1. Establish baseline pipeline metrics.
2. Compare regions, products, customer segments, and deal outcomes</a:t>
            </a:r>
            <a:r>
              <a:rPr lang="en-US" sz="1100" b="0" i="0" dirty="0">
                <a:solidFill>
                  <a:srgbClr val="2D3744"/>
                </a:solidFill>
                <a:latin typeface="Consolas"/>
              </a:rPr>
              <a:t> </a:t>
            </a:r>
            <a:r>
              <a:rPr sz="1100" b="0" i="0" dirty="0">
                <a:solidFill>
                  <a:srgbClr val="2D3744"/>
                </a:solidFill>
                <a:latin typeface="Consolas"/>
              </a:rPr>
              <a:t>wherever the data supports the comparison.
3. Identify three material insights, two potential risks, and two</a:t>
            </a:r>
            <a:r>
              <a:rPr lang="en-US" sz="1100" b="0" i="0" dirty="0">
                <a:solidFill>
                  <a:srgbClr val="2D3744"/>
                </a:solidFill>
                <a:latin typeface="Consolas"/>
              </a:rPr>
              <a:t> </a:t>
            </a:r>
            <a:r>
              <a:rPr sz="1100" b="0" i="0" dirty="0">
                <a:solidFill>
                  <a:srgbClr val="2D3744"/>
                </a:solidFill>
                <a:latin typeface="Consolas"/>
              </a:rPr>
              <a:t>potential opportunities.
4. For each finding, provide metric, calculation method, sample size,</a:t>
            </a:r>
            <a:r>
              <a:rPr lang="en-US" sz="1100" b="0" i="0" dirty="0">
                <a:solidFill>
                  <a:srgbClr val="2D3744"/>
                </a:solidFill>
                <a:latin typeface="Consolas"/>
              </a:rPr>
              <a:t> </a:t>
            </a:r>
            <a:r>
              <a:rPr sz="1100" b="0" i="0" dirty="0">
                <a:solidFill>
                  <a:srgbClr val="2D3744"/>
                </a:solidFill>
                <a:latin typeface="Consolas"/>
              </a:rPr>
              <a:t>and business interpretation.
5. Identify five questions management should resolve before a decision.
6. Produce one executive recommendation based on the strongest evidence.
VALIDATION
Check every percentage denominator. Distinguish open pipeline from</a:t>
            </a:r>
            <a:r>
              <a:rPr lang="en-US" sz="1100" b="0" i="0" dirty="0">
                <a:solidFill>
                  <a:srgbClr val="2D3744"/>
                </a:solidFill>
                <a:latin typeface="Consolas"/>
              </a:rPr>
              <a:t> </a:t>
            </a:r>
            <a:r>
              <a:rPr sz="1100" b="0" i="0" dirty="0">
                <a:solidFill>
                  <a:srgbClr val="2D3744"/>
                </a:solidFill>
                <a:latin typeface="Consolas"/>
              </a:rPr>
              <a:t>closed-won business and realized revenue. Do not infer causation.
Check whether outliers distort averages. Separate observations from</a:t>
            </a:r>
            <a:r>
              <a:rPr lang="en-US" sz="1100" b="0" i="0" dirty="0">
                <a:solidFill>
                  <a:srgbClr val="2D3744"/>
                </a:solidFill>
                <a:latin typeface="Consolas"/>
              </a:rPr>
              <a:t> </a:t>
            </a:r>
            <a:r>
              <a:rPr sz="1100" b="0" i="0" dirty="0">
                <a:solidFill>
                  <a:srgbClr val="2D3744"/>
                </a:solidFill>
                <a:latin typeface="Consolas"/>
              </a:rPr>
              <a:t>hypotheses. State what cannot be established. Do not invent benefits.
OUTPUT
Executive takeaway, three insights, two risks, two opportunities,</a:t>
            </a:r>
            <a:r>
              <a:rPr lang="en-US" sz="1100" b="0" i="0" dirty="0">
                <a:solidFill>
                  <a:srgbClr val="2D3744"/>
                </a:solidFill>
                <a:latin typeface="Consolas"/>
              </a:rPr>
              <a:t> </a:t>
            </a:r>
            <a:r>
              <a:rPr sz="1100" b="0" i="0" dirty="0">
                <a:solidFill>
                  <a:srgbClr val="2D3744"/>
                </a:solidFill>
                <a:latin typeface="Consolas"/>
              </a:rPr>
              <a:t>five follow-up questions, one recommendation, and limitations.
Challenge your own findings before finalizing.</a:t>
            </a:r>
          </a:p>
        </p:txBody>
      </p:sp>
      <p:sp>
        <p:nvSpPr>
          <p:cNvPr id="10" name="Slide Number Placeholder 9">
            <a:extLst>
              <a:ext uri="{FF2B5EF4-FFF2-40B4-BE49-F238E27FC236}">
                <a16:creationId xmlns:a16="http://schemas.microsoft.com/office/drawing/2014/main" id="{51B6B852-5439-3CFE-0503-F5BD5A52673B}"/>
              </a:ext>
            </a:extLst>
          </p:cNvPr>
          <p:cNvSpPr>
            <a:spLocks noGrp="1"/>
          </p:cNvSpPr>
          <p:nvPr>
            <p:ph type="sldNum" sz="quarter" idx="12"/>
          </p:nvPr>
        </p:nvSpPr>
        <p:spPr/>
        <p:txBody>
          <a:bodyPr/>
          <a:lstStyle/>
          <a:p>
            <a:fld id="{C1FF6DA9-008F-8B48-92A6-B652298478BF}"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28600"/>
            <a:ext cx="8229600" cy="228600"/>
          </a:xfrm>
          <a:prstGeom prst="rect">
            <a:avLst/>
          </a:prstGeom>
          <a:noFill/>
        </p:spPr>
        <p:txBody>
          <a:bodyPr wrap="square" lIns="36576" tIns="18288" rIns="36576" bIns="18288">
            <a:spAutoFit/>
          </a:bodyPr>
          <a:lstStyle/>
          <a:p>
            <a:pPr>
              <a:spcAft>
                <a:spcPts val="0"/>
              </a:spcAft>
            </a:pPr>
            <a:r>
              <a:rPr sz="900" b="1" i="0">
                <a:solidFill>
                  <a:srgbClr val="008991"/>
                </a:solidFill>
                <a:latin typeface="Aptos"/>
              </a:rPr>
              <a:t>WINTRUST | GENAI &amp; TECHNOLOGY FLUENCY</a:t>
            </a:r>
          </a:p>
        </p:txBody>
      </p:sp>
      <p:sp>
        <p:nvSpPr>
          <p:cNvPr id="3" name="Rectangle 2"/>
          <p:cNvSpPr/>
          <p:nvPr/>
        </p:nvSpPr>
        <p:spPr>
          <a:xfrm>
            <a:off x="566928" y="585216"/>
            <a:ext cx="11018520" cy="22860"/>
          </a:xfrm>
          <a:prstGeom prst="rect">
            <a:avLst/>
          </a:prstGeom>
          <a:solidFill>
            <a:srgbClr val="D8E1EA"/>
          </a:solidFill>
          <a:ln>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804672"/>
            <a:ext cx="10972800" cy="566928"/>
          </a:xfrm>
          <a:prstGeom prst="rect">
            <a:avLst/>
          </a:prstGeom>
          <a:noFill/>
        </p:spPr>
        <p:txBody>
          <a:bodyPr wrap="square" lIns="36576" tIns="18288" rIns="36576" bIns="18288">
            <a:spAutoFit/>
          </a:bodyPr>
          <a:lstStyle/>
          <a:p>
            <a:pPr>
              <a:spcAft>
                <a:spcPts val="0"/>
              </a:spcAft>
            </a:pPr>
            <a:r>
              <a:rPr sz="2800" b="1" i="0">
                <a:solidFill>
                  <a:srgbClr val="162B4A"/>
                </a:solidFill>
                <a:latin typeface="Aptos Display"/>
              </a:rPr>
              <a:t>Closing: Make analysis decision-ready</a:t>
            </a:r>
          </a:p>
        </p:txBody>
      </p:sp>
      <p:sp>
        <p:nvSpPr>
          <p:cNvPr id="5" name="Rectangle 4"/>
          <p:cNvSpPr/>
          <p:nvPr/>
        </p:nvSpPr>
        <p:spPr>
          <a:xfrm>
            <a:off x="0" y="6784848"/>
            <a:ext cx="12191695" cy="73152"/>
          </a:xfrm>
          <a:prstGeom prst="rect">
            <a:avLst/>
          </a:prstGeom>
          <a:solidFill>
            <a:srgbClr val="008991"/>
          </a:solidFill>
          <a:ln>
            <a:solidFill>
              <a:srgbClr val="0089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10515600" cy="4251960"/>
          </a:xfrm>
          <a:prstGeom prst="rect">
            <a:avLst/>
          </a:prstGeom>
          <a:noFill/>
        </p:spPr>
        <p:txBody>
          <a:bodyPr wrap="square" lIns="45720" tIns="18288" rIns="36576" bIns="18288">
            <a:spAutoFit/>
          </a:bodyPr>
          <a:lstStyle/>
          <a:p>
            <a:pPr>
              <a:spcAft>
                <a:spcPts val="900"/>
              </a:spcAft>
              <a:defRPr sz="1700">
                <a:solidFill>
                  <a:srgbClr val="2D3744"/>
                </a:solidFill>
                <a:latin typeface="Aptos"/>
              </a:defRPr>
            </a:pPr>
            <a:r>
              <a:t>Start with a business question.</a:t>
            </a:r>
          </a:p>
          <a:p>
            <a:pPr>
              <a:spcAft>
                <a:spcPts val="900"/>
              </a:spcAft>
              <a:defRPr sz="1700">
                <a:solidFill>
                  <a:srgbClr val="2D3744"/>
                </a:solidFill>
                <a:latin typeface="Aptos"/>
              </a:defRPr>
            </a:pPr>
            <a:r>
              <a:t>Inspect the data before interpreting it.</a:t>
            </a:r>
          </a:p>
          <a:p>
            <a:pPr>
              <a:spcAft>
                <a:spcPts val="900"/>
              </a:spcAft>
              <a:defRPr sz="1700">
                <a:solidFill>
                  <a:srgbClr val="2D3744"/>
                </a:solidFill>
                <a:latin typeface="Aptos"/>
              </a:defRPr>
            </a:pPr>
            <a:r>
              <a:t>Validate calculations and assumptions.</a:t>
            </a:r>
          </a:p>
          <a:p>
            <a:pPr>
              <a:spcAft>
                <a:spcPts val="900"/>
              </a:spcAft>
              <a:defRPr sz="1700">
                <a:solidFill>
                  <a:srgbClr val="2D3744"/>
                </a:solidFill>
                <a:latin typeface="Aptos"/>
              </a:defRPr>
            </a:pPr>
            <a:r>
              <a:t>Challenge explanations that go beyond the evidence.</a:t>
            </a:r>
          </a:p>
          <a:p>
            <a:pPr>
              <a:spcAft>
                <a:spcPts val="900"/>
              </a:spcAft>
              <a:defRPr sz="1700">
                <a:solidFill>
                  <a:srgbClr val="2D3744"/>
                </a:solidFill>
                <a:latin typeface="Aptos"/>
              </a:defRPr>
            </a:pPr>
            <a:r>
              <a:t>Translate validated findings into proportionate action.</a:t>
            </a:r>
          </a:p>
        </p:txBody>
      </p:sp>
      <p:sp>
        <p:nvSpPr>
          <p:cNvPr id="7" name="Rounded Rectangle 6"/>
          <p:cNvSpPr/>
          <p:nvPr/>
        </p:nvSpPr>
        <p:spPr>
          <a:xfrm>
            <a:off x="713232" y="5715000"/>
            <a:ext cx="10789920" cy="658368"/>
          </a:xfrm>
          <a:prstGeom prst="roundRect">
            <a:avLst/>
          </a:prstGeom>
          <a:solidFill>
            <a:srgbClr val="E0F4F3"/>
          </a:solidFill>
          <a:ln>
            <a:solidFill>
              <a:srgbClr val="E0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5843016"/>
            <a:ext cx="10332720" cy="384048"/>
          </a:xfrm>
          <a:prstGeom prst="rect">
            <a:avLst/>
          </a:prstGeom>
          <a:noFill/>
        </p:spPr>
        <p:txBody>
          <a:bodyPr wrap="square" lIns="36576" tIns="18288" rIns="36576" bIns="18288">
            <a:spAutoFit/>
          </a:bodyPr>
          <a:lstStyle/>
          <a:p>
            <a:pPr>
              <a:spcAft>
                <a:spcPts val="0"/>
              </a:spcAft>
            </a:pPr>
            <a:r>
              <a:rPr sz="1400" b="1" i="0">
                <a:solidFill>
                  <a:srgbClr val="162B4A"/>
                </a:solidFill>
                <a:latin typeface="Aptos"/>
              </a:rPr>
              <a:t>The value of GenAI is the quality of decisions it helps support.</a:t>
            </a:r>
          </a:p>
        </p:txBody>
      </p:sp>
      <p:sp>
        <p:nvSpPr>
          <p:cNvPr id="9" name="Slide Number Placeholder 8">
            <a:extLst>
              <a:ext uri="{FF2B5EF4-FFF2-40B4-BE49-F238E27FC236}">
                <a16:creationId xmlns:a16="http://schemas.microsoft.com/office/drawing/2014/main" id="{EBF090F2-B696-F68C-9C76-796516F311BE}"/>
              </a:ext>
            </a:extLst>
          </p:cNvPr>
          <p:cNvSpPr>
            <a:spLocks noGrp="1"/>
          </p:cNvSpPr>
          <p:nvPr>
            <p:ph type="sldNum" sz="quarter" idx="12"/>
          </p:nvPr>
        </p:nvSpPr>
        <p:spPr/>
        <p:txBody>
          <a:bodyPr/>
          <a:lstStyle/>
          <a:p>
            <a:fld id="{C1FF6DA9-008F-8B48-92A6-B652298478BF}"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B2743-E7EB-4EDA-99DD-3E50EDFDA064}"/>
              </a:ext>
            </a:extLst>
          </p:cNvPr>
          <p:cNvSpPr>
            <a:spLocks noGrp="1"/>
          </p:cNvSpPr>
          <p:nvPr>
            <p:ph type="title"/>
          </p:nvPr>
        </p:nvSpPr>
        <p:spPr>
          <a:xfrm>
            <a:off x="457199" y="274638"/>
            <a:ext cx="11282855" cy="1143000"/>
          </a:xfrm>
        </p:spPr>
        <p:txBody>
          <a:bodyPr/>
          <a:lstStyle/>
          <a:p>
            <a:r>
              <a:rPr lang="en-US" dirty="0"/>
              <a:t>Thank you</a:t>
            </a:r>
            <a:endParaRPr lang="en-IN" dirty="0"/>
          </a:p>
        </p:txBody>
      </p:sp>
      <p:sp>
        <p:nvSpPr>
          <p:cNvPr id="3" name="Content Placeholder 2">
            <a:extLst>
              <a:ext uri="{FF2B5EF4-FFF2-40B4-BE49-F238E27FC236}">
                <a16:creationId xmlns:a16="http://schemas.microsoft.com/office/drawing/2014/main" id="{A91D88BF-4C64-684A-E31B-A38E0D0E74FA}"/>
              </a:ext>
            </a:extLst>
          </p:cNvPr>
          <p:cNvSpPr>
            <a:spLocks noGrp="1"/>
          </p:cNvSpPr>
          <p:nvPr>
            <p:ph idx="1"/>
          </p:nvPr>
        </p:nvSpPr>
        <p:spPr>
          <a:xfrm>
            <a:off x="457199" y="1600200"/>
            <a:ext cx="11282855" cy="4525963"/>
          </a:xfrm>
        </p:spPr>
        <p:txBody>
          <a:bodyPr/>
          <a:lstStyle/>
          <a:p>
            <a:endParaRPr lang="en-IN"/>
          </a:p>
        </p:txBody>
      </p:sp>
      <p:sp>
        <p:nvSpPr>
          <p:cNvPr id="4" name="Slide Number Placeholder 3">
            <a:extLst>
              <a:ext uri="{FF2B5EF4-FFF2-40B4-BE49-F238E27FC236}">
                <a16:creationId xmlns:a16="http://schemas.microsoft.com/office/drawing/2014/main" id="{704F566B-04ED-66BE-E4F7-9D5692A3B33C}"/>
              </a:ext>
            </a:extLst>
          </p:cNvPr>
          <p:cNvSpPr>
            <a:spLocks noGrp="1"/>
          </p:cNvSpPr>
          <p:nvPr>
            <p:ph type="sldNum" sz="quarter" idx="12"/>
          </p:nvPr>
        </p:nvSpPr>
        <p:spPr/>
        <p:txBody>
          <a:bodyPr/>
          <a:lstStyle/>
          <a:p>
            <a:fld id="{C1FF6DA9-008F-8B48-92A6-B652298478BF}" type="slidenum">
              <a:rPr lang="en-US" smtClean="0"/>
              <a:t>37</a:t>
            </a:fld>
            <a:endParaRPr lang="en-US"/>
          </a:p>
        </p:txBody>
      </p:sp>
    </p:spTree>
    <p:extLst>
      <p:ext uri="{BB962C8B-B14F-4D97-AF65-F5344CB8AC3E}">
        <p14:creationId xmlns:p14="http://schemas.microsoft.com/office/powerpoint/2010/main" val="3414832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658</TotalTime>
  <Words>4276</Words>
  <Application>Microsoft Office PowerPoint</Application>
  <PresentationFormat>Widescreen</PresentationFormat>
  <Paragraphs>400</Paragraphs>
  <Slides>37</Slides>
  <Notes>0</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Aptos Display</vt:lpstr>
      <vt:lpstr>Arial</vt:lpstr>
      <vt:lpstr>Calibri</vt:lpstr>
      <vt:lpstr>Consolas</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Ajay Singala</cp:lastModifiedBy>
  <cp:revision>53</cp:revision>
  <dcterms:created xsi:type="dcterms:W3CDTF">2013-01-27T09:14:16Z</dcterms:created>
  <dcterms:modified xsi:type="dcterms:W3CDTF">2026-10-22T18:03:14Z</dcterms:modified>
  <cp:category/>
</cp:coreProperties>
</file>