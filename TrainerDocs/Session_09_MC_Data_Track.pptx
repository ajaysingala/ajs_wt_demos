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3ADA-BACF-C4FA-F4F4-414F69B7A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61F25-9EC8-C9AA-CB4B-C320F0240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497B-C390-D480-E3CD-3EEF31F6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DAD09-6AF7-D1EF-359A-8F0E0CA22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39F0C-E7BB-34B4-701E-23E27E65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45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FBEA-C751-799E-1A5D-FD3DF19F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CB43-7CCE-FB20-19FB-12DE9907F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0455-DA94-B5B8-2B65-F7010157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8DA4F-5633-0A39-87C0-F44DDEF9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5CF64-C071-7A19-2ED9-E8A2D090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82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6212-860B-97F0-5CE3-EBEDF24F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6A56-C127-F1E3-1C46-B3B086FE1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3DDF-5BC9-C1A6-57A6-739E9939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C4CA3-9675-A5DA-715F-B25C7058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4BB5-1A30-FB67-F9C2-C1FE9013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9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E8D8-57CB-6B4E-7555-CEBA523E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55AB-682F-D2DB-C026-48C832581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9CCAA-558F-E01F-2C6A-4A7DFB439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D6C5A-A175-8273-B919-E4DA0B06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70571-884C-EE1E-9D24-0BF36243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935EE-C11E-F8A5-E349-138BF2A8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0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5766-976A-87A9-3AD9-7AFC4F21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A806-E20A-2CE3-D78B-0D9E812E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4D13F-9754-FEA7-A0F1-2E7E968DD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F5513-3B5D-8DCB-9CA4-939AD44EE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73BA5-AB6E-E737-572F-E3C6398CE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CCA98-28B2-CBA6-BF85-98A3C54B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864D4F-0206-B3CD-151A-50AD908A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D02E2-DE08-35A3-4FA8-8D8859CA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6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6B01-4418-184B-2ADC-B38A9E76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8EACE-712C-AF0D-6F4B-97EE5956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32DAD-401C-02B9-2B1B-0A51CC34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26044-62F2-1790-3F94-15FB4CFD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0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61505-E6A0-C476-EF70-BD28F4E1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0FC34-5575-A585-14C5-DD4E5540E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3C1A3-665D-BE4D-4DFC-A21B9DAB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07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0BA9-2D66-5496-E747-619DE328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E43D-5F1D-37A7-1FC3-01579184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F18D4-F4B8-5683-327D-0977FAFF8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210DF-581B-041A-C88E-FAC96AC2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58BF7-52FC-0457-8D2B-B65371AE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63074-740B-55E9-1475-88C1EA3D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49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4B27-131E-ACCC-42F9-87A7C631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798C8E-F466-B647-9592-0FC9F89DD0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4552D-A1FB-7D10-CD51-BD15C8862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FD7F0-5170-7D62-A796-6DEB61ED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0D67C-D2E1-5736-2240-04020293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CBA00-DBD9-5711-51B1-624DAAC1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26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0C70-61DE-1CAC-88E9-A200D91D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31286-0C9C-3A02-E40F-9E6A9C21C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F1C48-2463-7295-F63D-616E43DB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45354-D266-0D95-0939-FA6B69E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30955-1005-1EDB-B34E-69CE9D2F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52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099D7-351D-8E08-2D4F-FD28CC8CD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AC980-E4E4-9A8D-F150-BE6DC09AD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765B-3C0D-A462-E425-36564534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2A77-991D-8496-10AF-3CDCEE0F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DD1D7-544F-4632-69BD-C4A23CB2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02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58D15-6750-C6AB-15F4-C9CE144E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77F79-D140-5C4A-DF8A-E63DA258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5DE27-FA93-E5A6-6B70-DB2771ED8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02495-9C3E-44E8-8A89-F46D98BFB44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08074-33E3-01AB-0155-D0E792992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5722C-6949-9CDA-5DE0-C38341113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D64D4-39D2-4042-BA77-A2F500AA6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1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1AFCF-BB4A-1ED5-1A87-846DF1AFD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Master Class – Data Track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27C46-51E9-8645-1440-96B60E3978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570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F1C8-E933-86EB-BFC4-69DE7DBC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Generation and Data-Quality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DFE7-BF88-CA5A-E66D-E5B95073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Learning outcomes:</a:t>
            </a:r>
          </a:p>
          <a:p>
            <a:pPr lvl="1"/>
            <a:r>
              <a:rPr lang="en-IN" sz="2000" dirty="0"/>
              <a:t>Turn a business question into a precise SQL specification before asking Copilot to generate code.</a:t>
            </a:r>
          </a:p>
          <a:p>
            <a:pPr lvl="1"/>
            <a:r>
              <a:rPr lang="en-IN" sz="2000" dirty="0"/>
              <a:t>Generate multi-table joins, aggregations, conditional logic, window functions and exception queries.</a:t>
            </a:r>
          </a:p>
          <a:p>
            <a:pPr lvl="1"/>
            <a:r>
              <a:rPr lang="en-IN" sz="2000" dirty="0"/>
              <a:t>Prompt for documented data-quality rules and distinguish rule violations from records that merely need investigation.</a:t>
            </a:r>
          </a:p>
          <a:p>
            <a:pPr lvl="1"/>
            <a:r>
              <a:rPr lang="en-IN" sz="2000" dirty="0"/>
              <a:t>Ask GitHub Copilot to generate SQL tests, boundary cases and explanations of query behaviour.</a:t>
            </a:r>
          </a:p>
          <a:p>
            <a:pPr lvl="1"/>
            <a:r>
              <a:rPr lang="en-IN" sz="2000" dirty="0"/>
              <a:t>Review AI-generated SQL for incorrect joins, duplicated totals, NULL-related errors, unintended filtering and dialect incompatibility.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756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26C9-532A-D52D-F909-66AF2F99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Useful SQL Prompt Should Define…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E527-72B2-60A6-A79C-8D22F852B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Business question</a:t>
            </a:r>
            <a:r>
              <a:rPr lang="en-IN" sz="2400" dirty="0"/>
              <a:t>: what decision or analysis the query supports.</a:t>
            </a:r>
          </a:p>
          <a:p>
            <a:r>
              <a:rPr lang="en-IN" sz="2400" b="1" dirty="0"/>
              <a:t>Schema</a:t>
            </a:r>
            <a:r>
              <a:rPr lang="en-IN" sz="2400" dirty="0"/>
              <a:t>: exact table names, columns, types, keys and relationships.</a:t>
            </a:r>
          </a:p>
          <a:p>
            <a:r>
              <a:rPr lang="en-IN" sz="2400" b="1" dirty="0"/>
              <a:t>SQL dialect</a:t>
            </a:r>
            <a:r>
              <a:rPr lang="en-IN" sz="2400" dirty="0"/>
              <a:t>: for example, SQL Server, PostgreSQL, Snowflake or </a:t>
            </a:r>
            <a:r>
              <a:rPr lang="en-IN" sz="2400" dirty="0" err="1"/>
              <a:t>BigQuery</a:t>
            </a:r>
            <a:r>
              <a:rPr lang="en-IN" sz="2400" dirty="0"/>
              <a:t>.</a:t>
            </a:r>
          </a:p>
          <a:p>
            <a:r>
              <a:rPr lang="en-IN" sz="2400" b="1" dirty="0"/>
              <a:t>Grain</a:t>
            </a:r>
            <a:r>
              <a:rPr lang="en-IN" sz="2400" dirty="0"/>
              <a:t>: what one output row represents.</a:t>
            </a:r>
          </a:p>
          <a:p>
            <a:r>
              <a:rPr lang="en-IN" sz="2400" b="1" dirty="0"/>
              <a:t>Logic</a:t>
            </a:r>
            <a:r>
              <a:rPr lang="en-IN" sz="2400" dirty="0"/>
              <a:t>: joins, filters, grouping, calculations and date boundaries.</a:t>
            </a:r>
          </a:p>
          <a:p>
            <a:r>
              <a:rPr lang="en-IN" sz="2400" b="1" dirty="0"/>
              <a:t>Data semantics</a:t>
            </a:r>
            <a:r>
              <a:rPr lang="en-IN" sz="2400" dirty="0"/>
              <a:t>: NULLs, duplicates, currency, statuses and units.</a:t>
            </a:r>
          </a:p>
          <a:p>
            <a:r>
              <a:rPr lang="en-IN" sz="2400" b="1" dirty="0"/>
              <a:t>Output contract</a:t>
            </a:r>
            <a:r>
              <a:rPr lang="en-IN" sz="2400" dirty="0"/>
              <a:t>: required columns, sort order and expected format.</a:t>
            </a:r>
          </a:p>
          <a:p>
            <a:r>
              <a:rPr lang="en-IN" sz="2400" b="1" dirty="0"/>
              <a:t>Validation</a:t>
            </a:r>
            <a:r>
              <a:rPr lang="en-IN" sz="2400" dirty="0"/>
              <a:t>: sample cases, reconciliation checks and edge conditions.</a:t>
            </a:r>
          </a:p>
          <a:p>
            <a:r>
              <a:rPr lang="en-IN" sz="2400" b="1" dirty="0"/>
              <a:t>Restrictions</a:t>
            </a:r>
            <a:r>
              <a:rPr lang="en-IN" sz="2400" dirty="0"/>
              <a:t>: read-only SQL, no assumed columns, no invented business rules.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B03DA-1F88-BCA4-09BD-CBA39DF8AE81}"/>
              </a:ext>
            </a:extLst>
          </p:cNvPr>
          <p:cNvSpPr txBox="1"/>
          <p:nvPr/>
        </p:nvSpPr>
        <p:spPr>
          <a:xfrm>
            <a:off x="1689925" y="5992297"/>
            <a:ext cx="8812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Reusable SQL-Generation Prompt: Session_09_Reusable_SQL_Generation_Prompt.md</a:t>
            </a:r>
          </a:p>
        </p:txBody>
      </p:sp>
    </p:spTree>
    <p:extLst>
      <p:ext uri="{BB962C8B-B14F-4D97-AF65-F5344CB8AC3E}">
        <p14:creationId xmlns:p14="http://schemas.microsoft.com/office/powerpoint/2010/main" val="100169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28B0-8907-17FC-90D3-173CE963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Vague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F210-4732-1BD1-0FAA-004608EC6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vague prompt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85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5BF4-94C4-BF67-9B4A-5A285CD2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EF8B-71A4-8703-0DBB-6D096F06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</a:t>
            </a:r>
            <a:r>
              <a:rPr lang="en-IN" dirty="0"/>
              <a:t>Generate a pipeline analysis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935F0-2255-45A1-A30C-A44C6E6D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Use: sales_pipeline_300.csv</a:t>
            </a:r>
          </a:p>
          <a:p>
            <a:endParaRPr lang="en-IN" dirty="0"/>
          </a:p>
          <a:p>
            <a:r>
              <a:rPr lang="en-IN" dirty="0"/>
              <a:t>Generate a query that reports monthly performance by region and product.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78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2C15-3A6F-6E1F-A25C-A2F8A192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7DEF-2A11-9059-2B75-FA23EBA3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Demo 2: Advanced SQL, window functions and join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DC49-04F9-BAC4-ABDD-7B8AEAEA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Use: sales_pipeline_300.csv</a:t>
            </a:r>
          </a:p>
          <a:p>
            <a:endParaRPr lang="en-IN" dirty="0"/>
          </a:p>
          <a:p>
            <a:r>
              <a:rPr lang="en-IN" dirty="0"/>
              <a:t>Identify the highest-value pipeline record in each region, including 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36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2B2A-9FC9-4D45-44C3-B295C53B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1245-4470-076A-99F2-38BA9F05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Demo 3: Turn data-quality requirements into SQL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0888-25BE-A7EB-E5E6-853E2131F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Use: data_quality_exceptions_120.csv or data_quality_incidents_24.csv</a:t>
            </a:r>
          </a:p>
          <a:p>
            <a:endParaRPr lang="en-IN" dirty="0"/>
          </a:p>
          <a:p>
            <a:r>
              <a:rPr lang="en-IN" sz="2400" dirty="0"/>
              <a:t>Demonstrate three types of queries:</a:t>
            </a:r>
          </a:p>
          <a:p>
            <a:pPr lvl="1"/>
            <a:r>
              <a:rPr lang="en-IN" sz="2000" b="1" dirty="0"/>
              <a:t>Detection</a:t>
            </a:r>
            <a:r>
              <a:rPr lang="en-IN" sz="2000" dirty="0"/>
              <a:t>: find candidate records that violate a stated rule.</a:t>
            </a:r>
          </a:p>
          <a:p>
            <a:pPr lvl="1"/>
            <a:r>
              <a:rPr lang="en-IN" sz="2000" b="1" dirty="0"/>
              <a:t>Measurement</a:t>
            </a:r>
            <a:r>
              <a:rPr lang="en-IN" sz="2000" dirty="0"/>
              <a:t>: count and categorize exceptions.</a:t>
            </a:r>
          </a:p>
          <a:p>
            <a:pPr lvl="1"/>
            <a:r>
              <a:rPr lang="en-IN" sz="2000" b="1" dirty="0"/>
              <a:t>Verification</a:t>
            </a:r>
            <a:r>
              <a:rPr lang="en-IN" sz="2000" dirty="0"/>
              <a:t>: compare records before and after a proposed correction, without changing source data.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79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3630-03C8-42E0-C103-F1F8EC10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 lab: SQL Query Generation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B3FD-E518-4EB1-26AE-4BE2ED3A6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Payment Processing and Settlement</a:t>
            </a:r>
          </a:p>
          <a:p>
            <a:endParaRPr lang="en-IN" dirty="0"/>
          </a:p>
          <a:p>
            <a:r>
              <a:rPr lang="en-IN" dirty="0" err="1"/>
              <a:t>PayFlow</a:t>
            </a:r>
            <a:r>
              <a:rPr lang="en-IN" dirty="0"/>
              <a:t>: Synthetic payment data</a:t>
            </a:r>
          </a:p>
          <a:p>
            <a:endParaRPr lang="en-IN" dirty="0"/>
          </a:p>
          <a:p>
            <a:r>
              <a:rPr lang="en-IN" dirty="0"/>
              <a:t>Refer to: </a:t>
            </a:r>
            <a:r>
              <a:rPr lang="en-US" dirty="0" err="1"/>
              <a:t>MC_Data_Track</a:t>
            </a:r>
            <a:r>
              <a:rPr lang="en-US" dirty="0"/>
              <a:t>\Session_09_PayFlow_SQL_Lab_Pack</a:t>
            </a:r>
          </a:p>
          <a:p>
            <a:endParaRPr lang="en-US" dirty="0"/>
          </a:p>
          <a:p>
            <a:r>
              <a:rPr lang="en-US" dirty="0"/>
              <a:t>Scenario: PayFlow_Schema_and_Business_Context.md</a:t>
            </a:r>
          </a:p>
          <a:p>
            <a:endParaRPr lang="en-IN" dirty="0"/>
          </a:p>
          <a:p>
            <a:r>
              <a:rPr lang="en-IN" dirty="0"/>
              <a:t>30 minutes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03DC71-0613-72BD-F130-8055B64C2F92}"/>
              </a:ext>
            </a:extLst>
          </p:cNvPr>
          <p:cNvSpPr/>
          <p:nvPr/>
        </p:nvSpPr>
        <p:spPr>
          <a:xfrm>
            <a:off x="5638800" y="539750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3869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421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Master Class – Data Track</vt:lpstr>
      <vt:lpstr>SQL Generation and Data-Quality Engineering</vt:lpstr>
      <vt:lpstr>A Useful SQL Prompt Should Define…</vt:lpstr>
      <vt:lpstr>Vague Prompt</vt:lpstr>
      <vt:lpstr>Demo 1: Generate a pipeline analysis query</vt:lpstr>
      <vt:lpstr>Demo 2: Advanced SQL, window functions and join safety</vt:lpstr>
      <vt:lpstr>Demo 3: Turn data-quality requirements into SQL</vt:lpstr>
      <vt:lpstr>Hands-on lab: SQL Query Generation 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12</cp:revision>
  <dcterms:created xsi:type="dcterms:W3CDTF">2026-10-15T04:50:55Z</dcterms:created>
  <dcterms:modified xsi:type="dcterms:W3CDTF">2026-10-15T05:25:39Z</dcterms:modified>
</cp:coreProperties>
</file>