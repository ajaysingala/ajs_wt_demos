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3" r:id="rId19"/>
    <p:sldId id="284" r:id="rId20"/>
    <p:sldId id="273" r:id="rId21"/>
    <p:sldId id="274" r:id="rId22"/>
    <p:sldId id="276" r:id="rId23"/>
    <p:sldId id="277" r:id="rId24"/>
    <p:sldId id="278" r:id="rId25"/>
    <p:sldId id="279" r:id="rId26"/>
    <p:sldId id="281" r:id="rId27"/>
    <p:sldId id="282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3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C6FC1B-C662-4BB5-BF1B-41DBBE7F8DCE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F54DD-D86D-4D7D-B890-3CE97E8D0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96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681C-4770-4BB3-860E-1F6253F7231B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8DF85-F7F7-47D3-A9C1-393C23328502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5112-F086-42E9-890E-1C75CA2469A0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A87E-A275-4146-A496-D71093480677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89B00-6D15-4BE0-B0CF-2711944832A4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004A0-38EF-4565-93D3-A6DFB0D0F2C1}" type="datetime1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4F39A-CD75-43B2-A9FB-9F6E89C3F25F}" type="datetime1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601200" y="6356349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4CED-CCB4-4F7F-AB75-B54F1C604561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A14B-C671-4A50-8716-D9F5D84DB082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EE96-3B33-4BF6-A2AE-77B67157D4D9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77F1-DA39-46D7-A6DF-E7B8E6D3CFC2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6D029-43BC-4FC2-B54D-2DC052C31630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AI for Research, Synthesis</a:t>
            </a:r>
            <a:br/>
            <a:r>
              <a:t>&amp; Executive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1965960" cy="960120"/>
          </a:xfrm>
          <a:prstGeom prst="roundRect">
            <a:avLst/>
          </a:prstGeom>
          <a:solidFill>
            <a:srgbClr val="1C314C"/>
          </a:solidFill>
          <a:ln>
            <a:solidFill>
              <a:srgbClr val="41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886200"/>
            <a:ext cx="73152" cy="96012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050791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5079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7E1EB"/>
                </a:solidFill>
                <a:latin typeface="Aptos"/>
              </a:defRPr>
            </a:pPr>
            <a:r>
              <a:t>Find and extract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3886200"/>
            <a:ext cx="1965960" cy="960120"/>
          </a:xfrm>
          <a:prstGeom prst="roundRect">
            <a:avLst/>
          </a:prstGeom>
          <a:solidFill>
            <a:srgbClr val="1C314C"/>
          </a:solidFill>
          <a:ln>
            <a:solidFill>
              <a:srgbClr val="41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80360" y="3886200"/>
            <a:ext cx="73152" cy="960120"/>
          </a:xfrm>
          <a:prstGeom prst="rect">
            <a:avLst/>
          </a:prstGeom>
          <a:solidFill>
            <a:srgbClr val="2F6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4050791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SYNTHESIZE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5079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7E1EB"/>
                </a:solidFill>
                <a:latin typeface="Aptos"/>
              </a:defRPr>
            </a:pPr>
            <a:r>
              <a:t>Connect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3886200"/>
            <a:ext cx="1965960" cy="960120"/>
          </a:xfrm>
          <a:prstGeom prst="roundRect">
            <a:avLst/>
          </a:prstGeom>
          <a:solidFill>
            <a:srgbClr val="1C314C"/>
          </a:solidFill>
          <a:ln>
            <a:solidFill>
              <a:srgbClr val="41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0" y="3886200"/>
            <a:ext cx="73152" cy="960120"/>
          </a:xfrm>
          <a:prstGeom prst="rect">
            <a:avLst/>
          </a:prstGeom>
          <a:solidFill>
            <a:srgbClr val="DA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4050791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45079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7E1EB"/>
                </a:solidFill>
                <a:latin typeface="Aptos"/>
              </a:defRPr>
            </a:pPr>
            <a:r>
              <a:t>Test the 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3886200"/>
            <a:ext cx="1965960" cy="960120"/>
          </a:xfrm>
          <a:prstGeom prst="roundRect">
            <a:avLst/>
          </a:prstGeom>
          <a:solidFill>
            <a:srgbClr val="1C314C"/>
          </a:solidFill>
          <a:ln>
            <a:solidFill>
              <a:srgbClr val="41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78040" y="3886200"/>
            <a:ext cx="73152" cy="960120"/>
          </a:xfrm>
          <a:prstGeom prst="rect">
            <a:avLst/>
          </a:prstGeom>
          <a:solidFill>
            <a:srgbClr val="2F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4050791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COMMUNICATE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5079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7E1EB"/>
                </a:solidFill>
                <a:latin typeface="Aptos"/>
              </a:defRPr>
            </a:pPr>
            <a:r>
              <a:t>Adapt to audience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3886200"/>
            <a:ext cx="1965960" cy="960120"/>
          </a:xfrm>
          <a:prstGeom prst="roundRect">
            <a:avLst/>
          </a:prstGeom>
          <a:solidFill>
            <a:srgbClr val="1C314C"/>
          </a:solidFill>
          <a:ln>
            <a:solidFill>
              <a:srgbClr val="41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3886200"/>
            <a:ext cx="73152" cy="96012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5480" y="4050791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45079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D7E1EB"/>
                </a:solidFill>
                <a:latin typeface="Aptos"/>
              </a:defRPr>
            </a:pPr>
            <a:r>
              <a:t>Human judgment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46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5B4C0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B60B9AB-14C9-B33D-94B2-5C9D95D2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Today's Learning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76"/>
                </a:solidFill>
                <a:latin typeface="Aptos"/>
              </a:defRPr>
            </a:pPr>
            <a:r>
              <a:t>From information to a decision-ready briefing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011680" cy="20116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73152" cy="201168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E"/>
                </a:solidFill>
                <a:latin typeface="Aptos"/>
              </a:defRPr>
            </a:pPr>
            <a:r>
              <a:t>1 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Define the question and gather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874519"/>
            <a:ext cx="2011680" cy="20116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80" y="1874519"/>
            <a:ext cx="73152" cy="2011680"/>
          </a:xfrm>
          <a:prstGeom prst="rect">
            <a:avLst/>
          </a:prstGeom>
          <a:solidFill>
            <a:srgbClr val="2F6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2039112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E"/>
                </a:solidFill>
                <a:latin typeface="Aptos"/>
              </a:defRPr>
            </a:pPr>
            <a:r>
              <a:t>2  Synthesize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496312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Connect information across 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1874519"/>
            <a:ext cx="2011680" cy="20116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12080" y="1874519"/>
            <a:ext cx="73152" cy="2011680"/>
          </a:xfrm>
          <a:prstGeom prst="rect">
            <a:avLst/>
          </a:prstGeom>
          <a:solidFill>
            <a:srgbClr val="DA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0680" y="2039112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E"/>
                </a:solidFill>
                <a:latin typeface="Aptos"/>
              </a:defRPr>
            </a:pPr>
            <a:r>
              <a:t>3 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96312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Find contradictions, assumptions and gaps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874519"/>
            <a:ext cx="2011680" cy="20116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73152" cy="2011680"/>
          </a:xfrm>
          <a:prstGeom prst="rect">
            <a:avLst/>
          </a:prstGeom>
          <a:solidFill>
            <a:srgbClr val="2F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79" y="2039112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E"/>
                </a:solidFill>
                <a:latin typeface="Aptos"/>
              </a:defRPr>
            </a:pPr>
            <a:r>
              <a:t>4  Communicate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96312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Turn analysis into audience-specific 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874519"/>
            <a:ext cx="2011680" cy="20116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784080" y="1874519"/>
            <a:ext cx="73152" cy="201168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12680" y="2039112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E"/>
                </a:solidFill>
                <a:latin typeface="Aptos"/>
              </a:defRPr>
            </a:pPr>
            <a:r>
              <a:t>5  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496312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Decide what can safely be used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899E309-3BA3-8CDA-4F52-3236863F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What Does “Research with AI” Actually Mean?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92024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123444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E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What are we trying to understand?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192024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0" y="1828800"/>
            <a:ext cx="73152" cy="1234440"/>
          </a:xfrm>
          <a:prstGeom prst="rect">
            <a:avLst/>
          </a:prstGeom>
          <a:solidFill>
            <a:srgbClr val="2F6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199339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E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450592"/>
            <a:ext cx="15087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rPr lang="en-US" dirty="0"/>
              <a:t>Gather Evidence: </a:t>
            </a:r>
            <a:r>
              <a:rPr dirty="0"/>
              <a:t>What evidence is in bounds?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828800"/>
            <a:ext cx="192024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46320" y="1828800"/>
            <a:ext cx="73152" cy="1234440"/>
          </a:xfrm>
          <a:prstGeom prst="rect">
            <a:avLst/>
          </a:prstGeom>
          <a:solidFill>
            <a:srgbClr val="2F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199339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E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50592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rPr dirty="0"/>
              <a:t>What does the evidence say?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828800"/>
            <a:ext cx="192024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49440" y="1828800"/>
            <a:ext cx="73152" cy="1234440"/>
          </a:xfrm>
          <a:prstGeom prst="rect">
            <a:avLst/>
          </a:prstGeom>
          <a:solidFill>
            <a:srgbClr val="DA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199339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E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450592"/>
            <a:ext cx="1508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rPr dirty="0"/>
              <a:t>Where do sources agree or differ?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828800"/>
            <a:ext cx="192024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52560" y="1828800"/>
            <a:ext cx="73152" cy="123444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199339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E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450592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What is missing or uncertain?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886200"/>
            <a:ext cx="10424160" cy="1828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441"/>
                </a:solidFill>
                <a:latin typeface="Aptos"/>
              </a:defRPr>
            </a:pPr>
            <a:r>
              <a:t>AI can accelerate every step.</a:t>
            </a:r>
          </a:p>
          <a:p>
            <a:pPr>
              <a:spcAft>
                <a:spcPts val="1000"/>
              </a:spcAft>
              <a:defRPr sz="1800">
                <a:solidFill>
                  <a:srgbClr val="283441"/>
                </a:solidFill>
                <a:latin typeface="Aptos"/>
              </a:defRPr>
            </a:pPr>
            <a:r>
              <a:t>The quality of the evidence still matters.</a:t>
            </a:r>
          </a:p>
          <a:p>
            <a:pPr>
              <a:spcAft>
                <a:spcPts val="1000"/>
              </a:spcAft>
              <a:defRPr sz="1800">
                <a:solidFill>
                  <a:srgbClr val="283441"/>
                </a:solidFill>
                <a:latin typeface="Aptos"/>
              </a:defRPr>
            </a:pPr>
            <a:r>
              <a:t>The goal is not an AI answer. The goal is a better-informed human decision.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806DE6C-C304-2612-F187-4F8C0650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The Research Quality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3596640" cy="621792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792224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ptos"/>
              </a:defRPr>
            </a:pPr>
            <a:r>
              <a:t>Traditional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2440" y="1737360"/>
            <a:ext cx="3596640" cy="621792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6448" y="1792224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ptos"/>
              </a:defRPr>
            </a:pPr>
            <a:r>
              <a:t>Weak AI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79080" y="1737360"/>
            <a:ext cx="3596640" cy="621792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43088" y="1792224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ptos"/>
              </a:defRPr>
            </a:pPr>
            <a:r>
              <a:t>Controlled AI 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59152"/>
            <a:ext cx="3596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2440" y="2359152"/>
            <a:ext cx="3596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6448" y="2414016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Ask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79080" y="2359152"/>
            <a:ext cx="3596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43088" y="2414016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Define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980944"/>
            <a:ext cx="359664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035808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2440" y="2980944"/>
            <a:ext cx="359664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6448" y="3035808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Accept 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79080" y="2980944"/>
            <a:ext cx="359664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43088" y="3035808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Extract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602736"/>
            <a:ext cx="3596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657600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2440" y="3602736"/>
            <a:ext cx="3596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6448" y="3657600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Trust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79080" y="3602736"/>
            <a:ext cx="3596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43088" y="3657600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Compare sources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224528"/>
            <a:ext cx="359664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4279392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2440" y="4224528"/>
            <a:ext cx="359664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6448" y="4279392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Accept conclusions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79080" y="4224528"/>
            <a:ext cx="359664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43088" y="4279392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Challenge conclusions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846320"/>
            <a:ext cx="3596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" y="4901184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Write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82440" y="4846320"/>
            <a:ext cx="3596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46448" y="4901184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Copy / paste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79080" y="4846320"/>
            <a:ext cx="35966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43088" y="4901184"/>
            <a:ext cx="34686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Validate and communicate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522976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489"/>
                </a:solidFill>
                <a:latin typeface="Aptos Display"/>
              </a:defRPr>
            </a:pPr>
            <a:r>
              <a:rPr dirty="0"/>
              <a:t>AI should reduce research effort, not reduce research discipline.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B6F4D99-AB12-45EB-1F2C-861F7B2B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Source-Grounded vs Generic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33832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233E"/>
                </a:solidFill>
                <a:latin typeface="Aptos"/>
              </a:defRPr>
            </a:pPr>
            <a:r>
              <a:t>GENERIC AI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4800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441"/>
                </a:solidFill>
                <a:latin typeface="Aptos"/>
              </a:defRPr>
            </a:pPr>
            <a:r>
              <a:t>“What are the major risks of Generative AI in financial services?”</a:t>
            </a:r>
            <a:br/>
            <a:br/>
            <a:r>
              <a:t>Useful for exploration, but the source of individual claims is unclear.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12080" cy="33832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73152" cy="338328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9933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233E"/>
                </a:solidFill>
                <a:latin typeface="Aptos"/>
              </a:defRPr>
            </a:pPr>
            <a:r>
              <a:t>SOURCE-GROUNDED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50592"/>
            <a:ext cx="4800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441"/>
                </a:solidFill>
                <a:latin typeface="Aptos"/>
              </a:defRPr>
            </a:pPr>
            <a:r>
              <a:t>“Using only the documents provided, identify the GenAI risks explicitly described by WinTrust. Cite the supporting source and distinguish explicit statements from inference.”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0233E"/>
                </a:solidFill>
                <a:latin typeface="Aptos Display"/>
              </a:defRPr>
            </a:pPr>
            <a:r>
              <a:t>The prompt changes the evidence boundary.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27F342E-154C-E03D-97E7-BCEC44C7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The Evidence Ladder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356616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566160"/>
          </a:xfrm>
          <a:prstGeom prst="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E"/>
                </a:solidFill>
                <a:latin typeface="Aptos"/>
              </a:defRPr>
            </a:pPr>
            <a:r>
              <a:t>1  AI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210312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“What does AI know?”</a:t>
            </a:r>
            <a:br/>
            <a:br/>
            <a:r>
              <a:t>Useful for exploration.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514600" cy="356616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645920"/>
            <a:ext cx="73152" cy="35661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81051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E"/>
                </a:solidFill>
                <a:latin typeface="Aptos"/>
              </a:defRPr>
            </a:pPr>
            <a:r>
              <a:t>2  SOURCE-GROUNDED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67712"/>
            <a:ext cx="210312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“What does this document say?”</a:t>
            </a:r>
            <a:br/>
            <a:br/>
            <a:r>
              <a:t>Useful for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2514600" cy="356616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73152" cy="3566160"/>
          </a:xfrm>
          <a:prstGeom prst="rect">
            <a:avLst/>
          </a:prstGeom>
          <a:solidFill>
            <a:srgbClr val="2F6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81051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E"/>
                </a:solidFill>
                <a:latin typeface="Aptos"/>
              </a:defRPr>
            </a:pPr>
            <a:r>
              <a:t>3  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67712"/>
            <a:ext cx="210312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“What do these sources collectively tell us?”</a:t>
            </a:r>
            <a:br/>
            <a:br/>
            <a:r>
              <a:t>Useful for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645920"/>
            <a:ext cx="2514600" cy="356616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23960" y="1645920"/>
            <a:ext cx="73152" cy="3566160"/>
          </a:xfrm>
          <a:prstGeom prst="rect">
            <a:avLst/>
          </a:prstGeom>
          <a:solidFill>
            <a:srgbClr val="DA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181051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E"/>
                </a:solidFill>
                <a:latin typeface="Aptos"/>
              </a:defRPr>
            </a:pPr>
            <a:r>
              <a:t>4  DECISION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267712"/>
            <a:ext cx="210312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“What should we consider doing?”</a:t>
            </a:r>
            <a:br/>
            <a:br/>
            <a:r>
              <a:t>Useful, but requires human judgment.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E1DFEDE2-2B4F-1813-9FEB-1E1355478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Facts, Inferences, Recommendations &amp; Unknowns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3657600" cy="786384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746504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691640"/>
            <a:ext cx="3657600" cy="786384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15968" y="1746504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691640"/>
            <a:ext cx="3657600" cy="786384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3568" y="1746504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478024"/>
            <a:ext cx="36576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532888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FACT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478024"/>
            <a:ext cx="36576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5968" y="2532888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Directly supported by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2478024"/>
            <a:ext cx="36576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2532888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The source states that an approved AI platform is required.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264408"/>
            <a:ext cx="3657600" cy="786384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319272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INFERENCE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264408"/>
            <a:ext cx="3657600" cy="786384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15968" y="3319272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Reasonable interpretation of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3264408"/>
            <a:ext cx="3657600" cy="786384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73568" y="3319272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The control may reduce the likelihood of data leakage.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050791"/>
            <a:ext cx="36576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105655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4050791"/>
            <a:ext cx="36576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15968" y="4105655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Proposed action or response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4050791"/>
            <a:ext cx="36576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73568" y="4105655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Create a formal review step before external communication.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837176"/>
            <a:ext cx="3657600" cy="786384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4892040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UNKNOWN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4837176"/>
            <a:ext cx="3657600" cy="786384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15968" y="4892040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Information not available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4837176"/>
            <a:ext cx="3657600" cy="786384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73568" y="4892040"/>
            <a:ext cx="3529584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0">
                <a:solidFill>
                  <a:srgbClr val="283441"/>
                </a:solidFill>
                <a:latin typeface="Aptos"/>
              </a:defRPr>
            </a:pPr>
            <a:r>
              <a:t>The source does not specify the investment amount.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87568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84444"/>
                </a:solidFill>
                <a:latin typeface="Aptos Display"/>
              </a:defRPr>
            </a:pPr>
            <a:r>
              <a:t>A recommendation is not a fact simply because AI stated it confidently.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DC3311DF-DEF3-6715-04CF-D46B924F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The Research Prompt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A717BC1-FBC8-45EA-BD8E-EE19311C41C7}"/>
              </a:ext>
            </a:extLst>
          </p:cNvPr>
          <p:cNvGrpSpPr/>
          <p:nvPr/>
        </p:nvGrpSpPr>
        <p:grpSpPr>
          <a:xfrm>
            <a:off x="685800" y="1691640"/>
            <a:ext cx="10744200" cy="4023360"/>
            <a:chOff x="685800" y="1691640"/>
            <a:chExt cx="10744200" cy="402336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691640"/>
              <a:ext cx="5212080" cy="86868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685800" y="1691640"/>
              <a:ext cx="73152" cy="868680"/>
            </a:xfrm>
            <a:prstGeom prst="rect">
              <a:avLst/>
            </a:prstGeom>
            <a:solidFill>
              <a:srgbClr val="00848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1856232"/>
              <a:ext cx="48006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>
                  <a:solidFill>
                    <a:srgbClr val="10233E"/>
                  </a:solidFill>
                  <a:latin typeface="Aptos"/>
                </a:defRPr>
              </a:pPr>
              <a:r>
                <a:t>ROLE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2313432"/>
              <a:ext cx="4800600" cy="1371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283441"/>
                  </a:solidFill>
                  <a:latin typeface="Aptos"/>
                </a:defRPr>
              </a:pPr>
              <a:r>
                <a:t>Who should AI act as?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85800" y="2743200"/>
              <a:ext cx="5212080" cy="86868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85800" y="2743200"/>
              <a:ext cx="73152" cy="868680"/>
            </a:xfrm>
            <a:prstGeom prst="rect">
              <a:avLst/>
            </a:prstGeom>
            <a:solidFill>
              <a:srgbClr val="2F63A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2907792"/>
              <a:ext cx="48006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>
                  <a:solidFill>
                    <a:srgbClr val="10233E"/>
                  </a:solidFill>
                  <a:latin typeface="Aptos"/>
                </a:defRPr>
              </a:pPr>
              <a:r>
                <a:t>QUESTION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14400" y="3364992"/>
              <a:ext cx="4800600" cy="1371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283441"/>
                  </a:solidFill>
                  <a:latin typeface="Aptos"/>
                </a:defRPr>
              </a:pPr>
              <a:r>
                <a:t>What exactly are we trying to understand?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85800" y="3794760"/>
              <a:ext cx="5212080" cy="86868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5800" y="3794760"/>
              <a:ext cx="73152" cy="868680"/>
            </a:xfrm>
            <a:prstGeom prst="rect">
              <a:avLst/>
            </a:prstGeom>
            <a:solidFill>
              <a:srgbClr val="2F8B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4400" y="3959352"/>
              <a:ext cx="48006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>
                  <a:solidFill>
                    <a:srgbClr val="10233E"/>
                  </a:solidFill>
                  <a:latin typeface="Aptos"/>
                </a:defRPr>
              </a:pPr>
              <a:r>
                <a:t>SOURCES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4400" y="4416552"/>
              <a:ext cx="4800600" cy="1371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283441"/>
                  </a:solidFill>
                  <a:latin typeface="Aptos"/>
                </a:defRPr>
              </a:pPr>
              <a:r>
                <a:t>What evidence can it use?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85800" y="4846320"/>
              <a:ext cx="5212080" cy="86868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5800" y="4846320"/>
              <a:ext cx="73152" cy="868680"/>
            </a:xfrm>
            <a:prstGeom prst="rect">
              <a:avLst/>
            </a:prstGeom>
            <a:solidFill>
              <a:srgbClr val="DA853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14400" y="5010912"/>
              <a:ext cx="48006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>
                  <a:solidFill>
                    <a:srgbClr val="10233E"/>
                  </a:solidFill>
                  <a:latin typeface="Aptos"/>
                </a:defRPr>
              </a:pPr>
              <a:r>
                <a:t>SCOPE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4400" y="5468112"/>
              <a:ext cx="4800600" cy="1371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283441"/>
                  </a:solidFill>
                  <a:latin typeface="Aptos"/>
                </a:defRPr>
              </a:pPr>
              <a:r>
                <a:t>What is included and excluded?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217920" y="1691640"/>
              <a:ext cx="5212080" cy="86868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217920" y="1691640"/>
              <a:ext cx="73152" cy="868680"/>
            </a:xfrm>
            <a:prstGeom prst="rect">
              <a:avLst/>
            </a:prstGeom>
            <a:solidFill>
              <a:srgbClr val="B844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46520" y="1856232"/>
              <a:ext cx="48006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>
                  <a:solidFill>
                    <a:srgbClr val="10233E"/>
                  </a:solidFill>
                  <a:latin typeface="Aptos"/>
                </a:defRPr>
              </a:pPr>
              <a:r>
                <a:t>ANALYSIS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46520" y="2313432"/>
              <a:ext cx="4800600" cy="1371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283441"/>
                  </a:solidFill>
                  <a:latin typeface="Aptos"/>
                </a:defRPr>
              </a:pPr>
              <a:r>
                <a:t>What should it do with the information?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217920" y="2743200"/>
              <a:ext cx="5212080" cy="86868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217920" y="2743200"/>
              <a:ext cx="73152" cy="868680"/>
            </a:xfrm>
            <a:prstGeom prst="rect">
              <a:avLst/>
            </a:prstGeom>
            <a:solidFill>
              <a:srgbClr val="00848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446520" y="2907792"/>
              <a:ext cx="48006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>
                  <a:solidFill>
                    <a:srgbClr val="10233E"/>
                  </a:solidFill>
                  <a:latin typeface="Aptos"/>
                </a:defRPr>
              </a:pPr>
              <a:r>
                <a:t>EVIDENCE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46520" y="3364992"/>
              <a:ext cx="4800600" cy="1371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283441"/>
                  </a:solidFill>
                  <a:latin typeface="Aptos"/>
                </a:defRPr>
              </a:pPr>
              <a:r>
                <a:t>How should claims be supported?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217920" y="3794760"/>
              <a:ext cx="5212080" cy="86868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17920" y="3794760"/>
              <a:ext cx="73152" cy="868680"/>
            </a:xfrm>
            <a:prstGeom prst="rect">
              <a:avLst/>
            </a:prstGeom>
            <a:solidFill>
              <a:srgbClr val="2F63A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46520" y="3959352"/>
              <a:ext cx="48006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>
                  <a:solidFill>
                    <a:srgbClr val="10233E"/>
                  </a:solidFill>
                  <a:latin typeface="Aptos"/>
                </a:defRPr>
              </a:pPr>
              <a:r>
                <a:t>OUTPUT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446520" y="4416552"/>
              <a:ext cx="4800600" cy="1371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283441"/>
                  </a:solidFill>
                  <a:latin typeface="Aptos"/>
                </a:defRPr>
              </a:pPr>
              <a:r>
                <a:t>What structure should be produced?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217920" y="4846320"/>
              <a:ext cx="5212080" cy="86868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217920" y="4846320"/>
              <a:ext cx="73152" cy="868680"/>
            </a:xfrm>
            <a:prstGeom prst="rect">
              <a:avLst/>
            </a:prstGeom>
            <a:solidFill>
              <a:srgbClr val="B844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46520" y="5010912"/>
              <a:ext cx="48006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 b="1">
                  <a:solidFill>
                    <a:srgbClr val="10233E"/>
                  </a:solidFill>
                  <a:latin typeface="Aptos"/>
                </a:defRPr>
              </a:pPr>
              <a:r>
                <a:t>VALIDATION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446520" y="5468112"/>
              <a:ext cx="4800600" cy="1371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283441"/>
                  </a:solidFill>
                  <a:latin typeface="Aptos"/>
                </a:defRPr>
              </a:pPr>
              <a:r>
                <a:t>What should AI explicitly flag?</a:t>
              </a:r>
            </a:p>
          </p:txBody>
        </p:sp>
      </p:grp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09AA00EB-9307-253F-1597-EED6B736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0F8256-0A79-B619-3143-A65EAA4778F2}"/>
              </a:ext>
            </a:extLst>
          </p:cNvPr>
          <p:cNvSpPr txBox="1"/>
          <p:nvPr/>
        </p:nvSpPr>
        <p:spPr>
          <a:xfrm>
            <a:off x="3147822" y="1122408"/>
            <a:ext cx="6140196" cy="53963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 as a [role].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endParaRPr lang="en-IN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 only [specified sources], </a:t>
            </a:r>
            <a:r>
              <a:rPr lang="en-IN" sz="1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[topic].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endParaRPr lang="en-IN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objectives are: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1. ...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2. ...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3. ...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endParaRPr lang="en-IN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every material conclusion: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cite the supporting source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distinguish Fact from Inference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identify missing information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endParaRPr lang="en-IN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 not invent facts.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endParaRPr lang="en-IN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Present the result as [output format].</a:t>
            </a:r>
            <a:endParaRPr lang="en-IN" sz="1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" dur="indefinite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Demo 1: Source-Grounded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76"/>
                </a:solidFill>
                <a:latin typeface="Aptos"/>
              </a:defRPr>
            </a:pPr>
            <a:r>
              <a:t>Use the supplied WinTrust security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12080" cy="347472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73152" cy="347472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233E"/>
                </a:solidFill>
                <a:latin typeface="Aptos"/>
              </a:defRPr>
            </a:pPr>
            <a:r>
              <a:t>BAD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4800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“Tell me about the security risks of GenAI.”</a:t>
            </a:r>
            <a:br/>
            <a:br/>
            <a:r>
              <a:t>Ask participants:</a:t>
            </a:r>
            <a:br/>
            <a:r>
              <a:t>• Where did the claims come from?</a:t>
            </a:r>
            <a:br/>
            <a:r>
              <a:t>• Which claims are WinTrust-specific?</a:t>
            </a:r>
            <a:br/>
            <a:r>
              <a:t>• What could be missing?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212080" cy="347472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73152" cy="347472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019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233E"/>
                </a:solidFill>
                <a:latin typeface="Aptos"/>
              </a:defRPr>
            </a:pPr>
            <a:r>
              <a:t>INPUT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9152"/>
            <a:ext cx="4800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WinTrust_GenAI_Security_Guidelines.docx</a:t>
            </a:r>
            <a:br/>
            <a:r>
              <a:t>WinTrust_Malicious_Operations_Note.docx</a:t>
            </a:r>
            <a:br/>
            <a:br/>
            <a:r>
              <a:t>Use these as the evidence boundary.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C63075F-4FB2-1C0E-3FAF-ECBF9D6A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59043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rPr dirty="0"/>
              <a:t>Demo 1</a:t>
            </a:r>
            <a:r>
              <a:rPr lang="en-US" dirty="0"/>
              <a:t>A</a:t>
            </a:r>
            <a:r>
              <a:rPr dirty="0"/>
              <a:t>: Improved Research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27080" cy="4709160"/>
          </a:xfrm>
          <a:prstGeom prst="roundRect">
            <a:avLst/>
          </a:prstGeom>
          <a:solidFill>
            <a:srgbClr val="192330"/>
          </a:solidFill>
          <a:ln>
            <a:solidFill>
              <a:srgbClr val="3C4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4698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1EBF2"/>
                </a:solidFill>
                <a:latin typeface="Cascadia Mono"/>
              </a:defRPr>
            </a:pPr>
            <a:r>
              <a:rPr dirty="0"/>
              <a:t>Act as an enterprise AI risk analyst.</a:t>
            </a:r>
            <a:br>
              <a:rPr dirty="0"/>
            </a:br>
            <a:br>
              <a:rPr dirty="0"/>
            </a:br>
            <a:r>
              <a:rPr dirty="0"/>
              <a:t>Using only:</a:t>
            </a:r>
            <a:br>
              <a:rPr dirty="0"/>
            </a:br>
            <a:r>
              <a:rPr dirty="0"/>
              <a:t>1. WinTrust_GenAI_Security_Guidelines.docx</a:t>
            </a:r>
            <a:br>
              <a:rPr dirty="0"/>
            </a:br>
            <a:r>
              <a:rPr dirty="0"/>
              <a:t>2. WinTrust_Malicious_Operations_Note.docx</a:t>
            </a:r>
            <a:br>
              <a:rPr dirty="0"/>
            </a:br>
            <a:br>
              <a:rPr dirty="0"/>
            </a:br>
            <a:r>
              <a:rPr dirty="0"/>
              <a:t>Identify security risks and control considerations.</a:t>
            </a:r>
            <a:br>
              <a:rPr dirty="0"/>
            </a:br>
            <a:br>
              <a:rPr dirty="0"/>
            </a:br>
            <a:r>
              <a:rPr dirty="0"/>
              <a:t>For each item provide:</a:t>
            </a:r>
            <a:br>
              <a:rPr dirty="0"/>
            </a:br>
            <a:r>
              <a:rPr dirty="0"/>
              <a:t>• Risk</a:t>
            </a:r>
            <a:br>
              <a:rPr dirty="0"/>
            </a:br>
            <a:r>
              <a:rPr dirty="0"/>
              <a:t>• Evidence</a:t>
            </a:r>
            <a:br>
              <a:rPr dirty="0"/>
            </a:br>
            <a:r>
              <a:rPr dirty="0"/>
              <a:t>• Source document</a:t>
            </a:r>
            <a:br>
              <a:rPr dirty="0"/>
            </a:br>
            <a:r>
              <a:rPr dirty="0"/>
              <a:t>• Why it matters</a:t>
            </a:r>
            <a:br>
              <a:rPr dirty="0"/>
            </a:br>
            <a:r>
              <a:rPr dirty="0"/>
              <a:t>• Recommended control</a:t>
            </a:r>
            <a:br>
              <a:rPr dirty="0"/>
            </a:br>
            <a:r>
              <a:rPr dirty="0"/>
              <a:t>• Classification: Fact / Inference / Recommendation / Unknown</a:t>
            </a:r>
            <a:br>
              <a:rPr dirty="0"/>
            </a:br>
            <a:br>
              <a:rPr dirty="0"/>
            </a:br>
            <a:r>
              <a:rPr dirty="0"/>
              <a:t>Rules:</a:t>
            </a:r>
            <a:br>
              <a:rPr dirty="0"/>
            </a:br>
            <a:r>
              <a:rPr dirty="0"/>
              <a:t>• Do not use external knowledge.</a:t>
            </a:r>
            <a:br>
              <a:rPr dirty="0"/>
            </a:br>
            <a:r>
              <a:rPr dirty="0"/>
              <a:t>• Do not invent policies or controls.</a:t>
            </a:r>
            <a:br>
              <a:rPr dirty="0"/>
            </a:br>
            <a:r>
              <a:rPr dirty="0"/>
              <a:t>• If information is missing, say so.</a:t>
            </a:r>
            <a:br>
              <a:rPr dirty="0"/>
            </a:br>
            <a:r>
              <a:rPr dirty="0"/>
              <a:t>• Separate source evidence from interpretation.</a:t>
            </a:r>
            <a:br>
              <a:rPr dirty="0"/>
            </a:br>
            <a:br>
              <a:rPr dirty="0"/>
            </a:br>
            <a:r>
              <a:rPr dirty="0"/>
              <a:t>End with: “Information Missing from the Sources”.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873992-E26C-4C41-B1CB-65003FEA6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60422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rPr dirty="0"/>
              <a:t>Demo 1</a:t>
            </a:r>
            <a:r>
              <a:rPr lang="en-US" dirty="0"/>
              <a:t>B</a:t>
            </a:r>
            <a:r>
              <a:rPr dirty="0"/>
              <a:t>: The Unsupported Claim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07040" cy="3291840"/>
          </a:xfrm>
          <a:prstGeom prst="roundRect">
            <a:avLst/>
          </a:prstGeom>
          <a:solidFill>
            <a:srgbClr val="192330"/>
          </a:solidFill>
          <a:ln>
            <a:solidFill>
              <a:srgbClr val="3C4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1EBF2"/>
                </a:solidFill>
                <a:latin typeface="Cascadia Mono"/>
              </a:defRPr>
            </a:pPr>
            <a:r>
              <a:t>Based on the same documents, determine whether WinTrust should allocate</a:t>
            </a:r>
            <a:br/>
            <a:r>
              <a:t>$5 million to a Generative AI security program in 2026.</a:t>
            </a:r>
            <a:br/>
            <a:br/>
            <a:r>
              <a:t>Provide:</a:t>
            </a:r>
            <a:br/>
            <a:r>
              <a:t>• evidence supporting the investment</a:t>
            </a:r>
            <a:br/>
            <a:r>
              <a:t>• evidence against the investment</a:t>
            </a:r>
            <a:br/>
            <a:r>
              <a:t>• assumptions required</a:t>
            </a:r>
            <a:br/>
            <a:r>
              <a:t>• missing information</a:t>
            </a:r>
            <a:br/>
            <a:r>
              <a:t>• recommendation</a:t>
            </a:r>
            <a:br/>
            <a:br/>
            <a:r>
              <a:t>Do not invent a business case if the source material does not contain</a:t>
            </a:r>
            <a:br/>
            <a:r>
              <a:t>budget, ROI, risk quantification, or cost-benefit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57800"/>
            <a:ext cx="10241280" cy="68580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5257800"/>
            <a:ext cx="73152" cy="685800"/>
          </a:xfrm>
          <a:prstGeom prst="rect">
            <a:avLst/>
          </a:prstGeom>
          <a:solidFill>
            <a:srgbClr val="DA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5422392"/>
            <a:ext cx="9829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E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715000"/>
            <a:ext cx="98298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rPr dirty="0"/>
              <a:t>A good AI answer can say: “There is not enough evidence to answer this.”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C5B0AC3-1DD1-DC98-66E0-F07E90F0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Demo 2: Multi-Document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246120" cy="329184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329184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E"/>
                </a:solidFill>
                <a:latin typeface="Aptos"/>
              </a:defRPr>
            </a:pPr>
            <a:r>
              <a:t>SOURCE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28346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WinTrust_CEO_Strategy_Briefing_Source.docx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645920"/>
            <a:ext cx="3246120" cy="329184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645920"/>
            <a:ext cx="73152" cy="3291840"/>
          </a:xfrm>
          <a:prstGeom prst="rect">
            <a:avLst/>
          </a:prstGeom>
          <a:solidFill>
            <a:srgbClr val="2F6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81051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E"/>
                </a:solidFill>
                <a:latin typeface="Aptos"/>
              </a:defRPr>
            </a:pPr>
            <a:r>
              <a:t>SOURCE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67712"/>
            <a:ext cx="28346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WinTrust_GenAI_Security_Guidelines.docx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645920"/>
            <a:ext cx="3246120" cy="329184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1645920"/>
            <a:ext cx="73152" cy="329184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181051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E"/>
                </a:solidFill>
                <a:latin typeface="Aptos"/>
              </a:defRPr>
            </a:pPr>
            <a:r>
              <a:t>SOURCE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267712"/>
            <a:ext cx="28346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WinTrust_Malicious_Operations_Note.docx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233E"/>
                </a:solidFill>
                <a:latin typeface="Aptos Display"/>
              </a:defRPr>
            </a:pPr>
            <a:r>
              <a:t>The task is not “summarize three documents.” It is “synthesize the evidence.”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6E24E5E-7965-2B08-A947-2D394E35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Demo 2: Multi-Document Synthesis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27080" cy="4663440"/>
          </a:xfrm>
          <a:prstGeom prst="roundRect">
            <a:avLst/>
          </a:prstGeom>
          <a:solidFill>
            <a:srgbClr val="192330"/>
          </a:solidFill>
          <a:ln>
            <a:solidFill>
              <a:srgbClr val="3C4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46988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E1EBF2"/>
                </a:solidFill>
                <a:latin typeface="Cascadia Mono"/>
              </a:defRPr>
            </a:pPr>
            <a:r>
              <a:t>Analyze the three supplied WinTrust documents together.</a:t>
            </a:r>
            <a:br/>
            <a:br/>
            <a:r>
              <a:t>Create a cross-document synthesis with:</a:t>
            </a:r>
            <a:br/>
            <a:r>
              <a:t>1. Strategic priorities</a:t>
            </a:r>
            <a:br/>
            <a:r>
              <a:t>2. Opportunities</a:t>
            </a:r>
            <a:br/>
            <a:r>
              <a:t>3. Risks</a:t>
            </a:r>
            <a:br/>
            <a:r>
              <a:t>4. Constraints</a:t>
            </a:r>
            <a:br/>
            <a:r>
              <a:t>5. Areas of agreement</a:t>
            </a:r>
            <a:br/>
            <a:r>
              <a:t>6. Areas of tension or conflict</a:t>
            </a:r>
            <a:br/>
            <a:r>
              <a:t>7. Important assumptions</a:t>
            </a:r>
            <a:br/>
            <a:r>
              <a:t>8. Missing information</a:t>
            </a:r>
            <a:br/>
            <a:r>
              <a:t>9. Questions leadership should resolve</a:t>
            </a:r>
            <a:br/>
            <a:br/>
            <a:r>
              <a:t>For every material point:</a:t>
            </a:r>
            <a:br/>
            <a:r>
              <a:t>• identify the source</a:t>
            </a:r>
            <a:br/>
            <a:r>
              <a:t>• distinguish Fact from Inference</a:t>
            </a:r>
            <a:br/>
            <a:r>
              <a:t>• do not merge separate statements into a single fact</a:t>
            </a:r>
            <a:br/>
            <a:br/>
            <a:r>
              <a:t>Do not recommend a course of action until the evidence has been synthesized.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908FEA-D260-454F-6B69-D8A41AFC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Why Multi-Document Synthesis Is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92024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132588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E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15087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Find relevant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192024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0" y="1828800"/>
            <a:ext cx="73152" cy="1325880"/>
          </a:xfrm>
          <a:prstGeom prst="rect">
            <a:avLst/>
          </a:prstGeom>
          <a:solidFill>
            <a:srgbClr val="2F6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199339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E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450592"/>
            <a:ext cx="15087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Relate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828800"/>
            <a:ext cx="192024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00600" y="1828800"/>
            <a:ext cx="73152" cy="1325880"/>
          </a:xfrm>
          <a:prstGeom prst="rect">
            <a:avLst/>
          </a:prstGeom>
          <a:solidFill>
            <a:srgbClr val="2F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199339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E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450592"/>
            <a:ext cx="15087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Preserve meaning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828800"/>
            <a:ext cx="192024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0" y="1828800"/>
            <a:ext cx="73152" cy="1325880"/>
          </a:xfrm>
          <a:prstGeom prst="rect">
            <a:avLst/>
          </a:prstGeom>
          <a:solidFill>
            <a:srgbClr val="DA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199339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E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450592"/>
            <a:ext cx="15087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Find conflicts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1828800"/>
            <a:ext cx="1920240" cy="132588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15400" y="1828800"/>
            <a:ext cx="73152" cy="132588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1993392"/>
            <a:ext cx="1508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33E"/>
                </a:solidFill>
                <a:latin typeface="Aptos"/>
              </a:defRPr>
            </a:pPr>
            <a:r>
              <a:t>COMMUNICATE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450592"/>
            <a:ext cx="15087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441"/>
                </a:solidFill>
                <a:latin typeface="Aptos"/>
              </a:defRPr>
            </a:pPr>
            <a:r>
              <a:t>Tell the right 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3192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84444"/>
                </a:solidFill>
                <a:latin typeface="Aptos Display"/>
              </a:defRPr>
            </a:pPr>
            <a:r>
              <a:t>Coherence is not evidence.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6E447F0-EE0C-6F0B-B7D9-1736DE52E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Demo 3: Find the Contradictions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4800600"/>
          </a:xfrm>
          <a:prstGeom prst="roundRect">
            <a:avLst/>
          </a:prstGeom>
          <a:solidFill>
            <a:srgbClr val="192330"/>
          </a:solidFill>
          <a:ln>
            <a:solidFill>
              <a:srgbClr val="3C4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10469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1EBF2"/>
                </a:solidFill>
                <a:latin typeface="Cascadia Mono"/>
              </a:defRPr>
            </a:pPr>
            <a:r>
              <a:t>Review all supplied documents as a critical analyst.</a:t>
            </a:r>
            <a:br/>
            <a:br/>
            <a:r>
              <a:t>Identify statements that:</a:t>
            </a:r>
            <a:br/>
            <a:r>
              <a:t>1. directly contradict each other</a:t>
            </a:r>
            <a:br/>
            <a:r>
              <a:t>2. appear inconsistent</a:t>
            </a:r>
            <a:br/>
            <a:r>
              <a:t>3. use different definitions for the same concept</a:t>
            </a:r>
            <a:br/>
            <a:r>
              <a:t>4. describe different priorities</a:t>
            </a:r>
            <a:br/>
            <a:r>
              <a:t>5. contain assumptions that may conflict</a:t>
            </a:r>
            <a:br/>
            <a:br/>
            <a:r>
              <a:t>For each potential conflict provide:</a:t>
            </a:r>
            <a:br/>
            <a:r>
              <a:t>• Source A and position</a:t>
            </a:r>
            <a:br/>
            <a:r>
              <a:t>• Source B and position</a:t>
            </a:r>
            <a:br/>
            <a:r>
              <a:t>• Nature of conflict</a:t>
            </a:r>
            <a:br/>
            <a:r>
              <a:t>• Explicit or inferred?</a:t>
            </a:r>
            <a:br/>
            <a:r>
              <a:t>• Why it matters</a:t>
            </a:r>
            <a:br/>
            <a:r>
              <a:t>• Question a human should resolve</a:t>
            </a:r>
            <a:br/>
            <a:br/>
            <a:r>
              <a:t>Do not resolve the conflict unless the documents provide enough evidence.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ECEFDD-B360-2DA0-D190-FB9C1934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Demo 4: Find What Is Missing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61320" cy="3977639"/>
          </a:xfrm>
          <a:prstGeom prst="roundRect">
            <a:avLst/>
          </a:prstGeom>
          <a:solidFill>
            <a:srgbClr val="192330"/>
          </a:solidFill>
          <a:ln>
            <a:solidFill>
              <a:srgbClr val="3C4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104120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1EBF2"/>
                </a:solidFill>
                <a:latin typeface="Cascadia Mono"/>
              </a:defRPr>
            </a:pPr>
            <a:r>
              <a:rPr dirty="0"/>
              <a:t>Review the supplied documents as if you were preparing a briefing</a:t>
            </a:r>
            <a:br>
              <a:rPr dirty="0"/>
            </a:br>
            <a:r>
              <a:rPr dirty="0"/>
              <a:t>for senior leadership.</a:t>
            </a:r>
            <a:br>
              <a:rPr dirty="0"/>
            </a:br>
            <a:br>
              <a:rPr dirty="0"/>
            </a:br>
            <a:r>
              <a:rPr dirty="0"/>
              <a:t>Identify information that is missing but could materially change</a:t>
            </a:r>
            <a:br>
              <a:rPr dirty="0"/>
            </a:br>
            <a:r>
              <a:rPr dirty="0"/>
              <a:t>the analysis.</a:t>
            </a:r>
            <a:br>
              <a:rPr dirty="0"/>
            </a:br>
            <a:br>
              <a:rPr dirty="0"/>
            </a:br>
            <a:r>
              <a:rPr dirty="0"/>
              <a:t>Create a table with:</a:t>
            </a:r>
            <a:br>
              <a:rPr dirty="0"/>
            </a:br>
            <a:r>
              <a:rPr lang="en-IN" sz="1250" dirty="0">
                <a:solidFill>
                  <a:srgbClr val="E1EBF2"/>
                </a:solidFill>
                <a:latin typeface="Cascadia Mono"/>
              </a:rPr>
              <a:t>| Missing information | Why it matters | Decision affected | How to obtain it |</a:t>
            </a:r>
          </a:p>
          <a:p>
            <a:pPr>
              <a:defRPr sz="1250">
                <a:solidFill>
                  <a:srgbClr val="E1EBF2"/>
                </a:solidFill>
                <a:latin typeface="Cascadia Mono"/>
              </a:defRPr>
            </a:pPr>
            <a:br>
              <a:rPr dirty="0"/>
            </a:br>
            <a:r>
              <a:rPr dirty="0"/>
              <a:t>Prioritize each gap as:</a:t>
            </a:r>
            <a:br>
              <a:rPr dirty="0"/>
            </a:br>
            <a:r>
              <a:rPr dirty="0"/>
              <a:t>• Critical</a:t>
            </a:r>
            <a:br>
              <a:rPr dirty="0"/>
            </a:br>
            <a:r>
              <a:rPr dirty="0"/>
              <a:t>• Important</a:t>
            </a:r>
            <a:br>
              <a:rPr dirty="0"/>
            </a:br>
            <a:r>
              <a:rPr dirty="0"/>
              <a:t>• Useful</a:t>
            </a:r>
            <a:br>
              <a:rPr dirty="0"/>
            </a:br>
            <a:br>
              <a:rPr dirty="0"/>
            </a:br>
            <a:r>
              <a:rPr dirty="0"/>
              <a:t>Do not invent the missing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715000"/>
            <a:ext cx="1005840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" y="5715000"/>
            <a:ext cx="73152" cy="50292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5879592"/>
            <a:ext cx="9646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33E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573" y="5939224"/>
            <a:ext cx="96469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3441"/>
                </a:solidFill>
                <a:latin typeface="Aptos"/>
              </a:defRPr>
            </a:pPr>
            <a:r>
              <a:rPr dirty="0"/>
              <a:t>AI can be used as a research-gap detector, not just a summarizer.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5CB8076-8C84-201C-00F9-88B717C55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Research Is Not the Same as Summarization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349240" cy="658368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700784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1645920"/>
            <a:ext cx="5349240" cy="658368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44768" y="1700784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ptos"/>
              </a:defRPr>
            </a:pPr>
            <a:r>
              <a:t>Question AI should 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04288"/>
            <a:ext cx="5349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359152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Summarization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2304288"/>
            <a:ext cx="5349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2359152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What does this document say?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62656"/>
            <a:ext cx="53492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3017520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2962656"/>
            <a:ext cx="53492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44768" y="3017520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What do I need to know?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21024"/>
            <a:ext cx="5349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675887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9" y="3621024"/>
            <a:ext cx="5349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3675887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What does the evidence suggest?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279392"/>
            <a:ext cx="53492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4334255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59" y="4279392"/>
            <a:ext cx="5349240" cy="658368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4768" y="4334255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What should we consider doing?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937759"/>
            <a:ext cx="5349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4992623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59" y="4937759"/>
            <a:ext cx="5349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44768" y="4992623"/>
            <a:ext cx="52212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283441"/>
                </a:solidFill>
                <a:latin typeface="Aptos"/>
              </a:defRPr>
            </a:pPr>
            <a:r>
              <a:t>How should this be presented to this audience?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41447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489"/>
                </a:solidFill>
                <a:latin typeface="Aptos Display"/>
              </a:defRPr>
            </a:pPr>
            <a:r>
              <a:rPr dirty="0"/>
              <a:t>Each task requires a different prompt.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6FAAA236-014D-D10D-1F4D-5EB4F280C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95C5A-A537-2635-0994-E40534F18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078E59-E9A8-7DC9-E67E-8AF9FC0DAC7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EDB76-7A3A-86F1-F326-11CFB2E05AF5}"/>
              </a:ext>
            </a:extLst>
          </p:cNvPr>
          <p:cNvSpPr txBox="1"/>
          <p:nvPr/>
        </p:nvSpPr>
        <p:spPr>
          <a:xfrm>
            <a:off x="594360" y="658368"/>
            <a:ext cx="36901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rPr lang="en-US" dirty="0"/>
              <a:t>Track Specific Prompts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A68AAE-BBAB-4080-A25A-50E96210EDD8}"/>
              </a:ext>
            </a:extLst>
          </p:cNvPr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DC567-2E7B-3D34-AE96-71E4E84C6097}"/>
              </a:ext>
            </a:extLst>
          </p:cNvPr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39FED3-D944-03F8-16E0-E486635A99E0}"/>
              </a:ext>
            </a:extLst>
          </p:cNvPr>
          <p:cNvSpPr/>
          <p:nvPr/>
        </p:nvSpPr>
        <p:spPr>
          <a:xfrm>
            <a:off x="822960" y="1645920"/>
            <a:ext cx="10561320" cy="3977639"/>
          </a:xfrm>
          <a:prstGeom prst="roundRect">
            <a:avLst/>
          </a:prstGeom>
          <a:solidFill>
            <a:srgbClr val="192330"/>
          </a:solidFill>
          <a:ln>
            <a:solidFill>
              <a:srgbClr val="3C4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299E3-4976-A05C-548B-E6ADDA074A5F}"/>
              </a:ext>
            </a:extLst>
          </p:cNvPr>
          <p:cNvSpPr txBox="1"/>
          <p:nvPr/>
        </p:nvSpPr>
        <p:spPr>
          <a:xfrm>
            <a:off x="1051560" y="1828800"/>
            <a:ext cx="101041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Data Track Prompt: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Rewrite the briefing for a Chief Data Officer. Emphasize data quality, data ownership, analytical reliability, data-product opportunities and controls. Do not introduce technical recommendations unless they affect a business decision.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Enterprise Ops Prompt: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Rewrite the briefing for a COO. Emphasize operational resilience, incident management, productivity opportunities, runbook opportunities, operational risk and human-control requirements.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3366A64-5823-B606-7CFF-2E9E0C28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1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3D1D-BE94-213E-050E-22187ECED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ED73A7-F78A-67A2-6C63-A3E7B4F997DA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3F9CF1-A3E0-AE32-579D-5CA2CFCC7F54}"/>
              </a:ext>
            </a:extLst>
          </p:cNvPr>
          <p:cNvSpPr txBox="1"/>
          <p:nvPr/>
        </p:nvSpPr>
        <p:spPr>
          <a:xfrm>
            <a:off x="594360" y="658368"/>
            <a:ext cx="34531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rPr lang="en-US" dirty="0"/>
              <a:t>GitHub Copilot Demo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66215C-2C69-4355-0D96-6A63E35AC085}"/>
              </a:ext>
            </a:extLst>
          </p:cNvPr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1564F-F22A-78D2-E299-EFB48D347539}"/>
              </a:ext>
            </a:extLst>
          </p:cNvPr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7EE6A32-A813-B56B-ECE2-6AD60517D059}"/>
              </a:ext>
            </a:extLst>
          </p:cNvPr>
          <p:cNvSpPr/>
          <p:nvPr/>
        </p:nvSpPr>
        <p:spPr>
          <a:xfrm>
            <a:off x="822960" y="1645920"/>
            <a:ext cx="10561320" cy="3977639"/>
          </a:xfrm>
          <a:prstGeom prst="roundRect">
            <a:avLst/>
          </a:prstGeom>
          <a:solidFill>
            <a:srgbClr val="192330"/>
          </a:solidFill>
          <a:ln>
            <a:solidFill>
              <a:srgbClr val="3C4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1B1B0-A081-1C13-B5E8-1B40A2524C1A}"/>
              </a:ext>
            </a:extLst>
          </p:cNvPr>
          <p:cNvSpPr txBox="1"/>
          <p:nvPr/>
        </p:nvSpPr>
        <p:spPr>
          <a:xfrm>
            <a:off x="1051560" y="1828800"/>
            <a:ext cx="101041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Use WinTrust_Executive_Briefing_Draft.md.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Prompt: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Review this executive briefing for unsupported claims, ambiguous wording, repetition and missing evidence. Suggest edits but preserve the author's intent.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07BB09C-1B00-08EB-0BA5-0DE82FD0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3949AC-8AE3-993C-31AD-0905DDD989CB}"/>
              </a:ext>
            </a:extLst>
          </p:cNvPr>
          <p:cNvSpPr txBox="1"/>
          <p:nvPr/>
        </p:nvSpPr>
        <p:spPr>
          <a:xfrm>
            <a:off x="822960" y="5641447"/>
            <a:ext cx="39701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489"/>
                </a:solidFill>
                <a:latin typeface="Aptos Display"/>
              </a:defRPr>
            </a:pPr>
            <a:r>
              <a:rPr lang="en-IN" sz="2000" b="1" dirty="0">
                <a:solidFill>
                  <a:srgbClr val="008489"/>
                </a:solidFill>
                <a:latin typeface="Aptos Display"/>
              </a:rPr>
              <a:t>GitHub Copilot is not only for code.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7540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Hands-on Lab: AI Research Analyst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57800" cy="352044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352044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48463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441"/>
                </a:solidFill>
                <a:latin typeface="Aptos"/>
              </a:defRPr>
            </a:pPr>
            <a:r>
              <a:t>What should a senior WinTrust leader understand about the opportunities, risks and constraints associated with Generative AI?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257800" cy="352044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73152" cy="3520440"/>
          </a:xfrm>
          <a:prstGeom prst="rect">
            <a:avLst/>
          </a:prstGeom>
          <a:solidFill>
            <a:srgbClr val="2F6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REQUIRED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67712"/>
            <a:ext cx="48463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1. WinTrust_CEO_Strategy_Briefing_Source.docx</a:t>
            </a:r>
            <a:br/>
            <a:r>
              <a:t>2. WinTrust_GenAI_Security_Guidelines.docx</a:t>
            </a:r>
            <a:br/>
            <a:r>
              <a:t>3. WinTrust_Malicious_Operations_Note.docx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0233E"/>
                </a:solidFill>
                <a:latin typeface="Aptos"/>
              </a:defRPr>
            </a:pPr>
            <a:r>
              <a:t>Deliver: evidence → synthesis → challenge → executive briefing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208AB8A-F094-0B0B-8768-DF6B852C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7F54CE-8AD4-AB5B-33E0-FD3765509DF3}"/>
              </a:ext>
            </a:extLst>
          </p:cNvPr>
          <p:cNvSpPr txBox="1"/>
          <p:nvPr/>
        </p:nvSpPr>
        <p:spPr>
          <a:xfrm>
            <a:off x="914400" y="5897880"/>
            <a:ext cx="10241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647180"/>
                </a:solidFill>
                <a:latin typeface="Aptos"/>
              </a:defRPr>
            </a:pPr>
            <a:r>
              <a:rPr dirty="0"/>
              <a:t>Open: </a:t>
            </a:r>
            <a:r>
              <a:rPr lang="en-IN" dirty="0" err="1"/>
              <a:t>Participant_Handouts</a:t>
            </a:r>
            <a:r>
              <a:rPr lang="en-IN" dirty="0"/>
              <a:t>/Session_02_Executive_Synthesis</a:t>
            </a:r>
            <a:r>
              <a:rPr dirty="0"/>
              <a:t>.md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Hands-on Lab 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97864"/>
            <a:ext cx="5326380" cy="621792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252728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3620" y="1197864"/>
            <a:ext cx="5326380" cy="621792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67628" y="1252728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Participant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19656"/>
            <a:ext cx="53263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874520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1. Evidence extraction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3620" y="1819656"/>
            <a:ext cx="53263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67628" y="1874520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Important evidence from each document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441448"/>
            <a:ext cx="532638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2496312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2. Synthesis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3620" y="2441448"/>
            <a:ext cx="532638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67628" y="2496312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Cross-document findings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063240"/>
            <a:ext cx="53263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118104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3. Challenge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20" y="3063240"/>
            <a:ext cx="53263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67628" y="3118104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Contradictions, tensions, assumptions and gaps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685032"/>
            <a:ext cx="532638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739896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4. Executive interpretation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03620" y="3685032"/>
            <a:ext cx="532638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67628" y="3739896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What the evidence means for leadership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306824"/>
            <a:ext cx="53263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4361688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5. Communication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3620" y="4306824"/>
            <a:ext cx="53263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67628" y="4361688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Concise executive briefing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928616"/>
            <a:ext cx="532638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4983480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6. Leadership questions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3620" y="4928616"/>
            <a:ext cx="5326380" cy="621792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67628" y="4983480"/>
            <a:ext cx="519836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50" b="0">
                <a:solidFill>
                  <a:srgbClr val="283441"/>
                </a:solidFill>
                <a:latin typeface="Aptos"/>
              </a:defRPr>
            </a:pPr>
            <a:r>
              <a:t>Three questions requiring resolution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63D3CE48-0E20-1C89-7CB0-488C3D32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96D3A91-8C26-D401-2EC8-A0FFE01602B8}"/>
              </a:ext>
            </a:extLst>
          </p:cNvPr>
          <p:cNvSpPr/>
          <p:nvPr/>
        </p:nvSpPr>
        <p:spPr>
          <a:xfrm>
            <a:off x="5341925" y="5593114"/>
            <a:ext cx="914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Hands-on Lab: Improve Your Own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561320" cy="4206240"/>
          </a:xfrm>
          <a:prstGeom prst="roundRect">
            <a:avLst/>
          </a:prstGeom>
          <a:solidFill>
            <a:srgbClr val="192330"/>
          </a:solidFill>
          <a:ln>
            <a:solidFill>
              <a:srgbClr val="3C4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1010412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1EBF2"/>
                </a:solidFill>
                <a:latin typeface="Cascadia Mono"/>
              </a:defRPr>
            </a:pPr>
            <a:r>
              <a:rPr dirty="0"/>
              <a:t>Now challenge your own analysis.</a:t>
            </a:r>
            <a:br>
              <a:rPr dirty="0"/>
            </a:br>
            <a:br>
              <a:rPr dirty="0"/>
            </a:br>
            <a:r>
              <a:rPr dirty="0"/>
              <a:t>Identify:</a:t>
            </a:r>
            <a:br>
              <a:rPr dirty="0"/>
            </a:br>
            <a:r>
              <a:rPr dirty="0"/>
              <a:t>• conclusions that could be wrong</a:t>
            </a:r>
            <a:br>
              <a:rPr dirty="0"/>
            </a:br>
            <a:r>
              <a:rPr dirty="0"/>
              <a:t>• claims that are weakly supported</a:t>
            </a:r>
            <a:br>
              <a:rPr dirty="0"/>
            </a:br>
            <a:r>
              <a:rPr dirty="0"/>
              <a:t>• assumptions carrying the most weight</a:t>
            </a:r>
            <a:br>
              <a:rPr dirty="0"/>
            </a:br>
            <a:r>
              <a:rPr dirty="0"/>
              <a:t>• information that is missing</a:t>
            </a:r>
            <a:br>
              <a:rPr dirty="0"/>
            </a:br>
            <a:r>
              <a:rPr dirty="0"/>
              <a:t>• places where inference may have been presented as fact</a:t>
            </a:r>
            <a:br>
              <a:rPr dirty="0"/>
            </a:br>
            <a:r>
              <a:rPr dirty="0"/>
              <a:t>• statements that sound confident but require validation</a:t>
            </a:r>
            <a:br>
              <a:rPr dirty="0"/>
            </a:br>
            <a:br>
              <a:rPr dirty="0"/>
            </a:br>
            <a:r>
              <a:rPr dirty="0"/>
              <a:t>For each issue explain how the briefing should change.</a:t>
            </a:r>
            <a:br>
              <a:rPr dirty="0"/>
            </a:br>
            <a:br>
              <a:rPr dirty="0"/>
            </a:br>
            <a:r>
              <a:rPr dirty="0"/>
              <a:t>Do not simply rewrite the briefing. First identify its weaknesses.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9FF39-3932-8045-08B4-2D70EE4DAC92}"/>
              </a:ext>
            </a:extLst>
          </p:cNvPr>
          <p:cNvGrpSpPr/>
          <p:nvPr/>
        </p:nvGrpSpPr>
        <p:grpSpPr>
          <a:xfrm>
            <a:off x="1051560" y="5577840"/>
            <a:ext cx="10012680" cy="576071"/>
            <a:chOff x="1051560" y="5577840"/>
            <a:chExt cx="10012680" cy="576071"/>
          </a:xfrm>
        </p:grpSpPr>
        <p:sp>
          <p:nvSpPr>
            <p:cNvPr id="8" name="Rounded Rectangle 7"/>
            <p:cNvSpPr/>
            <p:nvPr/>
          </p:nvSpPr>
          <p:spPr>
            <a:xfrm>
              <a:off x="1051560" y="5577840"/>
              <a:ext cx="10012680" cy="566928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51560" y="5577840"/>
              <a:ext cx="73152" cy="566928"/>
            </a:xfrm>
            <a:prstGeom prst="rect">
              <a:avLst/>
            </a:prstGeom>
            <a:solidFill>
              <a:srgbClr val="DA853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80160" y="5742431"/>
              <a:ext cx="9601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400" b="1">
                  <a:solidFill>
                    <a:srgbClr val="10233E"/>
                  </a:solidFill>
                  <a:latin typeface="Aptos"/>
                </a:defRPr>
              </a:pPr>
              <a:r>
                <a:t>THE SHIFT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80160" y="5980175"/>
              <a:ext cx="9601200" cy="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00">
                  <a:solidFill>
                    <a:srgbClr val="283441"/>
                  </a:solidFill>
                  <a:latin typeface="Aptos"/>
                </a:defRPr>
              </a:pPr>
              <a:r>
                <a:rPr dirty="0"/>
                <a:t>Version 1 = generate.  Version 2 = challenge and improve.</a:t>
              </a:r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4355590-1B55-5CED-4104-05358D52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EEE8F8-AA13-82F1-F1B1-674C7506CF64}"/>
              </a:ext>
            </a:extLst>
          </p:cNvPr>
          <p:cNvSpPr/>
          <p:nvPr/>
        </p:nvSpPr>
        <p:spPr>
          <a:xfrm>
            <a:off x="5341925" y="5593114"/>
            <a:ext cx="914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 minutes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From Analysis to Executive 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057400" cy="347472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73152" cy="347472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5623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Three things you need to know.</a:t>
            </a:r>
            <a:br/>
            <a:br/>
            <a:r>
              <a:t>Decision and strategic implication.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691640"/>
            <a:ext cx="2057400" cy="347472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40" y="1691640"/>
            <a:ext cx="73152" cy="3474720"/>
          </a:xfrm>
          <a:prstGeom prst="rect">
            <a:avLst/>
          </a:prstGeom>
          <a:solidFill>
            <a:srgbClr val="2F6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185623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CFO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313432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Financial exposure.</a:t>
            </a:r>
            <a:br/>
            <a:br/>
            <a:r>
              <a:t>Investment and value implications.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691640"/>
            <a:ext cx="2057400" cy="347472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74920" y="1691640"/>
            <a:ext cx="73152" cy="3474720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185623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CISO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313432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Risk and controls.</a:t>
            </a:r>
            <a:br/>
            <a:br/>
            <a:r>
              <a:t>Security implications.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691640"/>
            <a:ext cx="2057400" cy="347472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73152" cy="3474720"/>
          </a:xfrm>
          <a:prstGeom prst="rect">
            <a:avLst/>
          </a:prstGeom>
          <a:solidFill>
            <a:srgbClr val="2F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185623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313432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Data requirements.</a:t>
            </a:r>
            <a:br/>
            <a:br/>
            <a:r>
              <a:t>Quality and analytical implications.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691640"/>
            <a:ext cx="2057400" cy="3474720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55480" y="1691640"/>
            <a:ext cx="73152" cy="3474720"/>
          </a:xfrm>
          <a:prstGeom prst="rect">
            <a:avLst/>
          </a:prstGeom>
          <a:solidFill>
            <a:srgbClr val="DA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0" y="1856232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313432"/>
            <a:ext cx="1645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Process and execution.</a:t>
            </a:r>
            <a:br/>
            <a:br/>
            <a:r>
              <a:t>Operational implications.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233E"/>
                </a:solidFill>
                <a:latin typeface="Aptos Display"/>
              </a:defRPr>
            </a:pPr>
            <a:r>
              <a:t>Good AI communication is not just shorter. It is audience-specific.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A0C1D96E-7A4E-6072-15FB-ABDA8358D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Demo 5: Executive Briefing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27080" cy="4754880"/>
          </a:xfrm>
          <a:prstGeom prst="roundRect">
            <a:avLst/>
          </a:prstGeom>
          <a:solidFill>
            <a:srgbClr val="192330"/>
          </a:solidFill>
          <a:ln>
            <a:solidFill>
              <a:srgbClr val="3C4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10469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30">
                <a:solidFill>
                  <a:srgbClr val="E1EBF2"/>
                </a:solidFill>
                <a:latin typeface="Cascadia Mono"/>
              </a:defRPr>
            </a:pPr>
            <a:r>
              <a:t>Convert the validated analysis into a one-page CEO briefing.</a:t>
            </a:r>
            <a:br/>
            <a:br/>
            <a:r>
              <a:t>Audience: WinTrust CEO</a:t>
            </a:r>
            <a:br/>
            <a:br/>
            <a:r>
              <a:t>Include:</a:t>
            </a:r>
            <a:br/>
            <a:r>
              <a:t>1. Executive takeaway</a:t>
            </a:r>
            <a:br/>
            <a:r>
              <a:t>2. What has changed</a:t>
            </a:r>
            <a:br/>
            <a:r>
              <a:t>3. Three material opportunities</a:t>
            </a:r>
            <a:br/>
            <a:r>
              <a:t>4. Three material risks</a:t>
            </a:r>
            <a:br/>
            <a:r>
              <a:t>5. Important evidence</a:t>
            </a:r>
            <a:br/>
            <a:r>
              <a:t>6. What remains uncertain</a:t>
            </a:r>
            <a:br/>
            <a:r>
              <a:t>7. Decisions or questions requiring leadership attention</a:t>
            </a:r>
            <a:br/>
            <a:br/>
            <a:r>
              <a:t>Rules:</a:t>
            </a:r>
            <a:br/>
            <a:r>
              <a:t>• decision-oriented language</a:t>
            </a:r>
            <a:br/>
            <a:r>
              <a:t>• avoid operational detail unless it affects a decision</a:t>
            </a:r>
            <a:br/>
            <a:r>
              <a:t>• separate evidence from interpretation</a:t>
            </a:r>
            <a:br/>
            <a:r>
              <a:t>• do not introduce new facts</a:t>
            </a:r>
            <a:br/>
            <a:r>
              <a:t>• preserve important uncertainty</a:t>
            </a:r>
            <a:br/>
            <a:r>
              <a:t>• do not make unsupported recommendations</a:t>
            </a:r>
            <a:br/>
            <a:br/>
            <a:r>
              <a:t>Maximum length: 500 words.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7BAA6D-D072-65B9-3329-819B4D52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Prompting for Better Executive 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4A89B45-2133-A859-DCD3-CD5DCF441FB2}"/>
              </a:ext>
            </a:extLst>
          </p:cNvPr>
          <p:cNvGrpSpPr/>
          <p:nvPr/>
        </p:nvGrpSpPr>
        <p:grpSpPr>
          <a:xfrm>
            <a:off x="685800" y="1645920"/>
            <a:ext cx="10835640" cy="3931920"/>
            <a:chOff x="685800" y="1645920"/>
            <a:chExt cx="10835640" cy="393192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645920"/>
              <a:ext cx="2057400" cy="214884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685800" y="1645920"/>
              <a:ext cx="73152" cy="2148840"/>
            </a:xfrm>
            <a:prstGeom prst="rect">
              <a:avLst/>
            </a:prstGeom>
            <a:solidFill>
              <a:srgbClr val="00848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1810512"/>
              <a:ext cx="164592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500" b="1">
                  <a:solidFill>
                    <a:srgbClr val="10233E"/>
                  </a:solidFill>
                  <a:latin typeface="Aptos"/>
                </a:defRPr>
              </a:pPr>
              <a:r>
                <a:t>1  AUDIENCE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2267712"/>
              <a:ext cx="1645920" cy="1417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>
                  <a:solidFill>
                    <a:srgbClr val="283441"/>
                  </a:solidFill>
                  <a:latin typeface="Aptos"/>
                </a:defRPr>
              </a:pPr>
              <a:r>
                <a:t>Who is reading this?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880360" y="1645920"/>
              <a:ext cx="2057400" cy="214884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80360" y="1645920"/>
              <a:ext cx="73152" cy="2148840"/>
            </a:xfrm>
            <a:prstGeom prst="rect">
              <a:avLst/>
            </a:prstGeom>
            <a:solidFill>
              <a:srgbClr val="2F63A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108960" y="1810512"/>
              <a:ext cx="164592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500" b="1">
                  <a:solidFill>
                    <a:srgbClr val="10233E"/>
                  </a:solidFill>
                  <a:latin typeface="Aptos"/>
                </a:defRPr>
              </a:pPr>
              <a:r>
                <a:t>2  PURPOSE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108960" y="2267712"/>
              <a:ext cx="1645920" cy="1417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>
                  <a:solidFill>
                    <a:srgbClr val="283441"/>
                  </a:solidFill>
                  <a:latin typeface="Aptos"/>
                </a:defRPr>
              </a:pPr>
              <a:r>
                <a:t>What should they understand or decide?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074920" y="1645920"/>
              <a:ext cx="2057400" cy="214884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074920" y="1645920"/>
              <a:ext cx="73152" cy="2148840"/>
            </a:xfrm>
            <a:prstGeom prst="rect">
              <a:avLst/>
            </a:prstGeom>
            <a:solidFill>
              <a:srgbClr val="2F8B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03520" y="1810512"/>
              <a:ext cx="164592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500" b="1">
                  <a:solidFill>
                    <a:srgbClr val="10233E"/>
                  </a:solidFill>
                  <a:latin typeface="Aptos"/>
                </a:defRPr>
              </a:pPr>
              <a:r>
                <a:t>3  ALTITUDE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303520" y="2267712"/>
              <a:ext cx="1645920" cy="1417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>
                  <a:solidFill>
                    <a:srgbClr val="283441"/>
                  </a:solidFill>
                  <a:latin typeface="Aptos"/>
                </a:defRPr>
              </a:pPr>
              <a:r>
                <a:t>How much detail is appropriate?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69480" y="1645920"/>
              <a:ext cx="2057400" cy="214884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269480" y="1645920"/>
              <a:ext cx="73152" cy="2148840"/>
            </a:xfrm>
            <a:prstGeom prst="rect">
              <a:avLst/>
            </a:prstGeom>
            <a:solidFill>
              <a:srgbClr val="DA853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498079" y="1810512"/>
              <a:ext cx="164592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500" b="1">
                  <a:solidFill>
                    <a:srgbClr val="10233E"/>
                  </a:solidFill>
                  <a:latin typeface="Aptos"/>
                </a:defRPr>
              </a:pPr>
              <a:r>
                <a:t>4  EVIDENCE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498079" y="2267712"/>
              <a:ext cx="1645920" cy="1417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>
                  <a:solidFill>
                    <a:srgbClr val="283441"/>
                  </a:solidFill>
                  <a:latin typeface="Aptos"/>
                </a:defRPr>
              </a:pPr>
              <a:r>
                <a:t>What must remain traceable?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464040" y="1645920"/>
              <a:ext cx="2057400" cy="2148840"/>
            </a:xfrm>
            <a:prstGeom prst="roundRect">
              <a:avLst/>
            </a:prstGeom>
            <a:solidFill>
              <a:srgbClr val="F2F6F9"/>
            </a:solidFill>
            <a:ln>
              <a:solidFill>
                <a:srgbClr val="E0E7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9464040" y="1645920"/>
              <a:ext cx="73152" cy="2148840"/>
            </a:xfrm>
            <a:prstGeom prst="rect">
              <a:avLst/>
            </a:prstGeom>
            <a:solidFill>
              <a:srgbClr val="B844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692640" y="1810512"/>
              <a:ext cx="164592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500" b="1">
                  <a:solidFill>
                    <a:srgbClr val="10233E"/>
                  </a:solidFill>
                  <a:latin typeface="Aptos"/>
                </a:defRPr>
              </a:pPr>
              <a:r>
                <a:t>5  ACTION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692640" y="2267712"/>
              <a:ext cx="1645920" cy="1417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>
                  <a:solidFill>
                    <a:srgbClr val="283441"/>
                  </a:solidFill>
                  <a:latin typeface="Aptos"/>
                </a:defRPr>
              </a:pPr>
              <a:r>
                <a:t>What should happen next?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68680" y="4343400"/>
              <a:ext cx="10332720" cy="12344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500" b="1">
                  <a:solidFill>
                    <a:srgbClr val="10233E"/>
                  </a:solidFill>
                  <a:latin typeface="Aptos Display"/>
                </a:defRPr>
              </a:pPr>
              <a:r>
                <a:t>Audience + Purpose + Altitude + Evidence + Action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1A8175C-05C2-8C5D-E74C-5EF892AD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BFEBF-BF42-98B5-3B9D-A4A208BCDBF4}"/>
              </a:ext>
            </a:extLst>
          </p:cNvPr>
          <p:cNvSpPr txBox="1"/>
          <p:nvPr/>
        </p:nvSpPr>
        <p:spPr>
          <a:xfrm>
            <a:off x="3059125" y="1318565"/>
            <a:ext cx="6140196" cy="4801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Prompt pattern</a:t>
            </a:r>
            <a:endParaRPr lang="en-IN" dirty="0"/>
          </a:p>
          <a:p>
            <a:r>
              <a:rPr lang="en-IN" dirty="0"/>
              <a:t>Rewrite the analysis for [AUDIENCE].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Purpose:</a:t>
            </a:r>
          </a:p>
          <a:p>
            <a:r>
              <a:rPr lang="en-IN" dirty="0"/>
              <a:t>[WHAT THE AUDIENCE NEEDS TO DO]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Focus on:</a:t>
            </a:r>
          </a:p>
          <a:p>
            <a:r>
              <a:rPr lang="en-IN" dirty="0"/>
              <a:t>[3-5 AREAS]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Do not:</a:t>
            </a:r>
          </a:p>
          <a:p>
            <a:r>
              <a:rPr lang="en-IN" dirty="0"/>
              <a:t>[DETAILS TO EXCLUDE]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Preserve:</a:t>
            </a:r>
          </a:p>
          <a:p>
            <a:r>
              <a:rPr lang="en-IN" dirty="0"/>
              <a:t>[FACTS / EVIDENCE / UNCERTAINTIES]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Output:</a:t>
            </a:r>
          </a:p>
          <a:p>
            <a:r>
              <a:rPr lang="en-IN" dirty="0"/>
              <a:t>[STRUCTURE]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" dur="indefinite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Research &amp; Synthesis Anti-Patterns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349240" cy="521207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30" b="1">
                <a:solidFill>
                  <a:srgbClr val="FFFFFF"/>
                </a:solidFill>
                <a:latin typeface="Aptos"/>
              </a:defRPr>
            </a:pPr>
            <a:r>
              <a:t>Anti-pattern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1417320"/>
            <a:ext cx="5349240" cy="521207"/>
          </a:xfrm>
          <a:prstGeom prst="rect">
            <a:avLst/>
          </a:prstGeom>
          <a:solidFill>
            <a:srgbClr val="10233E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44768" y="1472184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30" b="1">
                <a:solidFill>
                  <a:srgbClr val="FFFFFF"/>
                </a:solidFill>
                <a:latin typeface="Aptos"/>
              </a:defRPr>
            </a:pPr>
            <a:r>
              <a:t>Better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38528"/>
            <a:ext cx="5349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993392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“Summarize this”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1938528"/>
            <a:ext cx="5349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1993392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Define what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59736"/>
            <a:ext cx="5349240" cy="521207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2514600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Treating AI output as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2459736"/>
            <a:ext cx="5349240" cy="521207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44768" y="2514600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Require source attribution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80944"/>
            <a:ext cx="5349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035808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Mixing facts and 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9" y="2980944"/>
            <a:ext cx="5349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3035808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Separate them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502152"/>
            <a:ext cx="5349240" cy="521207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557016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Ignoring contradictions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59" y="3502152"/>
            <a:ext cx="5349240" cy="521207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4768" y="3557016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Explicitly search for conflicts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023359"/>
            <a:ext cx="5349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4078223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Filling missing information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59" y="4023359"/>
            <a:ext cx="5349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44768" y="4078223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Ask AI to flag gaps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544568"/>
            <a:ext cx="5349240" cy="521207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4599431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Writing immediately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59" y="4544568"/>
            <a:ext cx="5349240" cy="521207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44768" y="4599431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Analyze first, communicate second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065776"/>
            <a:ext cx="5349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8" y="5120640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Accepting first output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59" y="5065776"/>
            <a:ext cx="5349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44768" y="5120640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Red-team the result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586983"/>
            <a:ext cx="5349240" cy="521207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" y="5641847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Same briefing for everyone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59" y="5586983"/>
            <a:ext cx="5349240" cy="521207"/>
          </a:xfrm>
          <a:prstGeom prst="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44768" y="5641847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Adapt to audience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6108192"/>
            <a:ext cx="5349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5528" y="6163055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Confident language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59" y="6108192"/>
            <a:ext cx="5349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44768" y="6163055"/>
            <a:ext cx="5221224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80" b="0">
                <a:solidFill>
                  <a:srgbClr val="283441"/>
                </a:solidFill>
                <a:latin typeface="Aptos"/>
              </a:defRPr>
            </a:pPr>
            <a:r>
              <a:t>Evidence-calibrated language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C4EBA503-C0F9-2068-FD79-EDD960E9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t>Enterprise Research = Evidence +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76"/>
                </a:solidFill>
                <a:latin typeface="Aptos"/>
              </a:defRPr>
            </a:pPr>
            <a:r>
              <a:t>The operating model to carry into the rest of the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96596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1874519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15544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Define the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196596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88920" y="1828800"/>
            <a:ext cx="73152" cy="1874519"/>
          </a:xfrm>
          <a:prstGeom prst="rect">
            <a:avLst/>
          </a:prstGeom>
          <a:solidFill>
            <a:srgbClr val="2F6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20" y="1993392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50592"/>
            <a:ext cx="15544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Control the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828800"/>
            <a:ext cx="196596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92040" y="1828800"/>
            <a:ext cx="73152" cy="1874519"/>
          </a:xfrm>
          <a:prstGeom prst="rect">
            <a:avLst/>
          </a:prstGeom>
          <a:solidFill>
            <a:srgbClr val="2F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1993392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SYNTHESIZE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450592"/>
            <a:ext cx="15544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Connect the signals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1828800"/>
            <a:ext cx="196596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95160" y="1828800"/>
            <a:ext cx="73152" cy="1874519"/>
          </a:xfrm>
          <a:prstGeom prst="rect">
            <a:avLst/>
          </a:prstGeom>
          <a:solidFill>
            <a:srgbClr val="DA8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0" y="1993392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450592"/>
            <a:ext cx="15544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Find gaps and contradictions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828800"/>
            <a:ext cx="196596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98280" y="1828800"/>
            <a:ext cx="73152" cy="1874519"/>
          </a:xfrm>
          <a:prstGeom prst="rect">
            <a:avLst/>
          </a:prstGeom>
          <a:solidFill>
            <a:srgbClr val="B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993392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33E"/>
                </a:solidFill>
                <a:latin typeface="Aptos"/>
              </a:defRPr>
            </a:pPr>
            <a: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450592"/>
            <a:ext cx="15544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441"/>
                </a:solidFill>
                <a:latin typeface="Aptos"/>
              </a:defRPr>
            </a:pPr>
            <a:r>
              <a:t>Adapt to the audience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0233E"/>
                </a:solidFill>
                <a:latin typeface="Aptos Display"/>
              </a:defRPr>
            </a:pPr>
            <a:r>
              <a:t>VALIDATE  →  Human judgment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8489"/>
                </a:solidFill>
                <a:latin typeface="Aptos"/>
              </a:defRPr>
            </a:pPr>
            <a:r>
              <a:t>The goal is not an AI-generated answer. The goal is a better-informed human decision.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8C45C5C-86A2-F452-3CAB-29350CA8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2743-E7EB-4EDA-99DD-3E50EDFD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82855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D88BF-4C64-684A-E31B-A38E0D0E7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82855" cy="4525963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F566B-04ED-66BE-E4F7-9D5692A3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</TotalTime>
  <Words>2339</Words>
  <Application>Microsoft Office PowerPoint</Application>
  <PresentationFormat>Widescreen</PresentationFormat>
  <Paragraphs>355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Ajay Singala</dc:creator>
  <cp:keywords/>
  <dc:description>generated using python-pptx</dc:description>
  <cp:lastModifiedBy>Ajay Singala</cp:lastModifiedBy>
  <cp:revision>32</cp:revision>
  <dcterms:created xsi:type="dcterms:W3CDTF">2013-01-27T09:14:16Z</dcterms:created>
  <dcterms:modified xsi:type="dcterms:W3CDTF">2026-10-13T06:39:12Z</dcterms:modified>
  <cp:category/>
</cp:coreProperties>
</file>