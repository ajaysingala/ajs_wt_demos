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2"/>
  </p:notesMasterIdLst>
  <p:sldIdLst>
    <p:sldId id="256" r:id="rId2"/>
    <p:sldId id="28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83" r:id="rId20"/>
    <p:sldId id="284" r:id="rId21"/>
    <p:sldId id="287" r:id="rId22"/>
    <p:sldId id="273" r:id="rId23"/>
    <p:sldId id="274" r:id="rId24"/>
    <p:sldId id="276" r:id="rId25"/>
    <p:sldId id="277" r:id="rId26"/>
    <p:sldId id="278" r:id="rId27"/>
    <p:sldId id="279" r:id="rId28"/>
    <p:sldId id="281" r:id="rId29"/>
    <p:sldId id="282" r:id="rId30"/>
    <p:sldId id="285" r:id="rId3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986" autoAdjust="0"/>
    <p:restoredTop sz="94660"/>
  </p:normalViewPr>
  <p:slideViewPr>
    <p:cSldViewPr snapToGrid="0" snapToObjects="1">
      <p:cViewPr varScale="1">
        <p:scale>
          <a:sx n="84" d="100"/>
          <a:sy n="84" d="100"/>
        </p:scale>
        <p:origin x="350" y="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0C6FC1B-C662-4BB5-BF1B-41DBBE7F8DCE}" type="datetimeFigureOut">
              <a:rPr lang="en-IN" smtClean="0"/>
              <a:t>19-10-2026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3CF54DD-D86D-4D7D-B890-3CE97E8D084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029684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55681C-4770-4BB3-860E-1F6253F7231B}" type="datetime1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F8DF85-F7F7-47D3-A9C1-393C23328502}" type="datetime1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1E5112-F086-42E9-890E-1C75CA2469A0}" type="datetime1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3BA87E-A275-4146-A496-D71093480677}" type="datetime1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89B00-6D15-4BE0-B0CF-2711944832A4}" type="datetime1">
              <a:rPr lang="en-US" smtClean="0"/>
              <a:t>10/19/2026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004A0-38EF-4565-93D3-A6DFB0D0F2C1}" type="datetime1">
              <a:rPr lang="en-US" smtClean="0"/>
              <a:t>10/19/2026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94F39A-CD75-43B2-A9FB-9F6E89C3F25F}" type="datetime1">
              <a:rPr lang="en-US" smtClean="0"/>
              <a:t>10/19/2026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9601200" y="6356349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F14CED-CCB4-4F7F-AB75-B54F1C604561}" type="datetime1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8A14B-C671-4A50-8716-D9F5D84DB082}" type="datetime1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CEEE96-3B33-4BF6-A2AE-77B67157D4D9}" type="datetime1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2477F1-DA39-46D7-A6DF-E7B8E6D3CFC2}" type="datetime1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746D029-43BC-4FC2-B54D-2DC052C31630}" type="datetime1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3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1078992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  <a:latin typeface="Aptos Display"/>
              </a:defRPr>
            </a:pPr>
            <a:r>
              <a:t>AI for Research, Synthesis</a:t>
            </a:r>
            <a:br/>
            <a:r>
              <a:t>&amp; Executive Communication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886200"/>
            <a:ext cx="1965960" cy="960120"/>
          </a:xfrm>
          <a:prstGeom prst="roundRect">
            <a:avLst/>
          </a:prstGeom>
          <a:solidFill>
            <a:srgbClr val="1C314C"/>
          </a:solidFill>
          <a:ln>
            <a:solidFill>
              <a:srgbClr val="415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31520" y="3886200"/>
            <a:ext cx="73152" cy="960120"/>
          </a:xfrm>
          <a:prstGeom prst="rect">
            <a:avLst/>
          </a:prstGeom>
          <a:solidFill>
            <a:srgbClr val="0084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4050791"/>
            <a:ext cx="1554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Aptos"/>
              </a:defRPr>
            </a:pPr>
            <a:r>
              <a:t>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4507992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D7E1EB"/>
                </a:solidFill>
                <a:latin typeface="Aptos"/>
              </a:defRPr>
            </a:pPr>
            <a:r>
              <a:t>Find and extract evidence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80360" y="3886200"/>
            <a:ext cx="1965960" cy="960120"/>
          </a:xfrm>
          <a:prstGeom prst="roundRect">
            <a:avLst/>
          </a:prstGeom>
          <a:solidFill>
            <a:srgbClr val="1C314C"/>
          </a:solidFill>
          <a:ln>
            <a:solidFill>
              <a:srgbClr val="415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2880360" y="3886200"/>
            <a:ext cx="73152" cy="960120"/>
          </a:xfrm>
          <a:prstGeom prst="rect">
            <a:avLst/>
          </a:prstGeom>
          <a:solidFill>
            <a:srgbClr val="2F63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108960" y="4050791"/>
            <a:ext cx="1554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Aptos"/>
              </a:defRPr>
            </a:pPr>
            <a:r>
              <a:t>SYNTHESIZE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4507992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D7E1EB"/>
                </a:solidFill>
                <a:latin typeface="Aptos"/>
              </a:defRPr>
            </a:pPr>
            <a:r>
              <a:t>Connect signals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0" y="3886200"/>
            <a:ext cx="1965960" cy="960120"/>
          </a:xfrm>
          <a:prstGeom prst="roundRect">
            <a:avLst/>
          </a:prstGeom>
          <a:solidFill>
            <a:srgbClr val="1C314C"/>
          </a:solidFill>
          <a:ln>
            <a:solidFill>
              <a:srgbClr val="415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029200" y="3886200"/>
            <a:ext cx="73152" cy="960120"/>
          </a:xfrm>
          <a:prstGeom prst="rect">
            <a:avLst/>
          </a:prstGeom>
          <a:solidFill>
            <a:srgbClr val="DA8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257800" y="4050791"/>
            <a:ext cx="1554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Aptos"/>
              </a:defRPr>
            </a:pPr>
            <a:r>
              <a:t>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57800" y="4507992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D7E1EB"/>
                </a:solidFill>
                <a:latin typeface="Aptos"/>
              </a:defRPr>
            </a:pPr>
            <a:r>
              <a:t>Test the story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78040" y="3886200"/>
            <a:ext cx="1965960" cy="960120"/>
          </a:xfrm>
          <a:prstGeom prst="roundRect">
            <a:avLst/>
          </a:prstGeom>
          <a:solidFill>
            <a:srgbClr val="1C314C"/>
          </a:solidFill>
          <a:ln>
            <a:solidFill>
              <a:srgbClr val="415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178040" y="3886200"/>
            <a:ext cx="73152" cy="960120"/>
          </a:xfrm>
          <a:prstGeom prst="rect">
            <a:avLst/>
          </a:prstGeom>
          <a:solidFill>
            <a:srgbClr val="2F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406640" y="4050791"/>
            <a:ext cx="1554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Aptos"/>
              </a:defRPr>
            </a:pPr>
            <a:r>
              <a:t>COMMUNICATE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06640" y="4507992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D7E1EB"/>
                </a:solidFill>
                <a:latin typeface="Aptos"/>
              </a:defRPr>
            </a:pPr>
            <a:r>
              <a:t>Adapt to audience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26880" y="3886200"/>
            <a:ext cx="1965960" cy="960120"/>
          </a:xfrm>
          <a:prstGeom prst="roundRect">
            <a:avLst/>
          </a:prstGeom>
          <a:solidFill>
            <a:srgbClr val="1C314C"/>
          </a:solidFill>
          <a:ln>
            <a:solidFill>
              <a:srgbClr val="415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9326880" y="3886200"/>
            <a:ext cx="73152" cy="960120"/>
          </a:xfrm>
          <a:prstGeom prst="rect">
            <a:avLst/>
          </a:prstGeom>
          <a:solidFill>
            <a:srgbClr val="B8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555480" y="4050791"/>
            <a:ext cx="1554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Aptos"/>
              </a:defRPr>
            </a:pPr>
            <a:r>
              <a:t>VALIDATE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55480" y="4507992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D7E1EB"/>
                </a:solidFill>
                <a:latin typeface="Aptos"/>
              </a:defRPr>
            </a:pPr>
            <a:r>
              <a:t>Human judgment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4360" y="6510528"/>
            <a:ext cx="10972800" cy="16459"/>
          </a:xfrm>
          <a:prstGeom prst="rect">
            <a:avLst/>
          </a:prstGeom>
          <a:solidFill>
            <a:srgbClr val="465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21792" y="6547104"/>
            <a:ext cx="36576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A5B4C0"/>
                </a:solidFill>
                <a:latin typeface="Aptos"/>
              </a:defRPr>
            </a:pPr>
            <a:r>
              <a:t>WINTRUST  |  GenAI &amp; Technology Fluency</a:t>
            </a:r>
          </a:p>
        </p:txBody>
      </p:sp>
      <p:sp>
        <p:nvSpPr>
          <p:cNvPr id="27" name="Slide Number Placeholder 26">
            <a:extLst>
              <a:ext uri="{FF2B5EF4-FFF2-40B4-BE49-F238E27FC236}">
                <a16:creationId xmlns:a16="http://schemas.microsoft.com/office/drawing/2014/main" id="{0B60B9AB-14C9-B33D-94B2-5C9D95D217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4" name="TextBox 3"/>
          <p:cNvSpPr txBox="1"/>
          <p:nvPr/>
        </p:nvSpPr>
        <p:spPr>
          <a:xfrm>
            <a:off x="594360" y="384048"/>
            <a:ext cx="10972800" cy="5847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800" b="1">
                <a:solidFill>
                  <a:srgbClr val="111F35"/>
                </a:solidFill>
                <a:latin typeface="Aptos"/>
              </a:defRPr>
            </a:pPr>
            <a:r>
              <a:rPr lang="en-US" sz="3200" dirty="0"/>
              <a:t>Recap of Last Session</a:t>
            </a:r>
            <a:endParaRPr sz="3200" dirty="0"/>
          </a:p>
        </p:txBody>
      </p:sp>
      <p:sp>
        <p:nvSpPr>
          <p:cNvPr id="5" name="TextBox 4"/>
          <p:cNvSpPr txBox="1"/>
          <p:nvPr/>
        </p:nvSpPr>
        <p:spPr>
          <a:xfrm>
            <a:off x="621792" y="960120"/>
            <a:ext cx="10789920" cy="34778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>
                <a:latin typeface="Aptos" panose="020B0004020202020204" pitchFamily="34" charset="0"/>
              </a:rPr>
              <a:t>Give AI enough context to do useful work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endParaRPr lang="en-IN" sz="2000" dirty="0">
              <a:latin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>
                <a:latin typeface="Aptos" panose="020B0004020202020204" pitchFamily="34" charset="0"/>
              </a:rPr>
              <a:t>Specify the outcome you actually need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endParaRPr lang="en-IN" sz="2000" dirty="0">
              <a:latin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>
                <a:latin typeface="Aptos" panose="020B0004020202020204" pitchFamily="34" charset="0"/>
              </a:rPr>
              <a:t>Control assumptions and ambiguity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endParaRPr lang="en-IN" sz="2000" dirty="0">
              <a:latin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>
                <a:latin typeface="Aptos" panose="020B0004020202020204" pitchFamily="34" charset="0"/>
              </a:rPr>
              <a:t>Define the expected output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endParaRPr lang="en-IN" sz="2000" dirty="0">
              <a:latin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>
                <a:latin typeface="Aptos" panose="020B0004020202020204" pitchFamily="34" charset="0"/>
              </a:rPr>
              <a:t>Validate AI responses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endParaRPr lang="en-IN" sz="2000" dirty="0">
              <a:latin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>
                <a:latin typeface="Aptos" panose="020B0004020202020204" pitchFamily="34" charset="0"/>
              </a:rPr>
              <a:t>Adapt prompts to Data and Enterprise Operations work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4360" y="6510528"/>
            <a:ext cx="10972800" cy="10972"/>
          </a:xfrm>
          <a:prstGeom prst="rect">
            <a:avLst/>
          </a:prstGeom>
          <a:solidFill>
            <a:srgbClr val="DD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1" name="TextBox 30"/>
          <p:cNvSpPr txBox="1"/>
          <p:nvPr/>
        </p:nvSpPr>
        <p:spPr>
          <a:xfrm>
            <a:off x="621792" y="6547104"/>
            <a:ext cx="4572000" cy="2308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50" b="0">
                <a:solidFill>
                  <a:srgbClr val="647180"/>
                </a:solidFill>
                <a:latin typeface="Aptos"/>
              </a:defRPr>
            </a:pPr>
            <a:r>
              <a:rPr sz="900"/>
              <a:t>WinTrust AI Capability Program</a:t>
            </a:r>
          </a:p>
        </p:txBody>
      </p:sp>
      <p:sp>
        <p:nvSpPr>
          <p:cNvPr id="32" name="Slide Number Placeholder 31">
            <a:extLst>
              <a:ext uri="{FF2B5EF4-FFF2-40B4-BE49-F238E27FC236}">
                <a16:creationId xmlns:a16="http://schemas.microsoft.com/office/drawing/2014/main" id="{B84243A0-7076-31BD-E006-1350B88428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z="1400" smtClean="0"/>
              <a:t>2</a:t>
            </a:fld>
            <a:endParaRPr lang="en-US" sz="1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0233E"/>
                </a:solidFill>
                <a:latin typeface="Aptos Display"/>
              </a:defRPr>
            </a:pPr>
            <a:r>
              <a:t>Today's Learning Journey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307592"/>
            <a:ext cx="10698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C6976"/>
                </a:solidFill>
                <a:latin typeface="Aptos"/>
              </a:defRPr>
            </a:pPr>
            <a:r>
              <a:rPr dirty="0"/>
              <a:t>From information to a decision-ready briefing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510528"/>
            <a:ext cx="10972800" cy="16459"/>
          </a:xfrm>
          <a:prstGeom prst="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21792" y="6547104"/>
            <a:ext cx="36576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82919E"/>
                </a:solidFill>
                <a:latin typeface="Aptos"/>
              </a:defRPr>
            </a:pPr>
            <a:r>
              <a:t>WINTRUST  |  GenAI &amp; Technology Fluency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74519"/>
            <a:ext cx="2011680" cy="2011680"/>
          </a:xfrm>
          <a:prstGeom prst="round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1874519"/>
            <a:ext cx="73152" cy="2011680"/>
          </a:xfrm>
          <a:prstGeom prst="rect">
            <a:avLst/>
          </a:prstGeom>
          <a:solidFill>
            <a:srgbClr val="0084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2039112"/>
            <a:ext cx="1600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0233E"/>
                </a:solidFill>
                <a:latin typeface="Aptos"/>
              </a:defRPr>
            </a:pPr>
            <a:r>
              <a:t>1 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496312"/>
            <a:ext cx="1600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83441"/>
                </a:solidFill>
                <a:latin typeface="Aptos"/>
              </a:defRPr>
            </a:pPr>
            <a:r>
              <a:t>Define the question and gather evidence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26080" y="1874519"/>
            <a:ext cx="2011680" cy="2011680"/>
          </a:xfrm>
          <a:prstGeom prst="round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926080" y="1874519"/>
            <a:ext cx="73152" cy="2011680"/>
          </a:xfrm>
          <a:prstGeom prst="rect">
            <a:avLst/>
          </a:prstGeom>
          <a:solidFill>
            <a:srgbClr val="2F63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154680" y="2039112"/>
            <a:ext cx="1600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0233E"/>
                </a:solidFill>
                <a:latin typeface="Aptos"/>
              </a:defRPr>
            </a:pPr>
            <a:r>
              <a:t>2  Synthesize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54680" y="2496312"/>
            <a:ext cx="1600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83441"/>
                </a:solidFill>
                <a:latin typeface="Aptos"/>
              </a:defRPr>
            </a:pPr>
            <a:r>
              <a:t>Connect information across sources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12080" y="1874519"/>
            <a:ext cx="2011680" cy="2011680"/>
          </a:xfrm>
          <a:prstGeom prst="round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212080" y="1874519"/>
            <a:ext cx="73152" cy="2011680"/>
          </a:xfrm>
          <a:prstGeom prst="rect">
            <a:avLst/>
          </a:prstGeom>
          <a:solidFill>
            <a:srgbClr val="DA8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40680" y="2039112"/>
            <a:ext cx="1600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0233E"/>
                </a:solidFill>
                <a:latin typeface="Aptos"/>
              </a:defRPr>
            </a:pPr>
            <a:r>
              <a:t>3  Challenge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2496312"/>
            <a:ext cx="1600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83441"/>
                </a:solidFill>
                <a:latin typeface="Aptos"/>
              </a:defRPr>
            </a:pPr>
            <a:r>
              <a:t>Find contradictions, assumptions and gaps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79" y="1874519"/>
            <a:ext cx="2011680" cy="2011680"/>
          </a:xfrm>
          <a:prstGeom prst="round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498079" y="1874519"/>
            <a:ext cx="73152" cy="2011680"/>
          </a:xfrm>
          <a:prstGeom prst="rect">
            <a:avLst/>
          </a:prstGeom>
          <a:solidFill>
            <a:srgbClr val="2F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726679" y="2039112"/>
            <a:ext cx="1600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0233E"/>
                </a:solidFill>
                <a:latin typeface="Aptos"/>
              </a:defRPr>
            </a:pPr>
            <a:r>
              <a:t>4  Communicate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26679" y="2496312"/>
            <a:ext cx="1600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83441"/>
                </a:solidFill>
                <a:latin typeface="Aptos"/>
              </a:defRPr>
            </a:pPr>
            <a:r>
              <a:t>Turn analysis into audience-specific content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784080" y="1874519"/>
            <a:ext cx="2011680" cy="2011680"/>
          </a:xfrm>
          <a:prstGeom prst="round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9784080" y="1874519"/>
            <a:ext cx="73152" cy="2011680"/>
          </a:xfrm>
          <a:prstGeom prst="rect">
            <a:avLst/>
          </a:prstGeom>
          <a:solidFill>
            <a:srgbClr val="B8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012680" y="2039112"/>
            <a:ext cx="1600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0233E"/>
                </a:solidFill>
                <a:latin typeface="Aptos"/>
              </a:defRPr>
            </a:pPr>
            <a:r>
              <a:t>5  Validate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2496312"/>
            <a:ext cx="1600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83441"/>
                </a:solidFill>
                <a:latin typeface="Aptos"/>
              </a:defRPr>
            </a:pPr>
            <a:r>
              <a:t>Decide what can safely be used</a:t>
            </a:r>
          </a:p>
        </p:txBody>
      </p:sp>
      <p:sp>
        <p:nvSpPr>
          <p:cNvPr id="27" name="Slide Number Placeholder 26">
            <a:extLst>
              <a:ext uri="{FF2B5EF4-FFF2-40B4-BE49-F238E27FC236}">
                <a16:creationId xmlns:a16="http://schemas.microsoft.com/office/drawing/2014/main" id="{7899E309-3BA3-8CDA-4F52-3236863FFA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0233E"/>
                </a:solidFill>
                <a:latin typeface="Aptos Display"/>
              </a:defRPr>
            </a:pPr>
            <a:r>
              <a:t>What Does “Research with AI” Actually Mean?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6510528"/>
            <a:ext cx="10972800" cy="16459"/>
          </a:xfrm>
          <a:prstGeom prst="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21792" y="6547104"/>
            <a:ext cx="36576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82919E"/>
                </a:solidFill>
                <a:latin typeface="Aptos"/>
              </a:defRPr>
            </a:pPr>
            <a:r>
              <a:t>WINTRUST  |  GenAI &amp; Technology Fluency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920240" cy="1234440"/>
          </a:xfrm>
          <a:prstGeom prst="round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73152" cy="1234440"/>
          </a:xfrm>
          <a:prstGeom prst="rect">
            <a:avLst/>
          </a:prstGeom>
          <a:solidFill>
            <a:srgbClr val="0084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1993392"/>
            <a:ext cx="1508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0233E"/>
                </a:solidFill>
                <a:latin typeface="Aptos"/>
              </a:defRPr>
            </a:pPr>
            <a:r>
              <a:t>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450592"/>
            <a:ext cx="1508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83441"/>
                </a:solidFill>
                <a:latin typeface="Aptos"/>
              </a:defRPr>
            </a:pPr>
            <a:r>
              <a:t>What are we trying to understand?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0" y="1828800"/>
            <a:ext cx="1920240" cy="1234440"/>
          </a:xfrm>
          <a:prstGeom prst="round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743200" y="1828800"/>
            <a:ext cx="73152" cy="1234440"/>
          </a:xfrm>
          <a:prstGeom prst="rect">
            <a:avLst/>
          </a:prstGeom>
          <a:solidFill>
            <a:srgbClr val="2F63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971800" y="1993392"/>
            <a:ext cx="1508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0233E"/>
                </a:solidFill>
                <a:latin typeface="Aptos"/>
              </a:defRPr>
            </a:pPr>
            <a:r>
              <a:t>SCOPE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71800" y="2450592"/>
            <a:ext cx="1508760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83441"/>
                </a:solidFill>
                <a:latin typeface="Aptos"/>
              </a:defRPr>
            </a:pPr>
            <a:r>
              <a:rPr lang="en-US" dirty="0"/>
              <a:t>Gather Evidence: </a:t>
            </a:r>
            <a:r>
              <a:rPr dirty="0"/>
              <a:t>What evidence is in bounds?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46320" y="1828800"/>
            <a:ext cx="1920240" cy="1234440"/>
          </a:xfrm>
          <a:prstGeom prst="round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846320" y="1828800"/>
            <a:ext cx="73152" cy="1234440"/>
          </a:xfrm>
          <a:prstGeom prst="rect">
            <a:avLst/>
          </a:prstGeom>
          <a:solidFill>
            <a:srgbClr val="2F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074920" y="1993392"/>
            <a:ext cx="1508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0233E"/>
                </a:solidFill>
                <a:latin typeface="Aptos"/>
              </a:defRPr>
            </a:pPr>
            <a:r>
              <a:t>EXTRACT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2450592"/>
            <a:ext cx="1508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83441"/>
                </a:solidFill>
                <a:latin typeface="Aptos"/>
              </a:defRPr>
            </a:pPr>
            <a:r>
              <a:rPr dirty="0"/>
              <a:t>What does the evidence say?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49440" y="1828800"/>
            <a:ext cx="1920240" cy="1234440"/>
          </a:xfrm>
          <a:prstGeom prst="round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949440" y="1828800"/>
            <a:ext cx="73152" cy="1234440"/>
          </a:xfrm>
          <a:prstGeom prst="rect">
            <a:avLst/>
          </a:prstGeom>
          <a:solidFill>
            <a:srgbClr val="DA8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178040" y="1993392"/>
            <a:ext cx="1508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0233E"/>
                </a:solidFill>
                <a:latin typeface="Aptos"/>
              </a:defRPr>
            </a:pPr>
            <a:r>
              <a:t>COMPARE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78040" y="2450592"/>
            <a:ext cx="150876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83441"/>
                </a:solidFill>
                <a:latin typeface="Aptos"/>
              </a:defRPr>
            </a:pPr>
            <a:r>
              <a:rPr dirty="0"/>
              <a:t>Where do sources agree or differ?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52560" y="1828800"/>
            <a:ext cx="1920240" cy="1234440"/>
          </a:xfrm>
          <a:prstGeom prst="round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9052560" y="1828800"/>
            <a:ext cx="73152" cy="1234440"/>
          </a:xfrm>
          <a:prstGeom prst="rect">
            <a:avLst/>
          </a:prstGeom>
          <a:solidFill>
            <a:srgbClr val="B8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281160" y="1993392"/>
            <a:ext cx="1508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0233E"/>
                </a:solidFill>
                <a:latin typeface="Aptos"/>
              </a:defRPr>
            </a:pPr>
            <a:r>
              <a:t>CHALLENGE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81160" y="2450592"/>
            <a:ext cx="1508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83441"/>
                </a:solidFill>
                <a:latin typeface="Aptos"/>
              </a:defRPr>
            </a:pPr>
            <a:r>
              <a:t>What is missing or uncertain?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3886200"/>
            <a:ext cx="10424160" cy="18288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83441"/>
                </a:solidFill>
                <a:latin typeface="Aptos"/>
              </a:defRPr>
            </a:pPr>
            <a:r>
              <a:t>AI can accelerate every step.</a:t>
            </a:r>
          </a:p>
          <a:p>
            <a:pPr>
              <a:spcAft>
                <a:spcPts val="1000"/>
              </a:spcAft>
              <a:defRPr sz="1800">
                <a:solidFill>
                  <a:srgbClr val="283441"/>
                </a:solidFill>
                <a:latin typeface="Aptos"/>
              </a:defRPr>
            </a:pPr>
            <a:r>
              <a:t>The quality of the evidence still matters.</a:t>
            </a:r>
          </a:p>
          <a:p>
            <a:pPr>
              <a:spcAft>
                <a:spcPts val="1000"/>
              </a:spcAft>
              <a:defRPr sz="1800">
                <a:solidFill>
                  <a:srgbClr val="283441"/>
                </a:solidFill>
                <a:latin typeface="Aptos"/>
              </a:defRPr>
            </a:pPr>
            <a:r>
              <a:t>The goal is not an AI answer. The goal is a better-informed human decision.</a:t>
            </a:r>
          </a:p>
        </p:txBody>
      </p:sp>
      <p:sp>
        <p:nvSpPr>
          <p:cNvPr id="27" name="Slide Number Placeholder 26">
            <a:extLst>
              <a:ext uri="{FF2B5EF4-FFF2-40B4-BE49-F238E27FC236}">
                <a16:creationId xmlns:a16="http://schemas.microsoft.com/office/drawing/2014/main" id="{9806DE6C-C304-2612-F187-4F8C0650DD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0233E"/>
                </a:solidFill>
                <a:latin typeface="Aptos Display"/>
              </a:defRPr>
            </a:pPr>
            <a:r>
              <a:t>The Research Quality Problem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6510528"/>
            <a:ext cx="10972800" cy="16459"/>
          </a:xfrm>
          <a:prstGeom prst="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21792" y="6547104"/>
            <a:ext cx="36576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82919E"/>
                </a:solidFill>
                <a:latin typeface="Aptos"/>
              </a:defRPr>
            </a:pPr>
            <a:r>
              <a:t>WINTRUST  |  GenAI &amp; Technology Fluency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737360"/>
            <a:ext cx="3596640" cy="621792"/>
          </a:xfrm>
          <a:prstGeom prst="rect">
            <a:avLst/>
          </a:prstGeom>
          <a:solidFill>
            <a:srgbClr val="10233E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49808" y="1792224"/>
            <a:ext cx="34686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50" b="1">
                <a:solidFill>
                  <a:srgbClr val="FFFFFF"/>
                </a:solidFill>
                <a:latin typeface="Aptos"/>
              </a:defRPr>
            </a:pPr>
            <a:r>
              <a:t>Traditional approach</a:t>
            </a:r>
          </a:p>
        </p:txBody>
      </p:sp>
      <p:sp>
        <p:nvSpPr>
          <p:cNvPr id="8" name="Rectangle 7"/>
          <p:cNvSpPr/>
          <p:nvPr/>
        </p:nvSpPr>
        <p:spPr>
          <a:xfrm>
            <a:off x="4282440" y="1737360"/>
            <a:ext cx="3596640" cy="621792"/>
          </a:xfrm>
          <a:prstGeom prst="rect">
            <a:avLst/>
          </a:prstGeom>
          <a:solidFill>
            <a:srgbClr val="10233E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346448" y="1792224"/>
            <a:ext cx="34686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50" b="1">
                <a:solidFill>
                  <a:srgbClr val="FFFFFF"/>
                </a:solidFill>
                <a:latin typeface="Aptos"/>
              </a:defRPr>
            </a:pPr>
            <a:r>
              <a:t>Weak AI approach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79080" y="1737360"/>
            <a:ext cx="3596640" cy="621792"/>
          </a:xfrm>
          <a:prstGeom prst="rect">
            <a:avLst/>
          </a:prstGeom>
          <a:solidFill>
            <a:srgbClr val="10233E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943088" y="1792224"/>
            <a:ext cx="34686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50" b="1">
                <a:solidFill>
                  <a:srgbClr val="FFFFFF"/>
                </a:solidFill>
                <a:latin typeface="Aptos"/>
              </a:defRPr>
            </a:pPr>
            <a:r>
              <a:t>Controlled AI approach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2359152"/>
            <a:ext cx="3596640" cy="621792"/>
          </a:xfrm>
          <a:prstGeom prst="rect">
            <a:avLst/>
          </a:prstGeom>
          <a:solidFill>
            <a:srgbClr val="FFFFFF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49808" y="2414016"/>
            <a:ext cx="34686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0">
                <a:solidFill>
                  <a:srgbClr val="283441"/>
                </a:solidFill>
                <a:latin typeface="Aptos"/>
              </a:defRPr>
            </a:pPr>
            <a:r>
              <a:t>Search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82440" y="2359152"/>
            <a:ext cx="3596640" cy="621792"/>
          </a:xfrm>
          <a:prstGeom prst="rect">
            <a:avLst/>
          </a:prstGeom>
          <a:solidFill>
            <a:srgbClr val="FFFFFF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346448" y="2414016"/>
            <a:ext cx="34686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0">
                <a:solidFill>
                  <a:srgbClr val="283441"/>
                </a:solidFill>
                <a:latin typeface="Aptos"/>
              </a:defRPr>
            </a:pPr>
            <a:r>
              <a:t>Ask AI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79080" y="2359152"/>
            <a:ext cx="3596640" cy="621792"/>
          </a:xfrm>
          <a:prstGeom prst="rect">
            <a:avLst/>
          </a:prstGeom>
          <a:solidFill>
            <a:srgbClr val="FFFFFF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943088" y="2414016"/>
            <a:ext cx="34686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0">
                <a:solidFill>
                  <a:srgbClr val="283441"/>
                </a:solidFill>
                <a:latin typeface="Aptos"/>
              </a:defRPr>
            </a:pPr>
            <a:r>
              <a:t>Define evidence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2980944"/>
            <a:ext cx="3596640" cy="621792"/>
          </a:xfrm>
          <a:prstGeom prst="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49808" y="3035808"/>
            <a:ext cx="34686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0">
                <a:solidFill>
                  <a:srgbClr val="283441"/>
                </a:solidFill>
                <a:latin typeface="Aptos"/>
              </a:defRPr>
            </a:pPr>
            <a:r>
              <a:t>Read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82440" y="2980944"/>
            <a:ext cx="3596640" cy="621792"/>
          </a:xfrm>
          <a:prstGeom prst="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346448" y="3035808"/>
            <a:ext cx="34686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0">
                <a:solidFill>
                  <a:srgbClr val="283441"/>
                </a:solidFill>
                <a:latin typeface="Aptos"/>
              </a:defRPr>
            </a:pPr>
            <a:r>
              <a:t>Accept answer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879080" y="2980944"/>
            <a:ext cx="3596640" cy="621792"/>
          </a:xfrm>
          <a:prstGeom prst="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943088" y="3035808"/>
            <a:ext cx="34686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0">
                <a:solidFill>
                  <a:srgbClr val="283441"/>
                </a:solidFill>
                <a:latin typeface="Aptos"/>
              </a:defRPr>
            </a:pPr>
            <a:r>
              <a:t>Extract evidence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3602736"/>
            <a:ext cx="3596640" cy="621792"/>
          </a:xfrm>
          <a:prstGeom prst="rect">
            <a:avLst/>
          </a:prstGeom>
          <a:solidFill>
            <a:srgbClr val="FFFFFF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49808" y="3657600"/>
            <a:ext cx="34686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0">
                <a:solidFill>
                  <a:srgbClr val="283441"/>
                </a:solidFill>
                <a:latin typeface="Aptos"/>
              </a:defRPr>
            </a:pPr>
            <a:r>
              <a:t>Compare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82440" y="3602736"/>
            <a:ext cx="3596640" cy="621792"/>
          </a:xfrm>
          <a:prstGeom prst="rect">
            <a:avLst/>
          </a:prstGeom>
          <a:solidFill>
            <a:srgbClr val="FFFFFF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346448" y="3657600"/>
            <a:ext cx="34686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0">
                <a:solidFill>
                  <a:srgbClr val="283441"/>
                </a:solidFill>
                <a:latin typeface="Aptos"/>
              </a:defRPr>
            </a:pPr>
            <a:r>
              <a:t>Trust summary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879080" y="3602736"/>
            <a:ext cx="3596640" cy="621792"/>
          </a:xfrm>
          <a:prstGeom prst="rect">
            <a:avLst/>
          </a:prstGeom>
          <a:solidFill>
            <a:srgbClr val="FFFFFF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943088" y="3657600"/>
            <a:ext cx="34686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0">
                <a:solidFill>
                  <a:srgbClr val="283441"/>
                </a:solidFill>
                <a:latin typeface="Aptos"/>
              </a:defRPr>
            </a:pPr>
            <a:r>
              <a:t>Compare sources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4224528"/>
            <a:ext cx="3596640" cy="621792"/>
          </a:xfrm>
          <a:prstGeom prst="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49808" y="4279392"/>
            <a:ext cx="34686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0">
                <a:solidFill>
                  <a:srgbClr val="283441"/>
                </a:solidFill>
                <a:latin typeface="Aptos"/>
              </a:defRPr>
            </a:pPr>
            <a:r>
              <a:t>Analyze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282440" y="4224528"/>
            <a:ext cx="3596640" cy="621792"/>
          </a:xfrm>
          <a:prstGeom prst="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346448" y="4279392"/>
            <a:ext cx="34686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0">
                <a:solidFill>
                  <a:srgbClr val="283441"/>
                </a:solidFill>
                <a:latin typeface="Aptos"/>
              </a:defRPr>
            </a:pPr>
            <a:r>
              <a:t>Accept conclusions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879080" y="4224528"/>
            <a:ext cx="3596640" cy="621792"/>
          </a:xfrm>
          <a:prstGeom prst="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943088" y="4279392"/>
            <a:ext cx="34686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0">
                <a:solidFill>
                  <a:srgbClr val="283441"/>
                </a:solidFill>
                <a:latin typeface="Aptos"/>
              </a:defRPr>
            </a:pPr>
            <a:r>
              <a:t>Challenge conclusions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5800" y="4846320"/>
            <a:ext cx="3596640" cy="621792"/>
          </a:xfrm>
          <a:prstGeom prst="rect">
            <a:avLst/>
          </a:prstGeom>
          <a:solidFill>
            <a:srgbClr val="FFFFFF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49808" y="4901184"/>
            <a:ext cx="34686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0">
                <a:solidFill>
                  <a:srgbClr val="283441"/>
                </a:solidFill>
                <a:latin typeface="Aptos"/>
              </a:defRPr>
            </a:pPr>
            <a:r>
              <a:t>Write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282440" y="4846320"/>
            <a:ext cx="3596640" cy="621792"/>
          </a:xfrm>
          <a:prstGeom prst="rect">
            <a:avLst/>
          </a:prstGeom>
          <a:solidFill>
            <a:srgbClr val="FFFFFF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346448" y="4901184"/>
            <a:ext cx="34686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0">
                <a:solidFill>
                  <a:srgbClr val="283441"/>
                </a:solidFill>
                <a:latin typeface="Aptos"/>
              </a:defRPr>
            </a:pPr>
            <a:r>
              <a:t>Copy / paste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879080" y="4846320"/>
            <a:ext cx="3596640" cy="621792"/>
          </a:xfrm>
          <a:prstGeom prst="rect">
            <a:avLst/>
          </a:prstGeom>
          <a:solidFill>
            <a:srgbClr val="FFFFFF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943088" y="4901184"/>
            <a:ext cx="34686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0">
                <a:solidFill>
                  <a:srgbClr val="283441"/>
                </a:solidFill>
                <a:latin typeface="Aptos"/>
              </a:defRPr>
            </a:pPr>
            <a:r>
              <a:t>Validate and communicate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2960" y="5522976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8489"/>
                </a:solidFill>
                <a:latin typeface="Aptos Display"/>
              </a:defRPr>
            </a:pPr>
            <a:r>
              <a:rPr dirty="0"/>
              <a:t>AI should reduce research effort, not reduce research discipline.</a:t>
            </a:r>
          </a:p>
        </p:txBody>
      </p:sp>
      <p:sp>
        <p:nvSpPr>
          <p:cNvPr id="43" name="Slide Number Placeholder 42">
            <a:extLst>
              <a:ext uri="{FF2B5EF4-FFF2-40B4-BE49-F238E27FC236}">
                <a16:creationId xmlns:a16="http://schemas.microsoft.com/office/drawing/2014/main" id="{FB6F4D99-AB12-45EB-1F2C-861F7B2B08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0233E"/>
                </a:solidFill>
                <a:latin typeface="Aptos Display"/>
              </a:defRPr>
            </a:pPr>
            <a:r>
              <a:t>Source-Grounded vs Generic Answers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6510528"/>
            <a:ext cx="10972800" cy="16459"/>
          </a:xfrm>
          <a:prstGeom prst="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21792" y="6547104"/>
            <a:ext cx="36576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82919E"/>
                </a:solidFill>
                <a:latin typeface="Aptos"/>
              </a:defRPr>
            </a:pPr>
            <a:r>
              <a:t>WINTRUST  |  GenAI &amp; Technology Fluency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28800"/>
            <a:ext cx="5212080" cy="3383280"/>
          </a:xfrm>
          <a:prstGeom prst="round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85800" y="1828800"/>
            <a:ext cx="73152" cy="3383280"/>
          </a:xfrm>
          <a:prstGeom prst="rect">
            <a:avLst/>
          </a:prstGeom>
          <a:solidFill>
            <a:srgbClr val="B8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993392"/>
            <a:ext cx="4800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0233E"/>
                </a:solidFill>
                <a:latin typeface="Aptos"/>
              </a:defRPr>
            </a:pPr>
            <a:r>
              <a:t>GENERIC AI ANSWER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50592"/>
            <a:ext cx="48006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83441"/>
                </a:solidFill>
                <a:latin typeface="Aptos"/>
              </a:defRPr>
            </a:pPr>
            <a:r>
              <a:t>“What are the major risks of Generative AI in financial services?”</a:t>
            </a:r>
            <a:br/>
            <a:br/>
            <a:r>
              <a:t>Useful for exploration, but the source of individual claims is unclear.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828800"/>
            <a:ext cx="5212080" cy="3383280"/>
          </a:xfrm>
          <a:prstGeom prst="round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63640" y="1828800"/>
            <a:ext cx="73152" cy="3383280"/>
          </a:xfrm>
          <a:prstGeom prst="rect">
            <a:avLst/>
          </a:prstGeom>
          <a:solidFill>
            <a:srgbClr val="0084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92240" y="1993392"/>
            <a:ext cx="4800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0233E"/>
                </a:solidFill>
                <a:latin typeface="Aptos"/>
              </a:defRPr>
            </a:pPr>
            <a:r>
              <a:t>SOURCE-GROUNDED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450592"/>
            <a:ext cx="48006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83441"/>
                </a:solidFill>
                <a:latin typeface="Aptos"/>
              </a:defRPr>
            </a:pPr>
            <a:r>
              <a:t>“Using only the documents provided, identify the GenAI risks explicitly described by WinTrust. Cite the supporting source and distinguish explicit statements from inference.”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62356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10233E"/>
                </a:solidFill>
                <a:latin typeface="Aptos Display"/>
              </a:defRPr>
            </a:pPr>
            <a:r>
              <a:t>The prompt changes the evidence boundary.</a:t>
            </a:r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527F342E-154C-E03D-97E7-BCEC44C7FF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0233E"/>
                </a:solidFill>
                <a:latin typeface="Aptos Display"/>
              </a:defRPr>
            </a:pPr>
            <a:r>
              <a:t>The Evidence Ladder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6510528"/>
            <a:ext cx="10972800" cy="16459"/>
          </a:xfrm>
          <a:prstGeom prst="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21792" y="6547104"/>
            <a:ext cx="36576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82919E"/>
                </a:solidFill>
                <a:latin typeface="Aptos"/>
              </a:defRPr>
            </a:pPr>
            <a:r>
              <a:t>WINTRUST  |  GenAI &amp; Technology Fluency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2514600" cy="3566160"/>
          </a:xfrm>
          <a:prstGeom prst="round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31520" y="1645920"/>
            <a:ext cx="73152" cy="3566160"/>
          </a:xfrm>
          <a:prstGeom prst="rect">
            <a:avLst/>
          </a:prstGeom>
          <a:solidFill>
            <a:srgbClr val="5C69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1810512"/>
            <a:ext cx="2103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0233E"/>
                </a:solidFill>
                <a:latin typeface="Aptos"/>
              </a:defRPr>
            </a:pPr>
            <a:r>
              <a:t>1  AI KNOWLEDGE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267712"/>
            <a:ext cx="2103120" cy="2834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83441"/>
                </a:solidFill>
                <a:latin typeface="Aptos"/>
              </a:defRPr>
            </a:pPr>
            <a:r>
              <a:t>“What does AI know?”</a:t>
            </a:r>
            <a:br/>
            <a:br/>
            <a:r>
              <a:t>Useful for exploration.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1645920"/>
            <a:ext cx="2514600" cy="3566160"/>
          </a:xfrm>
          <a:prstGeom prst="round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429000" y="1645920"/>
            <a:ext cx="73152" cy="3566160"/>
          </a:xfrm>
          <a:prstGeom prst="rect">
            <a:avLst/>
          </a:prstGeom>
          <a:solidFill>
            <a:srgbClr val="0084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57600" y="1810512"/>
            <a:ext cx="2103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0233E"/>
                </a:solidFill>
                <a:latin typeface="Aptos"/>
              </a:defRPr>
            </a:pPr>
            <a:r>
              <a:t>2  SOURCE-GROUNDED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2267712"/>
            <a:ext cx="2103120" cy="2834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83441"/>
                </a:solidFill>
                <a:latin typeface="Aptos"/>
              </a:defRPr>
            </a:pPr>
            <a:r>
              <a:t>“What does this document say?”</a:t>
            </a:r>
            <a:br/>
            <a:br/>
            <a:r>
              <a:t>Useful for evidence.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1645920"/>
            <a:ext cx="2514600" cy="3566160"/>
          </a:xfrm>
          <a:prstGeom prst="round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126480" y="1645920"/>
            <a:ext cx="73152" cy="3566160"/>
          </a:xfrm>
          <a:prstGeom prst="rect">
            <a:avLst/>
          </a:prstGeom>
          <a:solidFill>
            <a:srgbClr val="2F63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55080" y="1810512"/>
            <a:ext cx="2103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0233E"/>
                </a:solidFill>
                <a:latin typeface="Aptos"/>
              </a:defRPr>
            </a:pPr>
            <a:r>
              <a:t>3  SYNTHESIS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2267712"/>
            <a:ext cx="2103120" cy="2834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83441"/>
                </a:solidFill>
                <a:latin typeface="Aptos"/>
              </a:defRPr>
            </a:pPr>
            <a:r>
              <a:t>“What do these sources collectively tell us?”</a:t>
            </a:r>
            <a:br/>
            <a:br/>
            <a:r>
              <a:t>Useful for analysis.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23960" y="1645920"/>
            <a:ext cx="2514600" cy="3566160"/>
          </a:xfrm>
          <a:prstGeom prst="round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823960" y="1645920"/>
            <a:ext cx="73152" cy="3566160"/>
          </a:xfrm>
          <a:prstGeom prst="rect">
            <a:avLst/>
          </a:prstGeom>
          <a:solidFill>
            <a:srgbClr val="DA8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052560" y="1810512"/>
            <a:ext cx="2103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0233E"/>
                </a:solidFill>
                <a:latin typeface="Aptos"/>
              </a:defRPr>
            </a:pPr>
            <a:r>
              <a:t>4  DECISION SUPPORT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60" y="2267712"/>
            <a:ext cx="2103120" cy="2834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83441"/>
                </a:solidFill>
                <a:latin typeface="Aptos"/>
              </a:defRPr>
            </a:pPr>
            <a:r>
              <a:t>“What should we consider doing?”</a:t>
            </a:r>
            <a:br/>
            <a:br/>
            <a:r>
              <a:t>Useful, but requires human judgment.</a:t>
            </a:r>
          </a:p>
        </p:txBody>
      </p:sp>
      <p:sp>
        <p:nvSpPr>
          <p:cNvPr id="22" name="Slide Number Placeholder 21">
            <a:extLst>
              <a:ext uri="{FF2B5EF4-FFF2-40B4-BE49-F238E27FC236}">
                <a16:creationId xmlns:a16="http://schemas.microsoft.com/office/drawing/2014/main" id="{E1DFEDE2-2B4F-1813-9FEB-1E1355478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0233E"/>
                </a:solidFill>
                <a:latin typeface="Aptos Display"/>
              </a:defRPr>
            </a:pPr>
            <a:r>
              <a:t>Facts, Inferences, Recommendations &amp; Unknowns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6510528"/>
            <a:ext cx="10972800" cy="16459"/>
          </a:xfrm>
          <a:prstGeom prst="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21792" y="6547104"/>
            <a:ext cx="36576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82919E"/>
                </a:solidFill>
                <a:latin typeface="Aptos"/>
              </a:defRPr>
            </a:pPr>
            <a:r>
              <a:t>WINTRUST  |  GenAI &amp; Technology Fluency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691640"/>
            <a:ext cx="3657600" cy="786384"/>
          </a:xfrm>
          <a:prstGeom prst="rect">
            <a:avLst/>
          </a:prstGeom>
          <a:solidFill>
            <a:srgbClr val="10233E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8368" y="1746504"/>
            <a:ext cx="3529584" cy="6949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Aptos"/>
              </a:defRPr>
            </a:pPr>
            <a:r>
              <a:t>Classification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1960" y="1691640"/>
            <a:ext cx="3657600" cy="786384"/>
          </a:xfrm>
          <a:prstGeom prst="rect">
            <a:avLst/>
          </a:prstGeom>
          <a:solidFill>
            <a:srgbClr val="10233E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315968" y="1746504"/>
            <a:ext cx="3529584" cy="6949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Aptos"/>
              </a:defRPr>
            </a:pPr>
            <a:r>
              <a:t>Meaning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09560" y="1691640"/>
            <a:ext cx="3657600" cy="786384"/>
          </a:xfrm>
          <a:prstGeom prst="rect">
            <a:avLst/>
          </a:prstGeom>
          <a:solidFill>
            <a:srgbClr val="10233E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973568" y="1746504"/>
            <a:ext cx="3529584" cy="6949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Aptos"/>
              </a:defRPr>
            </a:pPr>
            <a:r>
              <a:t>Example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" y="2478024"/>
            <a:ext cx="3657600" cy="786384"/>
          </a:xfrm>
          <a:prstGeom prst="rect">
            <a:avLst/>
          </a:prstGeom>
          <a:solidFill>
            <a:srgbClr val="FFFFFF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8368" y="2532888"/>
            <a:ext cx="3529584" cy="6949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50" b="0">
                <a:solidFill>
                  <a:srgbClr val="283441"/>
                </a:solidFill>
                <a:latin typeface="Aptos"/>
              </a:defRPr>
            </a:pPr>
            <a:r>
              <a:t>FACT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51960" y="2478024"/>
            <a:ext cx="3657600" cy="786384"/>
          </a:xfrm>
          <a:prstGeom prst="rect">
            <a:avLst/>
          </a:prstGeom>
          <a:solidFill>
            <a:srgbClr val="FFFFFF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315968" y="2532888"/>
            <a:ext cx="3529584" cy="6949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50" b="0">
                <a:solidFill>
                  <a:srgbClr val="283441"/>
                </a:solidFill>
                <a:latin typeface="Aptos"/>
              </a:defRPr>
            </a:pPr>
            <a:r>
              <a:t>Directly supported by evidence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09560" y="2478024"/>
            <a:ext cx="3657600" cy="786384"/>
          </a:xfrm>
          <a:prstGeom prst="rect">
            <a:avLst/>
          </a:prstGeom>
          <a:solidFill>
            <a:srgbClr val="FFFFFF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973568" y="2532888"/>
            <a:ext cx="3529584" cy="6949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50" b="0">
                <a:solidFill>
                  <a:srgbClr val="283441"/>
                </a:solidFill>
                <a:latin typeface="Aptos"/>
              </a:defRPr>
            </a:pPr>
            <a:r>
              <a:t>The source states that an approved AI platform is required.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4360" y="3264408"/>
            <a:ext cx="3657600" cy="786384"/>
          </a:xfrm>
          <a:prstGeom prst="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8368" y="3319272"/>
            <a:ext cx="3529584" cy="6949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50" b="0">
                <a:solidFill>
                  <a:srgbClr val="283441"/>
                </a:solidFill>
                <a:latin typeface="Aptos"/>
              </a:defRPr>
            </a:pPr>
            <a:r>
              <a:t>INFERENCE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51960" y="3264408"/>
            <a:ext cx="3657600" cy="786384"/>
          </a:xfrm>
          <a:prstGeom prst="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315968" y="3319272"/>
            <a:ext cx="3529584" cy="6949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50" b="0">
                <a:solidFill>
                  <a:srgbClr val="283441"/>
                </a:solidFill>
                <a:latin typeface="Aptos"/>
              </a:defRPr>
            </a:pPr>
            <a:r>
              <a:t>Reasonable interpretation of evidence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09560" y="3264408"/>
            <a:ext cx="3657600" cy="786384"/>
          </a:xfrm>
          <a:prstGeom prst="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973568" y="3319272"/>
            <a:ext cx="3529584" cy="6949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50" b="0">
                <a:solidFill>
                  <a:srgbClr val="283441"/>
                </a:solidFill>
                <a:latin typeface="Aptos"/>
              </a:defRPr>
            </a:pPr>
            <a:r>
              <a:t>The control may reduce the likelihood of data leakage.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" y="4050791"/>
            <a:ext cx="3657600" cy="786384"/>
          </a:xfrm>
          <a:prstGeom prst="rect">
            <a:avLst/>
          </a:prstGeom>
          <a:solidFill>
            <a:srgbClr val="FFFFFF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58368" y="4105655"/>
            <a:ext cx="3529584" cy="6949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50" b="0">
                <a:solidFill>
                  <a:srgbClr val="283441"/>
                </a:solidFill>
                <a:latin typeface="Aptos"/>
              </a:defRPr>
            </a:pPr>
            <a:r>
              <a:t>RECOMMENDATION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51960" y="4050791"/>
            <a:ext cx="3657600" cy="786384"/>
          </a:xfrm>
          <a:prstGeom prst="rect">
            <a:avLst/>
          </a:prstGeom>
          <a:solidFill>
            <a:srgbClr val="FFFFFF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315968" y="4105655"/>
            <a:ext cx="3529584" cy="6949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50" b="0">
                <a:solidFill>
                  <a:srgbClr val="283441"/>
                </a:solidFill>
                <a:latin typeface="Aptos"/>
              </a:defRPr>
            </a:pPr>
            <a:r>
              <a:t>Proposed action or response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09560" y="4050791"/>
            <a:ext cx="3657600" cy="786384"/>
          </a:xfrm>
          <a:prstGeom prst="rect">
            <a:avLst/>
          </a:prstGeom>
          <a:solidFill>
            <a:srgbClr val="FFFFFF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973568" y="4105655"/>
            <a:ext cx="3529584" cy="6949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50" b="0">
                <a:solidFill>
                  <a:srgbClr val="283441"/>
                </a:solidFill>
                <a:latin typeface="Aptos"/>
              </a:defRPr>
            </a:pPr>
            <a:r>
              <a:t>Create a formal review step before external communication.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4360" y="4837176"/>
            <a:ext cx="3657600" cy="786384"/>
          </a:xfrm>
          <a:prstGeom prst="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58368" y="4892040"/>
            <a:ext cx="3529584" cy="6949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50" b="0">
                <a:solidFill>
                  <a:srgbClr val="283441"/>
                </a:solidFill>
                <a:latin typeface="Aptos"/>
              </a:defRPr>
            </a:pPr>
            <a:r>
              <a:t>UNKNOWN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251960" y="4837176"/>
            <a:ext cx="3657600" cy="786384"/>
          </a:xfrm>
          <a:prstGeom prst="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315968" y="4892040"/>
            <a:ext cx="3529584" cy="6949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50" b="0">
                <a:solidFill>
                  <a:srgbClr val="283441"/>
                </a:solidFill>
                <a:latin typeface="Aptos"/>
              </a:defRPr>
            </a:pPr>
            <a:r>
              <a:t>Information not available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909560" y="4837176"/>
            <a:ext cx="3657600" cy="786384"/>
          </a:xfrm>
          <a:prstGeom prst="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973568" y="4892040"/>
            <a:ext cx="3529584" cy="6949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50" b="0">
                <a:solidFill>
                  <a:srgbClr val="283441"/>
                </a:solidFill>
                <a:latin typeface="Aptos"/>
              </a:defRPr>
            </a:pPr>
            <a:r>
              <a:t>The source does not specify the investment amount.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5687568"/>
            <a:ext cx="10424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B84444"/>
                </a:solidFill>
                <a:latin typeface="Aptos Display"/>
              </a:defRPr>
            </a:pPr>
            <a:r>
              <a:t>A recommendation is not a fact simply because AI stated it confidently.</a:t>
            </a:r>
          </a:p>
        </p:txBody>
      </p:sp>
      <p:sp>
        <p:nvSpPr>
          <p:cNvPr id="37" name="Slide Number Placeholder 36">
            <a:extLst>
              <a:ext uri="{FF2B5EF4-FFF2-40B4-BE49-F238E27FC236}">
                <a16:creationId xmlns:a16="http://schemas.microsoft.com/office/drawing/2014/main" id="{DC3311DF-DEF3-6715-04CF-D46B924FC9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0233E"/>
                </a:solidFill>
                <a:latin typeface="Aptos Display"/>
              </a:defRPr>
            </a:pPr>
            <a:r>
              <a:t>The Research Prompt Framework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6510528"/>
            <a:ext cx="10972800" cy="16459"/>
          </a:xfrm>
          <a:prstGeom prst="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21792" y="6547104"/>
            <a:ext cx="36576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82919E"/>
                </a:solidFill>
                <a:latin typeface="Aptos"/>
              </a:defRPr>
            </a:pPr>
            <a:r>
              <a:t>WINTRUST  |  GenAI &amp; Technology Fluency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5A717BC1-FBC8-45EA-BD8E-EE19311C41C7}"/>
              </a:ext>
            </a:extLst>
          </p:cNvPr>
          <p:cNvGrpSpPr/>
          <p:nvPr/>
        </p:nvGrpSpPr>
        <p:grpSpPr>
          <a:xfrm>
            <a:off x="685800" y="1691640"/>
            <a:ext cx="10744200" cy="4023360"/>
            <a:chOff x="685800" y="1691640"/>
            <a:chExt cx="10744200" cy="4023360"/>
          </a:xfrm>
        </p:grpSpPr>
        <p:sp>
          <p:nvSpPr>
            <p:cNvPr id="6" name="Rounded Rectangle 5"/>
            <p:cNvSpPr/>
            <p:nvPr/>
          </p:nvSpPr>
          <p:spPr>
            <a:xfrm>
              <a:off x="685800" y="1691640"/>
              <a:ext cx="5212080" cy="868680"/>
            </a:xfrm>
            <a:prstGeom prst="roundRect">
              <a:avLst/>
            </a:prstGeom>
            <a:solidFill>
              <a:srgbClr val="F2F6F9"/>
            </a:solidFill>
            <a:ln>
              <a:solidFill>
                <a:srgbClr val="E0E7EE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" name="Rectangle 6"/>
            <p:cNvSpPr/>
            <p:nvPr/>
          </p:nvSpPr>
          <p:spPr>
            <a:xfrm>
              <a:off x="685800" y="1691640"/>
              <a:ext cx="73152" cy="868680"/>
            </a:xfrm>
            <a:prstGeom prst="rect">
              <a:avLst/>
            </a:prstGeom>
            <a:solidFill>
              <a:srgbClr val="00848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914400" y="1856232"/>
              <a:ext cx="4800600" cy="41148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>
                <a:defRPr sz="1300" b="1">
                  <a:solidFill>
                    <a:srgbClr val="10233E"/>
                  </a:solidFill>
                  <a:latin typeface="Aptos"/>
                </a:defRPr>
              </a:pPr>
              <a:r>
                <a:t>ROLE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914400" y="2313432"/>
              <a:ext cx="4800600" cy="13715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 sz="1000">
                  <a:solidFill>
                    <a:srgbClr val="283441"/>
                  </a:solidFill>
                  <a:latin typeface="Aptos"/>
                </a:defRPr>
              </a:pPr>
              <a:r>
                <a:t>Who should AI act as?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685800" y="2743200"/>
              <a:ext cx="5212080" cy="868680"/>
            </a:xfrm>
            <a:prstGeom prst="roundRect">
              <a:avLst/>
            </a:prstGeom>
            <a:solidFill>
              <a:srgbClr val="F2F6F9"/>
            </a:solidFill>
            <a:ln>
              <a:solidFill>
                <a:srgbClr val="E0E7EE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685800" y="2743200"/>
              <a:ext cx="73152" cy="868680"/>
            </a:xfrm>
            <a:prstGeom prst="rect">
              <a:avLst/>
            </a:prstGeom>
            <a:solidFill>
              <a:srgbClr val="2F63A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914400" y="2907792"/>
              <a:ext cx="4800600" cy="41148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>
                <a:defRPr sz="1300" b="1">
                  <a:solidFill>
                    <a:srgbClr val="10233E"/>
                  </a:solidFill>
                  <a:latin typeface="Aptos"/>
                </a:defRPr>
              </a:pPr>
              <a:r>
                <a:t>QUESTION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914400" y="3364992"/>
              <a:ext cx="4800600" cy="13715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 sz="1000">
                  <a:solidFill>
                    <a:srgbClr val="283441"/>
                  </a:solidFill>
                  <a:latin typeface="Aptos"/>
                </a:defRPr>
              </a:pPr>
              <a:r>
                <a:t>What exactly are we trying to understand?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685800" y="3794760"/>
              <a:ext cx="5212080" cy="868680"/>
            </a:xfrm>
            <a:prstGeom prst="roundRect">
              <a:avLst/>
            </a:prstGeom>
            <a:solidFill>
              <a:srgbClr val="F2F6F9"/>
            </a:solidFill>
            <a:ln>
              <a:solidFill>
                <a:srgbClr val="E0E7EE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685800" y="3794760"/>
              <a:ext cx="73152" cy="868680"/>
            </a:xfrm>
            <a:prstGeom prst="rect">
              <a:avLst/>
            </a:prstGeom>
            <a:solidFill>
              <a:srgbClr val="2F8B5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914400" y="3959352"/>
              <a:ext cx="4800600" cy="41148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>
                <a:defRPr sz="1300" b="1">
                  <a:solidFill>
                    <a:srgbClr val="10233E"/>
                  </a:solidFill>
                  <a:latin typeface="Aptos"/>
                </a:defRPr>
              </a:pPr>
              <a:r>
                <a:t>SOURCES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914400" y="4416552"/>
              <a:ext cx="4800600" cy="13715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 sz="1000">
                  <a:solidFill>
                    <a:srgbClr val="283441"/>
                  </a:solidFill>
                  <a:latin typeface="Aptos"/>
                </a:defRPr>
              </a:pPr>
              <a:r>
                <a:t>What evidence can it use?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685800" y="4846320"/>
              <a:ext cx="5212080" cy="868680"/>
            </a:xfrm>
            <a:prstGeom prst="roundRect">
              <a:avLst/>
            </a:prstGeom>
            <a:solidFill>
              <a:srgbClr val="F2F6F9"/>
            </a:solidFill>
            <a:ln>
              <a:solidFill>
                <a:srgbClr val="E0E7EE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685800" y="4846320"/>
              <a:ext cx="73152" cy="868680"/>
            </a:xfrm>
            <a:prstGeom prst="rect">
              <a:avLst/>
            </a:prstGeom>
            <a:solidFill>
              <a:srgbClr val="DA853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914400" y="5010912"/>
              <a:ext cx="4800600" cy="41148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>
                <a:defRPr sz="1300" b="1">
                  <a:solidFill>
                    <a:srgbClr val="10233E"/>
                  </a:solidFill>
                  <a:latin typeface="Aptos"/>
                </a:defRPr>
              </a:pPr>
              <a:r>
                <a:t>SCOPE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914400" y="5468112"/>
              <a:ext cx="4800600" cy="13715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 sz="1000">
                  <a:solidFill>
                    <a:srgbClr val="283441"/>
                  </a:solidFill>
                  <a:latin typeface="Aptos"/>
                </a:defRPr>
              </a:pPr>
              <a:r>
                <a:t>What is included and excluded?</a:t>
              </a:r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6217920" y="1691640"/>
              <a:ext cx="5212080" cy="868680"/>
            </a:xfrm>
            <a:prstGeom prst="roundRect">
              <a:avLst/>
            </a:prstGeom>
            <a:solidFill>
              <a:srgbClr val="F2F6F9"/>
            </a:solidFill>
            <a:ln>
              <a:solidFill>
                <a:srgbClr val="E0E7EE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6217920" y="1691640"/>
              <a:ext cx="73152" cy="868680"/>
            </a:xfrm>
            <a:prstGeom prst="rect">
              <a:avLst/>
            </a:prstGeom>
            <a:solidFill>
              <a:srgbClr val="B84444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6446520" y="1856232"/>
              <a:ext cx="4800600" cy="41148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>
                <a:defRPr sz="1300" b="1">
                  <a:solidFill>
                    <a:srgbClr val="10233E"/>
                  </a:solidFill>
                  <a:latin typeface="Aptos"/>
                </a:defRPr>
              </a:pPr>
              <a:r>
                <a:t>ANALYSIS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6446520" y="2313432"/>
              <a:ext cx="4800600" cy="13715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 sz="1000">
                  <a:solidFill>
                    <a:srgbClr val="283441"/>
                  </a:solidFill>
                  <a:latin typeface="Aptos"/>
                </a:defRPr>
              </a:pPr>
              <a:r>
                <a:t>What should it do with the information?</a:t>
              </a:r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6217920" y="2743200"/>
              <a:ext cx="5212080" cy="868680"/>
            </a:xfrm>
            <a:prstGeom prst="roundRect">
              <a:avLst/>
            </a:prstGeom>
            <a:solidFill>
              <a:srgbClr val="F2F6F9"/>
            </a:solidFill>
            <a:ln>
              <a:solidFill>
                <a:srgbClr val="E0E7EE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6217920" y="2743200"/>
              <a:ext cx="73152" cy="868680"/>
            </a:xfrm>
            <a:prstGeom prst="rect">
              <a:avLst/>
            </a:prstGeom>
            <a:solidFill>
              <a:srgbClr val="00848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6446520" y="2907792"/>
              <a:ext cx="4800600" cy="41148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>
                <a:defRPr sz="1300" b="1">
                  <a:solidFill>
                    <a:srgbClr val="10233E"/>
                  </a:solidFill>
                  <a:latin typeface="Aptos"/>
                </a:defRPr>
              </a:pPr>
              <a:r>
                <a:t>EVIDENCE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6446520" y="3364992"/>
              <a:ext cx="4800600" cy="13715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 sz="1000">
                  <a:solidFill>
                    <a:srgbClr val="283441"/>
                  </a:solidFill>
                  <a:latin typeface="Aptos"/>
                </a:defRPr>
              </a:pPr>
              <a:r>
                <a:t>How should claims be supported?</a:t>
              </a:r>
            </a:p>
          </p:txBody>
        </p:sp>
        <p:sp>
          <p:nvSpPr>
            <p:cNvPr id="30" name="Rounded Rectangle 29"/>
            <p:cNvSpPr/>
            <p:nvPr/>
          </p:nvSpPr>
          <p:spPr>
            <a:xfrm>
              <a:off x="6217920" y="3794760"/>
              <a:ext cx="5212080" cy="868680"/>
            </a:xfrm>
            <a:prstGeom prst="roundRect">
              <a:avLst/>
            </a:prstGeom>
            <a:solidFill>
              <a:srgbClr val="F2F6F9"/>
            </a:solidFill>
            <a:ln>
              <a:solidFill>
                <a:srgbClr val="E0E7EE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1" name="Rectangle 30"/>
            <p:cNvSpPr/>
            <p:nvPr/>
          </p:nvSpPr>
          <p:spPr>
            <a:xfrm>
              <a:off x="6217920" y="3794760"/>
              <a:ext cx="73152" cy="868680"/>
            </a:xfrm>
            <a:prstGeom prst="rect">
              <a:avLst/>
            </a:prstGeom>
            <a:solidFill>
              <a:srgbClr val="2F63A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6446520" y="3959352"/>
              <a:ext cx="4800600" cy="41148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>
                <a:defRPr sz="1300" b="1">
                  <a:solidFill>
                    <a:srgbClr val="10233E"/>
                  </a:solidFill>
                  <a:latin typeface="Aptos"/>
                </a:defRPr>
              </a:pPr>
              <a:r>
                <a:t>OUTPUT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6446520" y="4416552"/>
              <a:ext cx="4800600" cy="13715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 sz="1000">
                  <a:solidFill>
                    <a:srgbClr val="283441"/>
                  </a:solidFill>
                  <a:latin typeface="Aptos"/>
                </a:defRPr>
              </a:pPr>
              <a:r>
                <a:t>What structure should be produced?</a:t>
              </a:r>
            </a:p>
          </p:txBody>
        </p:sp>
        <p:sp>
          <p:nvSpPr>
            <p:cNvPr id="34" name="Rounded Rectangle 33"/>
            <p:cNvSpPr/>
            <p:nvPr/>
          </p:nvSpPr>
          <p:spPr>
            <a:xfrm>
              <a:off x="6217920" y="4846320"/>
              <a:ext cx="5212080" cy="868680"/>
            </a:xfrm>
            <a:prstGeom prst="roundRect">
              <a:avLst/>
            </a:prstGeom>
            <a:solidFill>
              <a:srgbClr val="F2F6F9"/>
            </a:solidFill>
            <a:ln>
              <a:solidFill>
                <a:srgbClr val="E0E7EE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5" name="Rectangle 34"/>
            <p:cNvSpPr/>
            <p:nvPr/>
          </p:nvSpPr>
          <p:spPr>
            <a:xfrm>
              <a:off x="6217920" y="4846320"/>
              <a:ext cx="73152" cy="868680"/>
            </a:xfrm>
            <a:prstGeom prst="rect">
              <a:avLst/>
            </a:prstGeom>
            <a:solidFill>
              <a:srgbClr val="B84444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6446520" y="5010912"/>
              <a:ext cx="4800600" cy="41148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>
                <a:defRPr sz="1300" b="1">
                  <a:solidFill>
                    <a:srgbClr val="10233E"/>
                  </a:solidFill>
                  <a:latin typeface="Aptos"/>
                </a:defRPr>
              </a:pPr>
              <a:r>
                <a:t>VALIDATION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6446520" y="5468112"/>
              <a:ext cx="4800600" cy="13715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 sz="1000">
                  <a:solidFill>
                    <a:srgbClr val="283441"/>
                  </a:solidFill>
                  <a:latin typeface="Aptos"/>
                </a:defRPr>
              </a:pPr>
              <a:r>
                <a:t>What should AI explicitly flag?</a:t>
              </a:r>
            </a:p>
          </p:txBody>
        </p:sp>
      </p:grpSp>
      <p:sp>
        <p:nvSpPr>
          <p:cNvPr id="38" name="Slide Number Placeholder 37">
            <a:extLst>
              <a:ext uri="{FF2B5EF4-FFF2-40B4-BE49-F238E27FC236}">
                <a16:creationId xmlns:a16="http://schemas.microsoft.com/office/drawing/2014/main" id="{09AA00EB-9307-253F-1597-EED6B736E1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9</a:t>
            </a:fld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B0F8256-0A79-B619-3143-A65EAA4778F2}"/>
              </a:ext>
            </a:extLst>
          </p:cNvPr>
          <p:cNvSpPr txBox="1"/>
          <p:nvPr/>
        </p:nvSpPr>
        <p:spPr>
          <a:xfrm>
            <a:off x="3147822" y="1122408"/>
            <a:ext cx="6140196" cy="539634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just">
              <a:lnSpc>
                <a:spcPct val="100000"/>
              </a:lnSpc>
              <a:spcAft>
                <a:spcPts val="800"/>
              </a:spcAft>
              <a:buNone/>
            </a:pPr>
            <a:r>
              <a:rPr lang="en-IN" sz="14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Act as a [role].</a:t>
            </a:r>
          </a:p>
          <a:p>
            <a:pPr algn="just">
              <a:lnSpc>
                <a:spcPct val="100000"/>
              </a:lnSpc>
              <a:spcAft>
                <a:spcPts val="800"/>
              </a:spcAft>
              <a:buNone/>
            </a:pPr>
            <a:endParaRPr lang="en-IN" sz="14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just">
              <a:lnSpc>
                <a:spcPct val="100000"/>
              </a:lnSpc>
              <a:spcAft>
                <a:spcPts val="800"/>
              </a:spcAft>
              <a:buNone/>
            </a:pPr>
            <a:r>
              <a:rPr lang="en-IN" sz="14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Using only [specified sources], </a:t>
            </a:r>
            <a:r>
              <a:rPr lang="en-IN" sz="14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analyze</a:t>
            </a:r>
            <a:r>
              <a:rPr lang="en-IN" sz="14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[topic].</a:t>
            </a:r>
          </a:p>
          <a:p>
            <a:pPr algn="just">
              <a:lnSpc>
                <a:spcPct val="100000"/>
              </a:lnSpc>
              <a:spcAft>
                <a:spcPts val="800"/>
              </a:spcAft>
              <a:buNone/>
            </a:pPr>
            <a:endParaRPr lang="en-IN" sz="14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just">
              <a:lnSpc>
                <a:spcPct val="100000"/>
              </a:lnSpc>
              <a:spcAft>
                <a:spcPts val="800"/>
              </a:spcAft>
              <a:buNone/>
            </a:pPr>
            <a:r>
              <a:rPr lang="en-IN" sz="14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Your objectives are:</a:t>
            </a:r>
          </a:p>
          <a:p>
            <a:pPr algn="just">
              <a:lnSpc>
                <a:spcPct val="100000"/>
              </a:lnSpc>
              <a:spcAft>
                <a:spcPts val="800"/>
              </a:spcAft>
              <a:buNone/>
            </a:pPr>
            <a:r>
              <a:rPr lang="en-IN" sz="14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1. ...</a:t>
            </a:r>
          </a:p>
          <a:p>
            <a:pPr algn="just">
              <a:lnSpc>
                <a:spcPct val="100000"/>
              </a:lnSpc>
              <a:spcAft>
                <a:spcPts val="800"/>
              </a:spcAft>
              <a:buNone/>
            </a:pPr>
            <a:r>
              <a:rPr lang="en-IN" sz="14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2. ...</a:t>
            </a:r>
          </a:p>
          <a:p>
            <a:pPr algn="just">
              <a:lnSpc>
                <a:spcPct val="100000"/>
              </a:lnSpc>
              <a:spcAft>
                <a:spcPts val="800"/>
              </a:spcAft>
              <a:buNone/>
            </a:pPr>
            <a:r>
              <a:rPr lang="en-IN" sz="14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3. ...</a:t>
            </a:r>
          </a:p>
          <a:p>
            <a:pPr algn="just">
              <a:lnSpc>
                <a:spcPct val="100000"/>
              </a:lnSpc>
              <a:spcAft>
                <a:spcPts val="800"/>
              </a:spcAft>
              <a:buNone/>
            </a:pPr>
            <a:endParaRPr lang="en-IN" sz="14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just">
              <a:lnSpc>
                <a:spcPct val="100000"/>
              </a:lnSpc>
              <a:spcAft>
                <a:spcPts val="800"/>
              </a:spcAft>
              <a:buNone/>
            </a:pPr>
            <a:r>
              <a:rPr lang="en-IN" sz="14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For every material conclusion:</a:t>
            </a:r>
          </a:p>
          <a:p>
            <a:pPr algn="just">
              <a:lnSpc>
                <a:spcPct val="100000"/>
              </a:lnSpc>
              <a:spcAft>
                <a:spcPts val="800"/>
              </a:spcAft>
              <a:buNone/>
            </a:pPr>
            <a:r>
              <a:rPr lang="en-IN" sz="14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- cite the supporting source</a:t>
            </a:r>
          </a:p>
          <a:p>
            <a:pPr algn="just">
              <a:lnSpc>
                <a:spcPct val="100000"/>
              </a:lnSpc>
              <a:spcAft>
                <a:spcPts val="800"/>
              </a:spcAft>
              <a:buNone/>
            </a:pPr>
            <a:r>
              <a:rPr lang="en-IN" sz="14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- distinguish Fact from Inference</a:t>
            </a:r>
          </a:p>
          <a:p>
            <a:pPr algn="just">
              <a:lnSpc>
                <a:spcPct val="100000"/>
              </a:lnSpc>
              <a:spcAft>
                <a:spcPts val="800"/>
              </a:spcAft>
              <a:buNone/>
            </a:pPr>
            <a:r>
              <a:rPr lang="en-IN" sz="14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- identify missing information</a:t>
            </a:r>
          </a:p>
          <a:p>
            <a:pPr algn="just">
              <a:lnSpc>
                <a:spcPct val="100000"/>
              </a:lnSpc>
              <a:spcAft>
                <a:spcPts val="800"/>
              </a:spcAft>
              <a:buNone/>
            </a:pPr>
            <a:endParaRPr lang="en-IN" sz="14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just">
              <a:lnSpc>
                <a:spcPct val="100000"/>
              </a:lnSpc>
              <a:spcAft>
                <a:spcPts val="800"/>
              </a:spcAft>
              <a:buNone/>
            </a:pPr>
            <a:r>
              <a:rPr lang="en-IN" sz="14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Do not invent facts.</a:t>
            </a:r>
          </a:p>
          <a:p>
            <a:pPr algn="just">
              <a:lnSpc>
                <a:spcPct val="100000"/>
              </a:lnSpc>
              <a:spcAft>
                <a:spcPts val="800"/>
              </a:spcAft>
              <a:buNone/>
            </a:pPr>
            <a:endParaRPr lang="en-IN" sz="14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just">
              <a:lnSpc>
                <a:spcPct val="100000"/>
              </a:lnSpc>
              <a:spcAft>
                <a:spcPts val="800"/>
              </a:spcAft>
              <a:buNone/>
            </a:pPr>
            <a:r>
              <a:rPr lang="en-IN" sz="14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Present the result as [output format].</a:t>
            </a:r>
            <a:endParaRPr lang="en-IN" sz="10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indefinite"/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25"/>
                                      </p:to>
                                    </p:set>
                                    <p:animEffect filter="image" prLst="opacity: 0.25">
                                      <p:cBhvr rctx="IE">
                                        <p:cTn id="11" dur="indefinite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0233E"/>
                </a:solidFill>
                <a:latin typeface="Aptos Display"/>
              </a:defRPr>
            </a:pPr>
            <a:r>
              <a:t>Demo 1: Source-Grounded Research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307592"/>
            <a:ext cx="10698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C6976"/>
                </a:solidFill>
                <a:latin typeface="Aptos"/>
              </a:defRPr>
            </a:pPr>
            <a:r>
              <a:t>Use the supplied WinTrust security documents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510528"/>
            <a:ext cx="10972800" cy="16459"/>
          </a:xfrm>
          <a:prstGeom prst="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21792" y="6547104"/>
            <a:ext cx="36576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82919E"/>
                </a:solidFill>
                <a:latin typeface="Aptos"/>
              </a:defRPr>
            </a:pPr>
            <a:r>
              <a:t>WINTRUST  |  GenAI &amp; Technology Fluency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5212080" cy="3474720"/>
          </a:xfrm>
          <a:prstGeom prst="round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85800" y="1737360"/>
            <a:ext cx="73152" cy="3474720"/>
          </a:xfrm>
          <a:prstGeom prst="rect">
            <a:avLst/>
          </a:prstGeom>
          <a:solidFill>
            <a:srgbClr val="B8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1901952"/>
            <a:ext cx="4800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0233E"/>
                </a:solidFill>
                <a:latin typeface="Aptos"/>
              </a:defRPr>
            </a:pPr>
            <a:r>
              <a:t>BAD PROMPT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359152"/>
            <a:ext cx="4800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83441"/>
                </a:solidFill>
                <a:latin typeface="Aptos"/>
              </a:defRPr>
            </a:pPr>
            <a:r>
              <a:t>“Tell me about the security risks of GenAI.”</a:t>
            </a:r>
            <a:br/>
            <a:br/>
            <a:r>
              <a:t>Ask participants:</a:t>
            </a:r>
            <a:br/>
            <a:r>
              <a:t>• Where did the claims come from?</a:t>
            </a:r>
            <a:br/>
            <a:r>
              <a:t>• Which claims are WinTrust-specific?</a:t>
            </a:r>
            <a:br/>
            <a:r>
              <a:t>• What could be missing?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737360"/>
            <a:ext cx="5212080" cy="3474720"/>
          </a:xfrm>
          <a:prstGeom prst="round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263640" y="1737360"/>
            <a:ext cx="73152" cy="3474720"/>
          </a:xfrm>
          <a:prstGeom prst="rect">
            <a:avLst/>
          </a:prstGeom>
          <a:solidFill>
            <a:srgbClr val="0084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92240" y="1901952"/>
            <a:ext cx="4800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0233E"/>
                </a:solidFill>
                <a:latin typeface="Aptos"/>
              </a:defRPr>
            </a:pPr>
            <a:r>
              <a:t>INPUT DOCUMENTS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359152"/>
            <a:ext cx="4800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83441"/>
                </a:solidFill>
                <a:latin typeface="Aptos"/>
              </a:defRPr>
            </a:pPr>
            <a:r>
              <a:t>WinTrust_GenAI_Security_Guidelines.docx</a:t>
            </a:r>
            <a:br/>
            <a:r>
              <a:t>WinTrust_Malicious_Operations_Note.docx</a:t>
            </a:r>
            <a:br/>
            <a:br/>
            <a:r>
              <a:t>Use these as the evidence boundary.</a:t>
            </a:r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1C63075F-4FB2-1C0E-3FAF-ECBF9D6A69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10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/>
      <p:bldP spid="1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590437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0233E"/>
                </a:solidFill>
                <a:latin typeface="Aptos Display"/>
              </a:defRPr>
            </a:pPr>
            <a:r>
              <a:rPr dirty="0"/>
              <a:t>Demo 1</a:t>
            </a:r>
            <a:r>
              <a:rPr lang="en-US" dirty="0"/>
              <a:t>A</a:t>
            </a:r>
            <a:r>
              <a:rPr dirty="0"/>
              <a:t>: Improved Research Prompt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6510528"/>
            <a:ext cx="10972800" cy="16459"/>
          </a:xfrm>
          <a:prstGeom prst="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21792" y="6547104"/>
            <a:ext cx="36576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82919E"/>
                </a:solidFill>
                <a:latin typeface="Aptos"/>
              </a:defRPr>
            </a:pPr>
            <a:r>
              <a:t>WINTRUST  |  GenAI &amp; Technology Fluency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554480"/>
            <a:ext cx="10927080" cy="4709160"/>
          </a:xfrm>
          <a:prstGeom prst="roundRect">
            <a:avLst/>
          </a:prstGeom>
          <a:solidFill>
            <a:srgbClr val="192330"/>
          </a:solidFill>
          <a:ln>
            <a:solidFill>
              <a:srgbClr val="3C4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1737360"/>
            <a:ext cx="1046988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E1EBF2"/>
                </a:solidFill>
                <a:latin typeface="Cascadia Mono"/>
              </a:defRPr>
            </a:pPr>
            <a:r>
              <a:rPr dirty="0"/>
              <a:t>Act as an enterprise AI risk analyst.</a:t>
            </a:r>
            <a:br>
              <a:rPr dirty="0"/>
            </a:br>
            <a:br>
              <a:rPr dirty="0"/>
            </a:br>
            <a:r>
              <a:rPr dirty="0"/>
              <a:t>Using only:</a:t>
            </a:r>
            <a:br>
              <a:rPr dirty="0"/>
            </a:br>
            <a:r>
              <a:rPr dirty="0"/>
              <a:t>1. WinTrust_GenAI_Security_Guidelines.docx</a:t>
            </a:r>
            <a:br>
              <a:rPr dirty="0"/>
            </a:br>
            <a:r>
              <a:rPr dirty="0"/>
              <a:t>2. WinTrust_Malicious_Operations_Note.docx</a:t>
            </a:r>
            <a:br>
              <a:rPr dirty="0"/>
            </a:br>
            <a:br>
              <a:rPr dirty="0"/>
            </a:br>
            <a:r>
              <a:rPr dirty="0"/>
              <a:t>Identify security risks and control considerations.</a:t>
            </a:r>
            <a:br>
              <a:rPr dirty="0"/>
            </a:br>
            <a:br>
              <a:rPr dirty="0"/>
            </a:br>
            <a:r>
              <a:rPr dirty="0"/>
              <a:t>For each item provide:</a:t>
            </a:r>
            <a:br>
              <a:rPr dirty="0"/>
            </a:br>
            <a:r>
              <a:rPr dirty="0"/>
              <a:t>• Risk</a:t>
            </a:r>
            <a:br>
              <a:rPr dirty="0"/>
            </a:br>
            <a:r>
              <a:rPr dirty="0"/>
              <a:t>• Evidence</a:t>
            </a:r>
            <a:br>
              <a:rPr dirty="0"/>
            </a:br>
            <a:r>
              <a:rPr dirty="0"/>
              <a:t>• Source document</a:t>
            </a:r>
            <a:br>
              <a:rPr dirty="0"/>
            </a:br>
            <a:r>
              <a:rPr dirty="0"/>
              <a:t>• Why it matters</a:t>
            </a:r>
            <a:br>
              <a:rPr dirty="0"/>
            </a:br>
            <a:r>
              <a:rPr dirty="0"/>
              <a:t>• Recommended control</a:t>
            </a:r>
            <a:br>
              <a:rPr dirty="0"/>
            </a:br>
            <a:r>
              <a:rPr dirty="0"/>
              <a:t>• Classification: Fact / Inference / Recommendation / Unknown</a:t>
            </a:r>
            <a:br>
              <a:rPr dirty="0"/>
            </a:br>
            <a:br>
              <a:rPr dirty="0"/>
            </a:br>
            <a:r>
              <a:rPr dirty="0"/>
              <a:t>Rules:</a:t>
            </a:r>
            <a:br>
              <a:rPr dirty="0"/>
            </a:br>
            <a:r>
              <a:rPr dirty="0"/>
              <a:t>• Do not use external knowledge.</a:t>
            </a:r>
            <a:br>
              <a:rPr dirty="0"/>
            </a:br>
            <a:r>
              <a:rPr dirty="0"/>
              <a:t>• Do not invent policies or controls.</a:t>
            </a:r>
            <a:br>
              <a:rPr dirty="0"/>
            </a:br>
            <a:r>
              <a:rPr dirty="0"/>
              <a:t>• If information is missing, say so.</a:t>
            </a:r>
            <a:br>
              <a:rPr dirty="0"/>
            </a:br>
            <a:r>
              <a:rPr dirty="0"/>
              <a:t>• Separate source evidence from interpretation.</a:t>
            </a:r>
            <a:br>
              <a:rPr dirty="0"/>
            </a:br>
            <a:br>
              <a:rPr dirty="0"/>
            </a:br>
            <a:r>
              <a:rPr dirty="0"/>
              <a:t>End with: “Information Missing from the Sources”.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5873992-E26C-4C41-B1CB-65003FEA62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6042295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0233E"/>
                </a:solidFill>
                <a:latin typeface="Aptos Display"/>
              </a:defRPr>
            </a:pPr>
            <a:r>
              <a:rPr dirty="0"/>
              <a:t>Demo 1</a:t>
            </a:r>
            <a:r>
              <a:rPr lang="en-US" dirty="0"/>
              <a:t>B</a:t>
            </a:r>
            <a:r>
              <a:rPr dirty="0"/>
              <a:t>: The Unsupported Claim Test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6510528"/>
            <a:ext cx="10972800" cy="16459"/>
          </a:xfrm>
          <a:prstGeom prst="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21792" y="6547104"/>
            <a:ext cx="36576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82919E"/>
                </a:solidFill>
                <a:latin typeface="Aptos"/>
              </a:defRPr>
            </a:pPr>
            <a:r>
              <a:t>WINTRUST  |  GenAI &amp; Technology Fluency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37360"/>
            <a:ext cx="10607040" cy="3291840"/>
          </a:xfrm>
          <a:prstGeom prst="roundRect">
            <a:avLst/>
          </a:prstGeom>
          <a:solidFill>
            <a:srgbClr val="192330"/>
          </a:solidFill>
          <a:ln>
            <a:solidFill>
              <a:srgbClr val="3C4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1920240"/>
            <a:ext cx="101498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E1EBF2"/>
                </a:solidFill>
                <a:latin typeface="Cascadia Mono"/>
              </a:defRPr>
            </a:pPr>
            <a:r>
              <a:t>Based on the same documents, determine whether WinTrust should allocate</a:t>
            </a:r>
            <a:br/>
            <a:r>
              <a:t>$5 million to a Generative AI security program in 2026.</a:t>
            </a:r>
            <a:br/>
            <a:br/>
            <a:r>
              <a:t>Provide:</a:t>
            </a:r>
            <a:br/>
            <a:r>
              <a:t>• evidence supporting the investment</a:t>
            </a:r>
            <a:br/>
            <a:r>
              <a:t>• evidence against the investment</a:t>
            </a:r>
            <a:br/>
            <a:r>
              <a:t>• assumptions required</a:t>
            </a:r>
            <a:br/>
            <a:r>
              <a:t>• missing information</a:t>
            </a:r>
            <a:br/>
            <a:r>
              <a:t>• recommendation</a:t>
            </a:r>
            <a:br/>
            <a:br/>
            <a:r>
              <a:t>Do not invent a business case if the source material does not contain</a:t>
            </a:r>
            <a:br/>
            <a:r>
              <a:t>budget, ROI, risk quantification, or cost-benefit evidence.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5257800"/>
            <a:ext cx="10241280" cy="685800"/>
          </a:xfrm>
          <a:prstGeom prst="round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914400" y="5257800"/>
            <a:ext cx="73152" cy="685800"/>
          </a:xfrm>
          <a:prstGeom prst="rect">
            <a:avLst/>
          </a:prstGeom>
          <a:solidFill>
            <a:srgbClr val="DA8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43000" y="5422392"/>
            <a:ext cx="9829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0233E"/>
                </a:solidFill>
                <a:latin typeface="Aptos"/>
              </a:defRPr>
            </a:pPr>
            <a:r>
              <a:t>LEARNING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5715000"/>
            <a:ext cx="9829800" cy="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83441"/>
                </a:solidFill>
                <a:latin typeface="Aptos"/>
              </a:defRPr>
            </a:pPr>
            <a:r>
              <a:rPr dirty="0"/>
              <a:t>A good AI answer can say: “There is not enough evidence to answer this.”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5C5B0AC3-1DD1-DC98-66E0-F07E90F06B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0233E"/>
                </a:solidFill>
                <a:latin typeface="Aptos Display"/>
              </a:defRPr>
            </a:pPr>
            <a:r>
              <a:t>Demo 2: Multi-Document Synthesis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6510528"/>
            <a:ext cx="10972800" cy="16459"/>
          </a:xfrm>
          <a:prstGeom prst="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21792" y="6547104"/>
            <a:ext cx="36576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82919E"/>
                </a:solidFill>
                <a:latin typeface="Aptos"/>
              </a:defRPr>
            </a:pPr>
            <a:r>
              <a:t>WINTRUST  |  GenAI &amp; Technology Fluency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45920"/>
            <a:ext cx="3246120" cy="3291840"/>
          </a:xfrm>
          <a:prstGeom prst="round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1645920"/>
            <a:ext cx="73152" cy="3291840"/>
          </a:xfrm>
          <a:prstGeom prst="rect">
            <a:avLst/>
          </a:prstGeom>
          <a:solidFill>
            <a:srgbClr val="0084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1810512"/>
            <a:ext cx="283463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0233E"/>
                </a:solidFill>
                <a:latin typeface="Aptos"/>
              </a:defRPr>
            </a:pPr>
            <a:r>
              <a:t>SOURCE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267712"/>
            <a:ext cx="283463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83441"/>
                </a:solidFill>
                <a:latin typeface="Aptos"/>
              </a:defRPr>
            </a:pPr>
            <a:r>
              <a:t>WinTrust_CEO_Strategy_Briefing_Source.docx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60520" y="1645920"/>
            <a:ext cx="3246120" cy="3291840"/>
          </a:xfrm>
          <a:prstGeom prst="round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160520" y="1645920"/>
            <a:ext cx="73152" cy="3291840"/>
          </a:xfrm>
          <a:prstGeom prst="rect">
            <a:avLst/>
          </a:prstGeom>
          <a:solidFill>
            <a:srgbClr val="2F63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389120" y="1810512"/>
            <a:ext cx="283463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0233E"/>
                </a:solidFill>
                <a:latin typeface="Aptos"/>
              </a:defRPr>
            </a:pPr>
            <a:r>
              <a:t>SOURCE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2267712"/>
            <a:ext cx="283463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83441"/>
                </a:solidFill>
                <a:latin typeface="Aptos"/>
              </a:defRPr>
            </a:pPr>
            <a:r>
              <a:t>WinTrust_GenAI_Security_Guidelines.docx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80960" y="1645920"/>
            <a:ext cx="3246120" cy="3291840"/>
          </a:xfrm>
          <a:prstGeom prst="round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680960" y="1645920"/>
            <a:ext cx="73152" cy="3291840"/>
          </a:xfrm>
          <a:prstGeom prst="rect">
            <a:avLst/>
          </a:prstGeom>
          <a:solidFill>
            <a:srgbClr val="B8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909560" y="1810512"/>
            <a:ext cx="283463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0233E"/>
                </a:solidFill>
                <a:latin typeface="Aptos"/>
              </a:defRPr>
            </a:pPr>
            <a:r>
              <a:t>SOURCE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9560" y="2267712"/>
            <a:ext cx="283463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83441"/>
                </a:solidFill>
                <a:latin typeface="Aptos"/>
              </a:defRPr>
            </a:pPr>
            <a:r>
              <a:t>WinTrust_Malicious_Operations_Note.docx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257800"/>
            <a:ext cx="10058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0233E"/>
                </a:solidFill>
                <a:latin typeface="Aptos Display"/>
              </a:defRPr>
            </a:pPr>
            <a:r>
              <a:t>The task is not “summarize three documents.” It is “synthesize the evidence.”</a:t>
            </a:r>
          </a:p>
        </p:txBody>
      </p: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66E24E5E-7965-2B08-A947-2D394E35E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0233E"/>
                </a:solidFill>
                <a:latin typeface="Aptos Display"/>
              </a:defRPr>
            </a:pPr>
            <a:r>
              <a:t>Demo 2: Multi-Document Synthesis Prompt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6510528"/>
            <a:ext cx="10972800" cy="16459"/>
          </a:xfrm>
          <a:prstGeom prst="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21792" y="6547104"/>
            <a:ext cx="36576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82919E"/>
                </a:solidFill>
                <a:latin typeface="Aptos"/>
              </a:defRPr>
            </a:pPr>
            <a:r>
              <a:t>WINTRUST  |  GenAI &amp; Technology Fluency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554480"/>
            <a:ext cx="10927080" cy="4663440"/>
          </a:xfrm>
          <a:prstGeom prst="roundRect">
            <a:avLst/>
          </a:prstGeom>
          <a:solidFill>
            <a:srgbClr val="192330"/>
          </a:solidFill>
          <a:ln>
            <a:solidFill>
              <a:srgbClr val="3C4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1737360"/>
            <a:ext cx="10469880" cy="429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E1EBF2"/>
                </a:solidFill>
                <a:latin typeface="Cascadia Mono"/>
              </a:defRPr>
            </a:pPr>
            <a:r>
              <a:t>Analyze the three supplied WinTrust documents together.</a:t>
            </a:r>
            <a:br/>
            <a:br/>
            <a:r>
              <a:t>Create a cross-document synthesis with:</a:t>
            </a:r>
            <a:br/>
            <a:r>
              <a:t>1. Strategic priorities</a:t>
            </a:r>
            <a:br/>
            <a:r>
              <a:t>2. Opportunities</a:t>
            </a:r>
            <a:br/>
            <a:r>
              <a:t>3. Risks</a:t>
            </a:r>
            <a:br/>
            <a:r>
              <a:t>4. Constraints</a:t>
            </a:r>
            <a:br/>
            <a:r>
              <a:t>5. Areas of agreement</a:t>
            </a:r>
            <a:br/>
            <a:r>
              <a:t>6. Areas of tension or conflict</a:t>
            </a:r>
            <a:br/>
            <a:r>
              <a:t>7. Important assumptions</a:t>
            </a:r>
            <a:br/>
            <a:r>
              <a:t>8. Missing information</a:t>
            </a:r>
            <a:br/>
            <a:r>
              <a:t>9. Questions leadership should resolve</a:t>
            </a:r>
            <a:br/>
            <a:br/>
            <a:r>
              <a:t>For every material point:</a:t>
            </a:r>
            <a:br/>
            <a:r>
              <a:t>• identify the source</a:t>
            </a:r>
            <a:br/>
            <a:r>
              <a:t>• distinguish Fact from Inference</a:t>
            </a:r>
            <a:br/>
            <a:r>
              <a:t>• do not merge separate statements into a single fact</a:t>
            </a:r>
            <a:br/>
            <a:br/>
            <a:r>
              <a:t>Do not recommend a course of action until the evidence has been synthesized.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9908FEA-D260-454F-6B69-D8A41AFC14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0233E"/>
                </a:solidFill>
                <a:latin typeface="Aptos Display"/>
              </a:defRPr>
            </a:pPr>
            <a:r>
              <a:t>Why Multi-Document Synthesis Is Hard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6510528"/>
            <a:ext cx="10972800" cy="16459"/>
          </a:xfrm>
          <a:prstGeom prst="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21792" y="6547104"/>
            <a:ext cx="36576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82919E"/>
                </a:solidFill>
                <a:latin typeface="Aptos"/>
              </a:defRPr>
            </a:pPr>
            <a:r>
              <a:t>WINTRUST  |  GenAI &amp; Technology Fluency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28800"/>
            <a:ext cx="1920240" cy="1325880"/>
          </a:xfrm>
          <a:prstGeom prst="round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85800" y="1828800"/>
            <a:ext cx="73152" cy="1325880"/>
          </a:xfrm>
          <a:prstGeom prst="rect">
            <a:avLst/>
          </a:prstGeom>
          <a:solidFill>
            <a:srgbClr val="0084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993392"/>
            <a:ext cx="1508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0233E"/>
                </a:solidFill>
                <a:latin typeface="Aptos"/>
              </a:defRPr>
            </a:pPr>
            <a:r>
              <a:t>EXTRACT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50592"/>
            <a:ext cx="15087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83441"/>
                </a:solidFill>
                <a:latin typeface="Aptos"/>
              </a:defRPr>
            </a:pPr>
            <a:r>
              <a:t>Find relevant evidence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0" y="1828800"/>
            <a:ext cx="1920240" cy="1325880"/>
          </a:xfrm>
          <a:prstGeom prst="round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743200" y="1828800"/>
            <a:ext cx="73152" cy="1325880"/>
          </a:xfrm>
          <a:prstGeom prst="rect">
            <a:avLst/>
          </a:prstGeom>
          <a:solidFill>
            <a:srgbClr val="2F63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971800" y="1993392"/>
            <a:ext cx="1508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0233E"/>
                </a:solidFill>
                <a:latin typeface="Aptos"/>
              </a:defRPr>
            </a:pPr>
            <a:r>
              <a:t>COMPARE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71800" y="2450592"/>
            <a:ext cx="15087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83441"/>
                </a:solidFill>
                <a:latin typeface="Aptos"/>
              </a:defRPr>
            </a:pPr>
            <a:r>
              <a:t>Relate sources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00600" y="1828800"/>
            <a:ext cx="1920240" cy="1325880"/>
          </a:xfrm>
          <a:prstGeom prst="round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800600" y="1828800"/>
            <a:ext cx="73152" cy="1325880"/>
          </a:xfrm>
          <a:prstGeom prst="rect">
            <a:avLst/>
          </a:prstGeom>
          <a:solidFill>
            <a:srgbClr val="2F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029200" y="1993392"/>
            <a:ext cx="1508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0233E"/>
                </a:solidFill>
                <a:latin typeface="Aptos"/>
              </a:defRPr>
            </a:pPr>
            <a:r>
              <a:t>CONTEXT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2450592"/>
            <a:ext cx="15087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83441"/>
                </a:solidFill>
                <a:latin typeface="Aptos"/>
              </a:defRPr>
            </a:pPr>
            <a:r>
              <a:t>Preserve meaning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0" y="1828800"/>
            <a:ext cx="1920240" cy="1325880"/>
          </a:xfrm>
          <a:prstGeom prst="round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858000" y="1828800"/>
            <a:ext cx="73152" cy="1325880"/>
          </a:xfrm>
          <a:prstGeom prst="rect">
            <a:avLst/>
          </a:prstGeom>
          <a:solidFill>
            <a:srgbClr val="DA8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086600" y="1993392"/>
            <a:ext cx="1508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0233E"/>
                </a:solidFill>
                <a:latin typeface="Aptos"/>
              </a:defRPr>
            </a:pPr>
            <a:r>
              <a:t>CHALLENGE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2450592"/>
            <a:ext cx="15087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83441"/>
                </a:solidFill>
                <a:latin typeface="Aptos"/>
              </a:defRPr>
            </a:pPr>
            <a:r>
              <a:t>Find conflicts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15400" y="1828800"/>
            <a:ext cx="1920240" cy="1325880"/>
          </a:xfrm>
          <a:prstGeom prst="round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915400" y="1828800"/>
            <a:ext cx="73152" cy="1325880"/>
          </a:xfrm>
          <a:prstGeom prst="rect">
            <a:avLst/>
          </a:prstGeom>
          <a:solidFill>
            <a:srgbClr val="B8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144000" y="1993392"/>
            <a:ext cx="1508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0233E"/>
                </a:solidFill>
                <a:latin typeface="Aptos"/>
              </a:defRPr>
            </a:pPr>
            <a:r>
              <a:t>COMMUNICATE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0" y="2450592"/>
            <a:ext cx="15087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83441"/>
                </a:solidFill>
                <a:latin typeface="Aptos"/>
              </a:defRPr>
            </a:pPr>
            <a:r>
              <a:t>Tell the right story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931920"/>
            <a:ext cx="1024128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000" b="1">
                <a:solidFill>
                  <a:srgbClr val="B84444"/>
                </a:solidFill>
                <a:latin typeface="Aptos Display"/>
              </a:defRPr>
            </a:pPr>
            <a:r>
              <a:t>Coherence is not evidence.</a:t>
            </a:r>
          </a:p>
        </p:txBody>
      </p:sp>
      <p:sp>
        <p:nvSpPr>
          <p:cNvPr id="27" name="Slide Number Placeholder 26">
            <a:extLst>
              <a:ext uri="{FF2B5EF4-FFF2-40B4-BE49-F238E27FC236}">
                <a16:creationId xmlns:a16="http://schemas.microsoft.com/office/drawing/2014/main" id="{C6E447F0-EE0C-6F0B-B7D9-1736DE52E4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0233E"/>
                </a:solidFill>
                <a:latin typeface="Aptos Display"/>
              </a:defRPr>
            </a:pPr>
            <a:r>
              <a:t>Demo 3: Find the Contradictions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6510528"/>
            <a:ext cx="10972800" cy="16459"/>
          </a:xfrm>
          <a:prstGeom prst="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21792" y="6547104"/>
            <a:ext cx="36576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82919E"/>
                </a:solidFill>
                <a:latin typeface="Aptos"/>
              </a:defRPr>
            </a:pPr>
            <a:r>
              <a:t>WINTRUST  |  GenAI &amp; Technology Fluency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508760"/>
            <a:ext cx="10927080" cy="4800600"/>
          </a:xfrm>
          <a:prstGeom prst="roundRect">
            <a:avLst/>
          </a:prstGeom>
          <a:solidFill>
            <a:srgbClr val="192330"/>
          </a:solidFill>
          <a:ln>
            <a:solidFill>
              <a:srgbClr val="3C4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1691639"/>
            <a:ext cx="1046988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E1EBF2"/>
                </a:solidFill>
                <a:latin typeface="Cascadia Mono"/>
              </a:defRPr>
            </a:pPr>
            <a:r>
              <a:t>Review all supplied documents as a critical analyst.</a:t>
            </a:r>
            <a:br/>
            <a:br/>
            <a:r>
              <a:t>Identify statements that:</a:t>
            </a:r>
            <a:br/>
            <a:r>
              <a:t>1. directly contradict each other</a:t>
            </a:r>
            <a:br/>
            <a:r>
              <a:t>2. appear inconsistent</a:t>
            </a:r>
            <a:br/>
            <a:r>
              <a:t>3. use different definitions for the same concept</a:t>
            </a:r>
            <a:br/>
            <a:r>
              <a:t>4. describe different priorities</a:t>
            </a:r>
            <a:br/>
            <a:r>
              <a:t>5. contain assumptions that may conflict</a:t>
            </a:r>
            <a:br/>
            <a:br/>
            <a:r>
              <a:t>For each potential conflict provide:</a:t>
            </a:r>
            <a:br/>
            <a:r>
              <a:t>• Source A and position</a:t>
            </a:r>
            <a:br/>
            <a:r>
              <a:t>• Source B and position</a:t>
            </a:r>
            <a:br/>
            <a:r>
              <a:t>• Nature of conflict</a:t>
            </a:r>
            <a:br/>
            <a:r>
              <a:t>• Explicit or inferred?</a:t>
            </a:r>
            <a:br/>
            <a:r>
              <a:t>• Why it matters</a:t>
            </a:r>
            <a:br/>
            <a:r>
              <a:t>• Question a human should resolve</a:t>
            </a:r>
            <a:br/>
            <a:br/>
            <a:r>
              <a:t>Do not resolve the conflict unless the documents provide enough evidence.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4ECEFDD-B360-2DA0-D190-FB9C19347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0233E"/>
                </a:solidFill>
                <a:latin typeface="Aptos Display"/>
              </a:defRPr>
            </a:pPr>
            <a:r>
              <a:t>Demo 4: Find What Is Missing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6510528"/>
            <a:ext cx="10972800" cy="16459"/>
          </a:xfrm>
          <a:prstGeom prst="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21792" y="6547104"/>
            <a:ext cx="36576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82919E"/>
                </a:solidFill>
                <a:latin typeface="Aptos"/>
              </a:defRPr>
            </a:pPr>
            <a:r>
              <a:t>WINTRUST  |  GenAI &amp; Technology Fluency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645920"/>
            <a:ext cx="10561320" cy="3977639"/>
          </a:xfrm>
          <a:prstGeom prst="roundRect">
            <a:avLst/>
          </a:prstGeom>
          <a:solidFill>
            <a:srgbClr val="192330"/>
          </a:solidFill>
          <a:ln>
            <a:solidFill>
              <a:srgbClr val="3C4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51560" y="1828800"/>
            <a:ext cx="10104120" cy="29777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E1EBF2"/>
                </a:solidFill>
                <a:latin typeface="Cascadia Mono"/>
              </a:defRPr>
            </a:pPr>
            <a:r>
              <a:rPr dirty="0"/>
              <a:t>Review the supplied documents as if you were preparing a briefing</a:t>
            </a:r>
            <a:br>
              <a:rPr dirty="0"/>
            </a:br>
            <a:r>
              <a:rPr dirty="0"/>
              <a:t>for senior leadership.</a:t>
            </a:r>
            <a:br>
              <a:rPr dirty="0"/>
            </a:br>
            <a:br>
              <a:rPr dirty="0"/>
            </a:br>
            <a:r>
              <a:rPr dirty="0"/>
              <a:t>Identify information that is missing but could materially change</a:t>
            </a:r>
            <a:br>
              <a:rPr dirty="0"/>
            </a:br>
            <a:r>
              <a:rPr dirty="0"/>
              <a:t>the analysis.</a:t>
            </a:r>
            <a:br>
              <a:rPr dirty="0"/>
            </a:br>
            <a:br>
              <a:rPr dirty="0"/>
            </a:br>
            <a:r>
              <a:rPr dirty="0"/>
              <a:t>Create a table with:</a:t>
            </a:r>
            <a:br>
              <a:rPr dirty="0"/>
            </a:br>
            <a:r>
              <a:rPr lang="en-IN" sz="1250" dirty="0">
                <a:solidFill>
                  <a:srgbClr val="E1EBF2"/>
                </a:solidFill>
                <a:latin typeface="Cascadia Mono"/>
              </a:rPr>
              <a:t>| Missing information | Why it matters | Decision affected | How to obtain it |</a:t>
            </a:r>
          </a:p>
          <a:p>
            <a:pPr>
              <a:defRPr sz="1250">
                <a:solidFill>
                  <a:srgbClr val="E1EBF2"/>
                </a:solidFill>
                <a:latin typeface="Cascadia Mono"/>
              </a:defRPr>
            </a:pPr>
            <a:br>
              <a:rPr dirty="0"/>
            </a:br>
            <a:r>
              <a:rPr dirty="0"/>
              <a:t>Prioritize each gap as:</a:t>
            </a:r>
            <a:br>
              <a:rPr dirty="0"/>
            </a:br>
            <a:r>
              <a:rPr dirty="0"/>
              <a:t>• Critical</a:t>
            </a:r>
            <a:br>
              <a:rPr dirty="0"/>
            </a:br>
            <a:r>
              <a:rPr dirty="0"/>
              <a:t>• Important</a:t>
            </a:r>
            <a:br>
              <a:rPr dirty="0"/>
            </a:br>
            <a:r>
              <a:rPr dirty="0"/>
              <a:t>• Useful</a:t>
            </a:r>
            <a:br>
              <a:rPr dirty="0"/>
            </a:br>
            <a:br>
              <a:rPr dirty="0"/>
            </a:br>
            <a:r>
              <a:rPr dirty="0"/>
              <a:t>Do not invent the missing information.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5840" y="5715000"/>
            <a:ext cx="10058400" cy="502920"/>
          </a:xfrm>
          <a:prstGeom prst="round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005840" y="5715000"/>
            <a:ext cx="73152" cy="502920"/>
          </a:xfrm>
          <a:prstGeom prst="rect">
            <a:avLst/>
          </a:prstGeom>
          <a:solidFill>
            <a:srgbClr val="0084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234440" y="5879592"/>
            <a:ext cx="9646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0233E"/>
                </a:solidFill>
                <a:latin typeface="Aptos"/>
              </a:defRPr>
            </a:pPr>
            <a:r>
              <a:t>KEY IDEA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29573" y="5939224"/>
            <a:ext cx="9646920" cy="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283441"/>
                </a:solidFill>
                <a:latin typeface="Aptos"/>
              </a:defRPr>
            </a:pPr>
            <a:r>
              <a:rPr dirty="0"/>
              <a:t>AI can be used as a research-gap detector, not just a summarizer.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E5CB8076-8C84-201C-00F9-88B717C559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0233E"/>
                </a:solidFill>
                <a:latin typeface="Aptos Display"/>
              </a:defRPr>
            </a:pPr>
            <a:r>
              <a:t>Research Is Not the Same as Summarization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6510528"/>
            <a:ext cx="10972800" cy="16459"/>
          </a:xfrm>
          <a:prstGeom prst="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21792" y="6547104"/>
            <a:ext cx="36576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82919E"/>
                </a:solidFill>
                <a:latin typeface="Aptos"/>
              </a:defRPr>
            </a:pPr>
            <a:r>
              <a:t>WINTRUST  |  GenAI &amp; Technology Fluency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5349240" cy="658368"/>
          </a:xfrm>
          <a:prstGeom prst="rect">
            <a:avLst/>
          </a:prstGeom>
          <a:solidFill>
            <a:srgbClr val="10233E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95528" y="1700784"/>
            <a:ext cx="522122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50" b="1">
                <a:solidFill>
                  <a:srgbClr val="FFFFFF"/>
                </a:solidFill>
                <a:latin typeface="Aptos"/>
              </a:defRPr>
            </a:pPr>
            <a:r>
              <a:t>Task</a:t>
            </a:r>
          </a:p>
        </p:txBody>
      </p:sp>
      <p:sp>
        <p:nvSpPr>
          <p:cNvPr id="8" name="Rectangle 7"/>
          <p:cNvSpPr/>
          <p:nvPr/>
        </p:nvSpPr>
        <p:spPr>
          <a:xfrm>
            <a:off x="6080759" y="1645920"/>
            <a:ext cx="5349240" cy="658368"/>
          </a:xfrm>
          <a:prstGeom prst="rect">
            <a:avLst/>
          </a:prstGeom>
          <a:solidFill>
            <a:srgbClr val="10233E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144768" y="1700784"/>
            <a:ext cx="522122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50" b="1">
                <a:solidFill>
                  <a:srgbClr val="FFFFFF"/>
                </a:solidFill>
                <a:latin typeface="Aptos"/>
              </a:defRPr>
            </a:pPr>
            <a:r>
              <a:t>Question AI should answer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304288"/>
            <a:ext cx="5349240" cy="658368"/>
          </a:xfrm>
          <a:prstGeom prst="rect">
            <a:avLst/>
          </a:prstGeom>
          <a:solidFill>
            <a:srgbClr val="FFFFFF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95528" y="2359152"/>
            <a:ext cx="522122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0">
                <a:solidFill>
                  <a:srgbClr val="283441"/>
                </a:solidFill>
                <a:latin typeface="Aptos"/>
              </a:defRPr>
            </a:pPr>
            <a:r>
              <a:t>Summarization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80759" y="2304288"/>
            <a:ext cx="5349240" cy="658368"/>
          </a:xfrm>
          <a:prstGeom prst="rect">
            <a:avLst/>
          </a:prstGeom>
          <a:solidFill>
            <a:srgbClr val="FFFFFF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44768" y="2359152"/>
            <a:ext cx="522122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0">
                <a:solidFill>
                  <a:srgbClr val="283441"/>
                </a:solidFill>
                <a:latin typeface="Aptos"/>
              </a:defRPr>
            </a:pPr>
            <a:r>
              <a:t>What does this document say?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2962656"/>
            <a:ext cx="5349240" cy="658368"/>
          </a:xfrm>
          <a:prstGeom prst="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95528" y="3017520"/>
            <a:ext cx="522122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0">
                <a:solidFill>
                  <a:srgbClr val="283441"/>
                </a:solidFill>
                <a:latin typeface="Aptos"/>
              </a:defRPr>
            </a:pPr>
            <a:r>
              <a:t>Research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80759" y="2962656"/>
            <a:ext cx="5349240" cy="658368"/>
          </a:xfrm>
          <a:prstGeom prst="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144768" y="3017520"/>
            <a:ext cx="522122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0">
                <a:solidFill>
                  <a:srgbClr val="283441"/>
                </a:solidFill>
                <a:latin typeface="Aptos"/>
              </a:defRPr>
            </a:pPr>
            <a:r>
              <a:t>What do I need to know?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3621024"/>
            <a:ext cx="5349240" cy="658368"/>
          </a:xfrm>
          <a:prstGeom prst="rect">
            <a:avLst/>
          </a:prstGeom>
          <a:solidFill>
            <a:srgbClr val="FFFFFF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95528" y="3675887"/>
            <a:ext cx="522122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0">
                <a:solidFill>
                  <a:srgbClr val="283441"/>
                </a:solidFill>
                <a:latin typeface="Aptos"/>
              </a:defRPr>
            </a:pPr>
            <a:r>
              <a:t>Analysis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80759" y="3621024"/>
            <a:ext cx="5349240" cy="658368"/>
          </a:xfrm>
          <a:prstGeom prst="rect">
            <a:avLst/>
          </a:prstGeom>
          <a:solidFill>
            <a:srgbClr val="FFFFFF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144768" y="3675887"/>
            <a:ext cx="522122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0">
                <a:solidFill>
                  <a:srgbClr val="283441"/>
                </a:solidFill>
                <a:latin typeface="Aptos"/>
              </a:defRPr>
            </a:pPr>
            <a:r>
              <a:t>What does the evidence suggest?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4279392"/>
            <a:ext cx="5349240" cy="658368"/>
          </a:xfrm>
          <a:prstGeom prst="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95528" y="4334255"/>
            <a:ext cx="522122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0">
                <a:solidFill>
                  <a:srgbClr val="283441"/>
                </a:solidFill>
                <a:latin typeface="Aptos"/>
              </a:defRPr>
            </a:pPr>
            <a:r>
              <a:t>Decision support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80759" y="4279392"/>
            <a:ext cx="5349240" cy="658368"/>
          </a:xfrm>
          <a:prstGeom prst="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144768" y="4334255"/>
            <a:ext cx="522122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0">
                <a:solidFill>
                  <a:srgbClr val="283441"/>
                </a:solidFill>
                <a:latin typeface="Aptos"/>
              </a:defRPr>
            </a:pPr>
            <a:r>
              <a:t>What should we consider doing?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4937759"/>
            <a:ext cx="5349240" cy="658368"/>
          </a:xfrm>
          <a:prstGeom prst="rect">
            <a:avLst/>
          </a:prstGeom>
          <a:solidFill>
            <a:srgbClr val="FFFFFF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95528" y="4992623"/>
            <a:ext cx="522122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0">
                <a:solidFill>
                  <a:srgbClr val="283441"/>
                </a:solidFill>
                <a:latin typeface="Aptos"/>
              </a:defRPr>
            </a:pPr>
            <a:r>
              <a:t>Communication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80759" y="4937759"/>
            <a:ext cx="5349240" cy="658368"/>
          </a:xfrm>
          <a:prstGeom prst="rect">
            <a:avLst/>
          </a:prstGeom>
          <a:solidFill>
            <a:srgbClr val="FFFFFF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144768" y="4992623"/>
            <a:ext cx="522122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0">
                <a:solidFill>
                  <a:srgbClr val="283441"/>
                </a:solidFill>
                <a:latin typeface="Aptos"/>
              </a:defRPr>
            </a:pPr>
            <a:r>
              <a:t>How should this be presented to this audience?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5641447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8489"/>
                </a:solidFill>
                <a:latin typeface="Aptos Display"/>
              </a:defRPr>
            </a:pPr>
            <a:r>
              <a:rPr dirty="0"/>
              <a:t>Each task requires a different prompt.</a:t>
            </a:r>
          </a:p>
        </p:txBody>
      </p:sp>
      <p:sp>
        <p:nvSpPr>
          <p:cNvPr id="31" name="Slide Number Placeholder 30">
            <a:extLst>
              <a:ext uri="{FF2B5EF4-FFF2-40B4-BE49-F238E27FC236}">
                <a16:creationId xmlns:a16="http://schemas.microsoft.com/office/drawing/2014/main" id="{6FAAA236-014D-D10D-1F4D-5EB4F280C2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D95C5A-A537-2635-0994-E40534F18D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A078E59-E9A8-7DC9-E67E-8AF9FC0DAC71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66EDB76-7A3A-86F1-F326-11CFB2E05AF5}"/>
              </a:ext>
            </a:extLst>
          </p:cNvPr>
          <p:cNvSpPr txBox="1"/>
          <p:nvPr/>
        </p:nvSpPr>
        <p:spPr>
          <a:xfrm>
            <a:off x="594360" y="658368"/>
            <a:ext cx="3690177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0233E"/>
                </a:solidFill>
                <a:latin typeface="Aptos Display"/>
              </a:defRPr>
            </a:pPr>
            <a:r>
              <a:rPr lang="en-US" dirty="0"/>
              <a:t>Track Specific Prompts</a:t>
            </a:r>
            <a:endParaRPr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1A68AAE-BBAB-4080-A25A-50E96210EDD8}"/>
              </a:ext>
            </a:extLst>
          </p:cNvPr>
          <p:cNvSpPr/>
          <p:nvPr/>
        </p:nvSpPr>
        <p:spPr>
          <a:xfrm>
            <a:off x="594360" y="6510528"/>
            <a:ext cx="10972800" cy="16459"/>
          </a:xfrm>
          <a:prstGeom prst="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BDC567-2E7B-3D34-AE96-71E4E84C6097}"/>
              </a:ext>
            </a:extLst>
          </p:cNvPr>
          <p:cNvSpPr txBox="1"/>
          <p:nvPr/>
        </p:nvSpPr>
        <p:spPr>
          <a:xfrm>
            <a:off x="621792" y="6547104"/>
            <a:ext cx="36576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82919E"/>
                </a:solidFill>
                <a:latin typeface="Aptos"/>
              </a:defRPr>
            </a:pPr>
            <a:r>
              <a:t>WINTRUST  |  GenAI &amp; Technology Fluency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AE39FED3-D944-03F8-16E0-E486635A99E0}"/>
              </a:ext>
            </a:extLst>
          </p:cNvPr>
          <p:cNvSpPr/>
          <p:nvPr/>
        </p:nvSpPr>
        <p:spPr>
          <a:xfrm>
            <a:off x="822960" y="1645920"/>
            <a:ext cx="10561320" cy="3977639"/>
          </a:xfrm>
          <a:prstGeom prst="roundRect">
            <a:avLst/>
          </a:prstGeom>
          <a:solidFill>
            <a:srgbClr val="192330"/>
          </a:solidFill>
          <a:ln>
            <a:solidFill>
              <a:srgbClr val="3C4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0C299E3-4976-A05C-548B-E6ADDA074A5F}"/>
              </a:ext>
            </a:extLst>
          </p:cNvPr>
          <p:cNvSpPr txBox="1"/>
          <p:nvPr/>
        </p:nvSpPr>
        <p:spPr>
          <a:xfrm>
            <a:off x="1051560" y="1828800"/>
            <a:ext cx="1010412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>
                <a:solidFill>
                  <a:schemeClr val="accent1"/>
                </a:solidFill>
              </a:rPr>
              <a:t>Data Track Prompt:</a:t>
            </a:r>
          </a:p>
          <a:p>
            <a:endParaRPr lang="en-IN" dirty="0">
              <a:solidFill>
                <a:schemeClr val="bg1"/>
              </a:solidFill>
            </a:endParaRPr>
          </a:p>
          <a:p>
            <a:r>
              <a:rPr lang="en-IN" dirty="0">
                <a:solidFill>
                  <a:schemeClr val="bg1"/>
                </a:solidFill>
              </a:rPr>
              <a:t>Rewrite the briefing for a Chief Data Officer. Emphasize data quality, data ownership, analytical reliability, data-product opportunities and controls. Do not introduce technical recommendations unless they affect a business decision.</a:t>
            </a:r>
          </a:p>
          <a:p>
            <a:endParaRPr lang="en-IN" dirty="0">
              <a:solidFill>
                <a:schemeClr val="bg1"/>
              </a:solidFill>
            </a:endParaRPr>
          </a:p>
          <a:p>
            <a:r>
              <a:rPr lang="en-IN" b="1" dirty="0">
                <a:solidFill>
                  <a:schemeClr val="accent1"/>
                </a:solidFill>
              </a:rPr>
              <a:t>Enterprise Ops Prompt:</a:t>
            </a:r>
          </a:p>
          <a:p>
            <a:endParaRPr lang="en-IN" dirty="0">
              <a:solidFill>
                <a:schemeClr val="bg1"/>
              </a:solidFill>
            </a:endParaRPr>
          </a:p>
          <a:p>
            <a:r>
              <a:rPr lang="en-IN" dirty="0">
                <a:solidFill>
                  <a:schemeClr val="bg1"/>
                </a:solidFill>
              </a:rPr>
              <a:t>Rewrite the briefing for a COO. Emphasize operational resilience, incident management, productivity opportunities, runbook opportunities, operational risk and human-control requirements.</a:t>
            </a:r>
          </a:p>
          <a:p>
            <a:endParaRPr lang="en-IN" dirty="0">
              <a:solidFill>
                <a:schemeClr val="bg1"/>
              </a:solidFill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23366A64-5823-B606-7CFF-2E9E0C287C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26184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093D1D-BE94-213E-050E-22187ECED6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CED73A7-F78A-67A2-6C63-A3E7B4F997DA}"/>
              </a:ext>
            </a:extLst>
          </p:cNvPr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B3F9CF1-A3E0-AE32-579D-5CA2CFCC7F54}"/>
              </a:ext>
            </a:extLst>
          </p:cNvPr>
          <p:cNvSpPr txBox="1"/>
          <p:nvPr/>
        </p:nvSpPr>
        <p:spPr>
          <a:xfrm>
            <a:off x="594360" y="658368"/>
            <a:ext cx="3453189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0233E"/>
                </a:solidFill>
                <a:latin typeface="Aptos Display"/>
              </a:defRPr>
            </a:pPr>
            <a:r>
              <a:rPr lang="en-US" dirty="0"/>
              <a:t>GitHub Copilot Demo</a:t>
            </a:r>
            <a:endParaRPr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D66215C-2C69-4355-0D96-6A63E35AC085}"/>
              </a:ext>
            </a:extLst>
          </p:cNvPr>
          <p:cNvSpPr/>
          <p:nvPr/>
        </p:nvSpPr>
        <p:spPr>
          <a:xfrm>
            <a:off x="594360" y="6510528"/>
            <a:ext cx="10972800" cy="16459"/>
          </a:xfrm>
          <a:prstGeom prst="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31564F-F22A-78D2-E299-EFB48D347539}"/>
              </a:ext>
            </a:extLst>
          </p:cNvPr>
          <p:cNvSpPr txBox="1"/>
          <p:nvPr/>
        </p:nvSpPr>
        <p:spPr>
          <a:xfrm>
            <a:off x="621792" y="6547104"/>
            <a:ext cx="36576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82919E"/>
                </a:solidFill>
                <a:latin typeface="Aptos"/>
              </a:defRPr>
            </a:pPr>
            <a:r>
              <a:t>WINTRUST  |  GenAI &amp; Technology Fluency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77EE6A32-A813-B56B-ECE2-6AD60517D059}"/>
              </a:ext>
            </a:extLst>
          </p:cNvPr>
          <p:cNvSpPr/>
          <p:nvPr/>
        </p:nvSpPr>
        <p:spPr>
          <a:xfrm>
            <a:off x="822960" y="1645920"/>
            <a:ext cx="10561320" cy="3977639"/>
          </a:xfrm>
          <a:prstGeom prst="roundRect">
            <a:avLst/>
          </a:prstGeom>
          <a:solidFill>
            <a:srgbClr val="192330"/>
          </a:solidFill>
          <a:ln>
            <a:solidFill>
              <a:srgbClr val="3C4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281B1B0-A081-1C13-B5E8-1B40A2524C1A}"/>
              </a:ext>
            </a:extLst>
          </p:cNvPr>
          <p:cNvSpPr txBox="1"/>
          <p:nvPr/>
        </p:nvSpPr>
        <p:spPr>
          <a:xfrm>
            <a:off x="1051560" y="1828800"/>
            <a:ext cx="1010412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>
                <a:solidFill>
                  <a:schemeClr val="bg1"/>
                </a:solidFill>
              </a:rPr>
              <a:t>Use WinTrust_Executive_Briefing_Draft.md.</a:t>
            </a:r>
          </a:p>
          <a:p>
            <a:endParaRPr lang="en-IN" dirty="0">
              <a:solidFill>
                <a:schemeClr val="bg1"/>
              </a:solidFill>
            </a:endParaRPr>
          </a:p>
          <a:p>
            <a:r>
              <a:rPr lang="en-IN" b="1" dirty="0">
                <a:solidFill>
                  <a:schemeClr val="bg1"/>
                </a:solidFill>
              </a:rPr>
              <a:t>Prompt:</a:t>
            </a:r>
            <a:endParaRPr lang="en-IN" dirty="0">
              <a:solidFill>
                <a:schemeClr val="bg1"/>
              </a:solidFill>
            </a:endParaRPr>
          </a:p>
          <a:p>
            <a:endParaRPr lang="en-IN" dirty="0">
              <a:solidFill>
                <a:schemeClr val="bg1"/>
              </a:solidFill>
            </a:endParaRPr>
          </a:p>
          <a:p>
            <a:r>
              <a:rPr lang="en-IN" dirty="0">
                <a:solidFill>
                  <a:schemeClr val="bg1"/>
                </a:solidFill>
              </a:rPr>
              <a:t>Review this executive briefing for unsupported claims, ambiguous wording, repetition and missing evidence. Suggest edits but preserve the author's intent.</a:t>
            </a:r>
          </a:p>
          <a:p>
            <a:endParaRPr lang="en-IN" dirty="0">
              <a:solidFill>
                <a:schemeClr val="bg1"/>
              </a:solidFill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007BB09C-1B00-08EB-0BA5-0DE82FD037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20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A3949AC-8AE3-993C-31AD-0905DDD989CB}"/>
              </a:ext>
            </a:extLst>
          </p:cNvPr>
          <p:cNvSpPr txBox="1"/>
          <p:nvPr/>
        </p:nvSpPr>
        <p:spPr>
          <a:xfrm>
            <a:off x="822960" y="5641447"/>
            <a:ext cx="3970126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8489"/>
                </a:solidFill>
                <a:latin typeface="Aptos Display"/>
              </a:defRPr>
            </a:pPr>
            <a:r>
              <a:rPr lang="en-IN" sz="2000" b="1" dirty="0">
                <a:solidFill>
                  <a:srgbClr val="008489"/>
                </a:solidFill>
                <a:latin typeface="Aptos Display"/>
              </a:rPr>
              <a:t>GitHub Copilot is not only for code.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2375404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DB88FB-BD03-F672-2371-9F8221FEDF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1BAB680-7117-9CF6-65A0-E3476177A655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E81DF2D-7E0A-DE4C-431A-829454FE16FF}"/>
              </a:ext>
            </a:extLst>
          </p:cNvPr>
          <p:cNvSpPr txBox="1"/>
          <p:nvPr/>
        </p:nvSpPr>
        <p:spPr>
          <a:xfrm>
            <a:off x="594360" y="658368"/>
            <a:ext cx="3765646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0233E"/>
                </a:solidFill>
                <a:latin typeface="Aptos Display"/>
              </a:defRPr>
            </a:pPr>
            <a:r>
              <a:rPr lang="en-US" dirty="0"/>
              <a:t>Recap </a:t>
            </a:r>
            <a:r>
              <a:rPr dirty="0"/>
              <a:t>Learning Journey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F09FE70-9360-CC25-1DEB-8D57494ECF85}"/>
              </a:ext>
            </a:extLst>
          </p:cNvPr>
          <p:cNvSpPr txBox="1"/>
          <p:nvPr/>
        </p:nvSpPr>
        <p:spPr>
          <a:xfrm>
            <a:off x="621792" y="1307592"/>
            <a:ext cx="10698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C6976"/>
                </a:solidFill>
                <a:latin typeface="Aptos"/>
              </a:defRPr>
            </a:pPr>
            <a:r>
              <a:t>From information to a decision-ready briefing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2B6A579-4F16-A945-FE28-11047FC65E92}"/>
              </a:ext>
            </a:extLst>
          </p:cNvPr>
          <p:cNvSpPr/>
          <p:nvPr/>
        </p:nvSpPr>
        <p:spPr>
          <a:xfrm>
            <a:off x="594360" y="6510528"/>
            <a:ext cx="10972800" cy="16459"/>
          </a:xfrm>
          <a:prstGeom prst="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2C91A3F-7BAE-6E0E-F555-C3038E018C3F}"/>
              </a:ext>
            </a:extLst>
          </p:cNvPr>
          <p:cNvSpPr txBox="1"/>
          <p:nvPr/>
        </p:nvSpPr>
        <p:spPr>
          <a:xfrm>
            <a:off x="621792" y="6547104"/>
            <a:ext cx="36576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82919E"/>
                </a:solidFill>
                <a:latin typeface="Aptos"/>
              </a:defRPr>
            </a:pPr>
            <a:r>
              <a:t>WINTRUST  |  GenAI &amp; Technology Fluency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005FC5EA-A894-7AC8-454F-716BF07B371B}"/>
              </a:ext>
            </a:extLst>
          </p:cNvPr>
          <p:cNvSpPr/>
          <p:nvPr/>
        </p:nvSpPr>
        <p:spPr>
          <a:xfrm>
            <a:off x="640080" y="1874519"/>
            <a:ext cx="2011680" cy="2011680"/>
          </a:xfrm>
          <a:prstGeom prst="round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31F87F3-D76B-DF96-385E-069277C53FEF}"/>
              </a:ext>
            </a:extLst>
          </p:cNvPr>
          <p:cNvSpPr/>
          <p:nvPr/>
        </p:nvSpPr>
        <p:spPr>
          <a:xfrm>
            <a:off x="640080" y="1874519"/>
            <a:ext cx="73152" cy="2011680"/>
          </a:xfrm>
          <a:prstGeom prst="rect">
            <a:avLst/>
          </a:prstGeom>
          <a:solidFill>
            <a:srgbClr val="0084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DD38347-993E-04BA-9903-39F034B82DC4}"/>
              </a:ext>
            </a:extLst>
          </p:cNvPr>
          <p:cNvSpPr txBox="1"/>
          <p:nvPr/>
        </p:nvSpPr>
        <p:spPr>
          <a:xfrm>
            <a:off x="868680" y="2039112"/>
            <a:ext cx="1600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0233E"/>
                </a:solidFill>
                <a:latin typeface="Aptos"/>
              </a:defRPr>
            </a:pPr>
            <a:r>
              <a:t>1  Research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075C3AB-861D-ADEC-A6D1-48A716F574C2}"/>
              </a:ext>
            </a:extLst>
          </p:cNvPr>
          <p:cNvSpPr txBox="1"/>
          <p:nvPr/>
        </p:nvSpPr>
        <p:spPr>
          <a:xfrm>
            <a:off x="868680" y="2496312"/>
            <a:ext cx="1600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83441"/>
                </a:solidFill>
                <a:latin typeface="Aptos"/>
              </a:defRPr>
            </a:pPr>
            <a:r>
              <a:t>Define the question and gather evidence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37464A94-DE68-346A-0FC1-91EE3FB2F0BC}"/>
              </a:ext>
            </a:extLst>
          </p:cNvPr>
          <p:cNvSpPr/>
          <p:nvPr/>
        </p:nvSpPr>
        <p:spPr>
          <a:xfrm>
            <a:off x="2926080" y="1874519"/>
            <a:ext cx="2011680" cy="2011680"/>
          </a:xfrm>
          <a:prstGeom prst="round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75D1A13-AE2D-1CBD-7346-764CE256F06A}"/>
              </a:ext>
            </a:extLst>
          </p:cNvPr>
          <p:cNvSpPr/>
          <p:nvPr/>
        </p:nvSpPr>
        <p:spPr>
          <a:xfrm>
            <a:off x="2926080" y="1874519"/>
            <a:ext cx="73152" cy="2011680"/>
          </a:xfrm>
          <a:prstGeom prst="rect">
            <a:avLst/>
          </a:prstGeom>
          <a:solidFill>
            <a:srgbClr val="2F63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CEB1721-9CAE-DE11-0F6E-B5AE8E193DC1}"/>
              </a:ext>
            </a:extLst>
          </p:cNvPr>
          <p:cNvSpPr txBox="1"/>
          <p:nvPr/>
        </p:nvSpPr>
        <p:spPr>
          <a:xfrm>
            <a:off x="3154680" y="2039112"/>
            <a:ext cx="1600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0233E"/>
                </a:solidFill>
                <a:latin typeface="Aptos"/>
              </a:defRPr>
            </a:pPr>
            <a:r>
              <a:t>2  Synthesize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799014B-9D92-B7EF-4A54-5C0024CD5E05}"/>
              </a:ext>
            </a:extLst>
          </p:cNvPr>
          <p:cNvSpPr txBox="1"/>
          <p:nvPr/>
        </p:nvSpPr>
        <p:spPr>
          <a:xfrm>
            <a:off x="3154680" y="2496312"/>
            <a:ext cx="1600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83441"/>
                </a:solidFill>
                <a:latin typeface="Aptos"/>
              </a:defRPr>
            </a:pPr>
            <a:r>
              <a:t>Connect information across sources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7025180C-D7BF-90CB-E007-AA2B8616EB47}"/>
              </a:ext>
            </a:extLst>
          </p:cNvPr>
          <p:cNvSpPr/>
          <p:nvPr/>
        </p:nvSpPr>
        <p:spPr>
          <a:xfrm>
            <a:off x="5212080" y="1874519"/>
            <a:ext cx="2011680" cy="2011680"/>
          </a:xfrm>
          <a:prstGeom prst="round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E66A9DD-762E-50E3-52D3-5FC5C5B0304B}"/>
              </a:ext>
            </a:extLst>
          </p:cNvPr>
          <p:cNvSpPr/>
          <p:nvPr/>
        </p:nvSpPr>
        <p:spPr>
          <a:xfrm>
            <a:off x="5212080" y="1874519"/>
            <a:ext cx="73152" cy="2011680"/>
          </a:xfrm>
          <a:prstGeom prst="rect">
            <a:avLst/>
          </a:prstGeom>
          <a:solidFill>
            <a:srgbClr val="DA8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7C07273-E0CF-05FB-FCC7-6D05E027F44F}"/>
              </a:ext>
            </a:extLst>
          </p:cNvPr>
          <p:cNvSpPr txBox="1"/>
          <p:nvPr/>
        </p:nvSpPr>
        <p:spPr>
          <a:xfrm>
            <a:off x="5440680" y="2039112"/>
            <a:ext cx="1600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0233E"/>
                </a:solidFill>
                <a:latin typeface="Aptos"/>
              </a:defRPr>
            </a:pPr>
            <a:r>
              <a:t>3  Challenge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FF58025-5F4B-FC29-1812-8F78E194CAB8}"/>
              </a:ext>
            </a:extLst>
          </p:cNvPr>
          <p:cNvSpPr txBox="1"/>
          <p:nvPr/>
        </p:nvSpPr>
        <p:spPr>
          <a:xfrm>
            <a:off x="5440680" y="2496312"/>
            <a:ext cx="1600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83441"/>
                </a:solidFill>
                <a:latin typeface="Aptos"/>
              </a:defRPr>
            </a:pPr>
            <a:r>
              <a:t>Find contradictions, assumptions and gaps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6C5FCDA4-E248-939C-3922-71F5067C9296}"/>
              </a:ext>
            </a:extLst>
          </p:cNvPr>
          <p:cNvSpPr/>
          <p:nvPr/>
        </p:nvSpPr>
        <p:spPr>
          <a:xfrm>
            <a:off x="7498079" y="1874519"/>
            <a:ext cx="2011680" cy="2011680"/>
          </a:xfrm>
          <a:prstGeom prst="round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4B22E69-ADB5-383D-ABC6-A473719BAAE1}"/>
              </a:ext>
            </a:extLst>
          </p:cNvPr>
          <p:cNvSpPr/>
          <p:nvPr/>
        </p:nvSpPr>
        <p:spPr>
          <a:xfrm>
            <a:off x="7498079" y="1874519"/>
            <a:ext cx="73152" cy="2011680"/>
          </a:xfrm>
          <a:prstGeom prst="rect">
            <a:avLst/>
          </a:prstGeom>
          <a:solidFill>
            <a:srgbClr val="2F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5506634-37FC-FCD7-1AF2-065BA4AAC4E4}"/>
              </a:ext>
            </a:extLst>
          </p:cNvPr>
          <p:cNvSpPr txBox="1"/>
          <p:nvPr/>
        </p:nvSpPr>
        <p:spPr>
          <a:xfrm>
            <a:off x="7726679" y="2039112"/>
            <a:ext cx="1600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0233E"/>
                </a:solidFill>
                <a:latin typeface="Aptos"/>
              </a:defRPr>
            </a:pPr>
            <a:r>
              <a:t>4  Communicate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C43FA92-0865-40DA-EFE5-0BA136C412F2}"/>
              </a:ext>
            </a:extLst>
          </p:cNvPr>
          <p:cNvSpPr txBox="1"/>
          <p:nvPr/>
        </p:nvSpPr>
        <p:spPr>
          <a:xfrm>
            <a:off x="7726679" y="2496312"/>
            <a:ext cx="1600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83441"/>
                </a:solidFill>
                <a:latin typeface="Aptos"/>
              </a:defRPr>
            </a:pPr>
            <a:r>
              <a:t>Turn analysis into audience-specific content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72F13C6A-3573-B76F-C963-6C6EE4B53A70}"/>
              </a:ext>
            </a:extLst>
          </p:cNvPr>
          <p:cNvSpPr/>
          <p:nvPr/>
        </p:nvSpPr>
        <p:spPr>
          <a:xfrm>
            <a:off x="9784080" y="1874519"/>
            <a:ext cx="2011680" cy="2011680"/>
          </a:xfrm>
          <a:prstGeom prst="round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23B1F68-71F0-A1FB-0132-4913416671A9}"/>
              </a:ext>
            </a:extLst>
          </p:cNvPr>
          <p:cNvSpPr/>
          <p:nvPr/>
        </p:nvSpPr>
        <p:spPr>
          <a:xfrm>
            <a:off x="9784080" y="1874519"/>
            <a:ext cx="73152" cy="2011680"/>
          </a:xfrm>
          <a:prstGeom prst="rect">
            <a:avLst/>
          </a:prstGeom>
          <a:solidFill>
            <a:srgbClr val="B8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77AD217-5344-C5CF-36FE-7E2E987A7EED}"/>
              </a:ext>
            </a:extLst>
          </p:cNvPr>
          <p:cNvSpPr txBox="1"/>
          <p:nvPr/>
        </p:nvSpPr>
        <p:spPr>
          <a:xfrm>
            <a:off x="10012680" y="2039112"/>
            <a:ext cx="1600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0233E"/>
                </a:solidFill>
                <a:latin typeface="Aptos"/>
              </a:defRPr>
            </a:pPr>
            <a:r>
              <a:t>5  Validate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BF8395F-A60B-BB13-FF6E-D61C0C05F9EC}"/>
              </a:ext>
            </a:extLst>
          </p:cNvPr>
          <p:cNvSpPr txBox="1"/>
          <p:nvPr/>
        </p:nvSpPr>
        <p:spPr>
          <a:xfrm>
            <a:off x="10012680" y="2496312"/>
            <a:ext cx="1600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83441"/>
                </a:solidFill>
                <a:latin typeface="Aptos"/>
              </a:defRPr>
            </a:pPr>
            <a:r>
              <a:t>Decide what can safely be used</a:t>
            </a:r>
          </a:p>
        </p:txBody>
      </p:sp>
      <p:sp>
        <p:nvSpPr>
          <p:cNvPr id="27" name="Slide Number Placeholder 26">
            <a:extLst>
              <a:ext uri="{FF2B5EF4-FFF2-40B4-BE49-F238E27FC236}">
                <a16:creationId xmlns:a16="http://schemas.microsoft.com/office/drawing/2014/main" id="{92B0D2E6-8977-F0E4-3E36-A2F6C6F418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345265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0233E"/>
                </a:solidFill>
                <a:latin typeface="Aptos Display"/>
              </a:defRPr>
            </a:pPr>
            <a:r>
              <a:t>Hands-on Lab: AI Research Analyst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6510528"/>
            <a:ext cx="10972800" cy="16459"/>
          </a:xfrm>
          <a:prstGeom prst="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21792" y="6547104"/>
            <a:ext cx="36576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82919E"/>
                </a:solidFill>
                <a:latin typeface="Aptos"/>
              </a:defRPr>
            </a:pPr>
            <a:r>
              <a:t>WINTRUST  |  GenAI &amp; Technology Fluency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645920"/>
            <a:ext cx="5257800" cy="3520440"/>
          </a:xfrm>
          <a:prstGeom prst="round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85800" y="1645920"/>
            <a:ext cx="73152" cy="3520440"/>
          </a:xfrm>
          <a:prstGeom prst="rect">
            <a:avLst/>
          </a:prstGeom>
          <a:solidFill>
            <a:srgbClr val="0084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810512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0233E"/>
                </a:solidFill>
                <a:latin typeface="Aptos"/>
              </a:defRPr>
            </a:pPr>
            <a:r>
              <a:t>BUSINESS 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267712"/>
            <a:ext cx="4846320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83441"/>
                </a:solidFill>
                <a:latin typeface="Aptos"/>
              </a:defRPr>
            </a:pPr>
            <a:r>
              <a:t>What should a senior WinTrust leader understand about the opportunities, risks and constraints associated with Generative AI?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645920"/>
            <a:ext cx="5257800" cy="3520440"/>
          </a:xfrm>
          <a:prstGeom prst="round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172200" y="1645920"/>
            <a:ext cx="73152" cy="3520440"/>
          </a:xfrm>
          <a:prstGeom prst="rect">
            <a:avLst/>
          </a:prstGeom>
          <a:solidFill>
            <a:srgbClr val="2F63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0" y="1810512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0233E"/>
                </a:solidFill>
                <a:latin typeface="Aptos"/>
              </a:defRPr>
            </a:pPr>
            <a:r>
              <a:t>REQUIRED DOCUMENTS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267712"/>
            <a:ext cx="4846320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83441"/>
                </a:solidFill>
                <a:latin typeface="Aptos"/>
              </a:defRPr>
            </a:pPr>
            <a:r>
              <a:t>1. WinTrust_CEO_Strategy_Briefing_Source.docx</a:t>
            </a:r>
            <a:br/>
            <a:r>
              <a:t>2. WinTrust_GenAI_Security_Guidelines.docx</a:t>
            </a:r>
            <a:br/>
            <a:r>
              <a:t>3. WinTrust_Malicious_Operations_Note.docx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532120"/>
            <a:ext cx="102412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700" b="1">
                <a:solidFill>
                  <a:srgbClr val="10233E"/>
                </a:solidFill>
                <a:latin typeface="Aptos"/>
              </a:defRPr>
            </a:pPr>
            <a:r>
              <a:t>Deliver: evidence → synthesis → challenge → executive briefing</a:t>
            </a:r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4208AB8A-F094-0B0B-8768-DF6B852C9A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22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E7F54CE-8AD4-AB5B-33E0-FD3765509DF3}"/>
              </a:ext>
            </a:extLst>
          </p:cNvPr>
          <p:cNvSpPr txBox="1"/>
          <p:nvPr/>
        </p:nvSpPr>
        <p:spPr>
          <a:xfrm>
            <a:off x="914400" y="5897880"/>
            <a:ext cx="10241280" cy="2923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647180"/>
                </a:solidFill>
                <a:latin typeface="Aptos"/>
              </a:defRPr>
            </a:pPr>
            <a:r>
              <a:rPr dirty="0"/>
              <a:t>Open: </a:t>
            </a:r>
            <a:r>
              <a:rPr lang="en-IN" dirty="0" err="1"/>
              <a:t>Participant_Handouts</a:t>
            </a:r>
            <a:r>
              <a:rPr lang="en-IN" dirty="0"/>
              <a:t>/Session_02_Executive_Synthesis</a:t>
            </a:r>
            <a:r>
              <a:rPr dirty="0"/>
              <a:t>.md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0233E"/>
                </a:solidFill>
                <a:latin typeface="Aptos Display"/>
              </a:defRPr>
            </a:pPr>
            <a:r>
              <a:t>Hands-on Lab Instructions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6510528"/>
            <a:ext cx="10972800" cy="16459"/>
          </a:xfrm>
          <a:prstGeom prst="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21792" y="6547104"/>
            <a:ext cx="36576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82919E"/>
                </a:solidFill>
                <a:latin typeface="Aptos"/>
              </a:defRPr>
            </a:pPr>
            <a:r>
              <a:t>WINTRUST  |  GenAI &amp; Technology Fluency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97864"/>
            <a:ext cx="5326380" cy="621792"/>
          </a:xfrm>
          <a:prstGeom prst="rect">
            <a:avLst/>
          </a:prstGeom>
          <a:solidFill>
            <a:srgbClr val="10233E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7" y="1252728"/>
            <a:ext cx="519836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ptos"/>
              </a:defRPr>
            </a:pPr>
            <a:r>
              <a:t>Stage</a:t>
            </a:r>
          </a:p>
        </p:txBody>
      </p:sp>
      <p:sp>
        <p:nvSpPr>
          <p:cNvPr id="8" name="Rectangle 7"/>
          <p:cNvSpPr/>
          <p:nvPr/>
        </p:nvSpPr>
        <p:spPr>
          <a:xfrm>
            <a:off x="6103620" y="1197864"/>
            <a:ext cx="5326380" cy="621792"/>
          </a:xfrm>
          <a:prstGeom prst="rect">
            <a:avLst/>
          </a:prstGeom>
          <a:solidFill>
            <a:srgbClr val="10233E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167628" y="1252728"/>
            <a:ext cx="519836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ptos"/>
              </a:defRPr>
            </a:pPr>
            <a:r>
              <a:t>Participant output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819656"/>
            <a:ext cx="5326380" cy="621792"/>
          </a:xfrm>
          <a:prstGeom prst="rect">
            <a:avLst/>
          </a:prstGeom>
          <a:solidFill>
            <a:srgbClr val="FFFFFF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1247" y="1874520"/>
            <a:ext cx="519836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50" b="0">
                <a:solidFill>
                  <a:srgbClr val="283441"/>
                </a:solidFill>
                <a:latin typeface="Aptos"/>
              </a:defRPr>
            </a:pPr>
            <a:r>
              <a:t>1. Evidence extraction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03620" y="1819656"/>
            <a:ext cx="5326380" cy="621792"/>
          </a:xfrm>
          <a:prstGeom prst="rect">
            <a:avLst/>
          </a:prstGeom>
          <a:solidFill>
            <a:srgbClr val="FFFFFF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67628" y="1874520"/>
            <a:ext cx="519836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50" b="0">
                <a:solidFill>
                  <a:srgbClr val="283441"/>
                </a:solidFill>
                <a:latin typeface="Aptos"/>
              </a:defRPr>
            </a:pPr>
            <a:r>
              <a:t>Important evidence from each document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441448"/>
            <a:ext cx="5326380" cy="621792"/>
          </a:xfrm>
          <a:prstGeom prst="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41247" y="2496312"/>
            <a:ext cx="519836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50" b="0">
                <a:solidFill>
                  <a:srgbClr val="283441"/>
                </a:solidFill>
                <a:latin typeface="Aptos"/>
              </a:defRPr>
            </a:pPr>
            <a:r>
              <a:t>2. Synthesis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03620" y="2441448"/>
            <a:ext cx="5326380" cy="621792"/>
          </a:xfrm>
          <a:prstGeom prst="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167628" y="2496312"/>
            <a:ext cx="519836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50" b="0">
                <a:solidFill>
                  <a:srgbClr val="283441"/>
                </a:solidFill>
                <a:latin typeface="Aptos"/>
              </a:defRPr>
            </a:pPr>
            <a:r>
              <a:t>Cross-document findings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3063240"/>
            <a:ext cx="5326380" cy="621792"/>
          </a:xfrm>
          <a:prstGeom prst="rect">
            <a:avLst/>
          </a:prstGeom>
          <a:solidFill>
            <a:srgbClr val="FFFFFF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41247" y="3118104"/>
            <a:ext cx="519836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50" b="0">
                <a:solidFill>
                  <a:srgbClr val="283441"/>
                </a:solidFill>
                <a:latin typeface="Aptos"/>
              </a:defRPr>
            </a:pPr>
            <a:r>
              <a:t>3. Challenge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03620" y="3063240"/>
            <a:ext cx="5326380" cy="621792"/>
          </a:xfrm>
          <a:prstGeom prst="rect">
            <a:avLst/>
          </a:prstGeom>
          <a:solidFill>
            <a:srgbClr val="FFFFFF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167628" y="3118104"/>
            <a:ext cx="519836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50" b="0">
                <a:solidFill>
                  <a:srgbClr val="283441"/>
                </a:solidFill>
                <a:latin typeface="Aptos"/>
              </a:defRPr>
            </a:pPr>
            <a:r>
              <a:t>Contradictions, tensions, assumptions and gaps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685032"/>
            <a:ext cx="5326380" cy="621792"/>
          </a:xfrm>
          <a:prstGeom prst="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41247" y="3739896"/>
            <a:ext cx="519836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50" b="0">
                <a:solidFill>
                  <a:srgbClr val="283441"/>
                </a:solidFill>
                <a:latin typeface="Aptos"/>
              </a:defRPr>
            </a:pPr>
            <a:r>
              <a:t>4. Executive interpretation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03620" y="3685032"/>
            <a:ext cx="5326380" cy="621792"/>
          </a:xfrm>
          <a:prstGeom prst="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167628" y="3739896"/>
            <a:ext cx="519836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50" b="0">
                <a:solidFill>
                  <a:srgbClr val="283441"/>
                </a:solidFill>
                <a:latin typeface="Aptos"/>
              </a:defRPr>
            </a:pPr>
            <a:r>
              <a:t>What the evidence means for leadership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4306824"/>
            <a:ext cx="5326380" cy="621792"/>
          </a:xfrm>
          <a:prstGeom prst="rect">
            <a:avLst/>
          </a:prstGeom>
          <a:solidFill>
            <a:srgbClr val="FFFFFF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41247" y="4361688"/>
            <a:ext cx="519836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50" b="0">
                <a:solidFill>
                  <a:srgbClr val="283441"/>
                </a:solidFill>
                <a:latin typeface="Aptos"/>
              </a:defRPr>
            </a:pPr>
            <a:r>
              <a:t>5. Communication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03620" y="4306824"/>
            <a:ext cx="5326380" cy="621792"/>
          </a:xfrm>
          <a:prstGeom prst="rect">
            <a:avLst/>
          </a:prstGeom>
          <a:solidFill>
            <a:srgbClr val="FFFFFF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167628" y="4361688"/>
            <a:ext cx="519836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50" b="0">
                <a:solidFill>
                  <a:srgbClr val="283441"/>
                </a:solidFill>
                <a:latin typeface="Aptos"/>
              </a:defRPr>
            </a:pPr>
            <a:r>
              <a:t>Concise executive briefing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" y="4928616"/>
            <a:ext cx="5326380" cy="621792"/>
          </a:xfrm>
          <a:prstGeom prst="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41247" y="4983480"/>
            <a:ext cx="519836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50" b="0">
                <a:solidFill>
                  <a:srgbClr val="283441"/>
                </a:solidFill>
                <a:latin typeface="Aptos"/>
              </a:defRPr>
            </a:pPr>
            <a:r>
              <a:t>6. Leadership questions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3620" y="4928616"/>
            <a:ext cx="5326380" cy="621792"/>
          </a:xfrm>
          <a:prstGeom prst="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167628" y="4983480"/>
            <a:ext cx="519836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50" b="0">
                <a:solidFill>
                  <a:srgbClr val="283441"/>
                </a:solidFill>
                <a:latin typeface="Aptos"/>
              </a:defRPr>
            </a:pPr>
            <a:r>
              <a:t>Three questions requiring resolution</a:t>
            </a:r>
          </a:p>
        </p:txBody>
      </p:sp>
      <p:sp>
        <p:nvSpPr>
          <p:cNvPr id="34" name="Slide Number Placeholder 33">
            <a:extLst>
              <a:ext uri="{FF2B5EF4-FFF2-40B4-BE49-F238E27FC236}">
                <a16:creationId xmlns:a16="http://schemas.microsoft.com/office/drawing/2014/main" id="{63D3CE48-0E20-1C89-7CB0-488C3D320E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23</a:t>
            </a:fld>
            <a:endParaRPr lang="en-US"/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696D3A91-8C26-D401-2EC8-A0FFE01602B8}"/>
              </a:ext>
            </a:extLst>
          </p:cNvPr>
          <p:cNvSpPr/>
          <p:nvPr/>
        </p:nvSpPr>
        <p:spPr>
          <a:xfrm>
            <a:off x="5341925" y="5593114"/>
            <a:ext cx="914400" cy="9144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Start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0233E"/>
                </a:solidFill>
                <a:latin typeface="Aptos Display"/>
              </a:defRPr>
            </a:pPr>
            <a:r>
              <a:t>Hands-on Lab: Improve Your Own Output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6510528"/>
            <a:ext cx="10972800" cy="16459"/>
          </a:xfrm>
          <a:prstGeom prst="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21792" y="6547104"/>
            <a:ext cx="36576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82919E"/>
                </a:solidFill>
                <a:latin typeface="Aptos"/>
              </a:defRPr>
            </a:pPr>
            <a:r>
              <a:t>WINTRUST  |  GenAI &amp; Technology Fluency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91640"/>
            <a:ext cx="10561320" cy="4206240"/>
          </a:xfrm>
          <a:prstGeom prst="roundRect">
            <a:avLst/>
          </a:prstGeom>
          <a:solidFill>
            <a:srgbClr val="192330"/>
          </a:solidFill>
          <a:ln>
            <a:solidFill>
              <a:srgbClr val="3C4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1874520"/>
            <a:ext cx="10104120" cy="3840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E1EBF2"/>
                </a:solidFill>
                <a:latin typeface="Cascadia Mono"/>
              </a:defRPr>
            </a:pPr>
            <a:r>
              <a:rPr dirty="0"/>
              <a:t>Now challenge your own analysis.</a:t>
            </a:r>
            <a:br>
              <a:rPr dirty="0"/>
            </a:br>
            <a:br>
              <a:rPr dirty="0"/>
            </a:br>
            <a:r>
              <a:rPr dirty="0"/>
              <a:t>Identify:</a:t>
            </a:r>
            <a:br>
              <a:rPr dirty="0"/>
            </a:br>
            <a:r>
              <a:rPr dirty="0"/>
              <a:t>• conclusions that could be wrong</a:t>
            </a:r>
            <a:br>
              <a:rPr dirty="0"/>
            </a:br>
            <a:r>
              <a:rPr dirty="0"/>
              <a:t>• claims that are weakly supported</a:t>
            </a:r>
            <a:br>
              <a:rPr dirty="0"/>
            </a:br>
            <a:r>
              <a:rPr dirty="0"/>
              <a:t>• assumptions carrying the most weight</a:t>
            </a:r>
            <a:br>
              <a:rPr dirty="0"/>
            </a:br>
            <a:r>
              <a:rPr dirty="0"/>
              <a:t>• information that is missing</a:t>
            </a:r>
            <a:br>
              <a:rPr dirty="0"/>
            </a:br>
            <a:r>
              <a:rPr dirty="0"/>
              <a:t>• places where inference may have been presented as fact</a:t>
            </a:r>
            <a:br>
              <a:rPr dirty="0"/>
            </a:br>
            <a:r>
              <a:rPr dirty="0"/>
              <a:t>• statements that sound confident but require validation</a:t>
            </a:r>
            <a:br>
              <a:rPr dirty="0"/>
            </a:br>
            <a:br>
              <a:rPr dirty="0"/>
            </a:br>
            <a:r>
              <a:rPr dirty="0"/>
              <a:t>For each issue explain how the briefing should change.</a:t>
            </a:r>
            <a:br>
              <a:rPr dirty="0"/>
            </a:br>
            <a:br>
              <a:rPr dirty="0"/>
            </a:br>
            <a:r>
              <a:rPr dirty="0"/>
              <a:t>Do not simply rewrite the briefing. First identify its weaknesses.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CA9FF39-3932-8045-08B4-2D70EE4DAC92}"/>
              </a:ext>
            </a:extLst>
          </p:cNvPr>
          <p:cNvGrpSpPr/>
          <p:nvPr/>
        </p:nvGrpSpPr>
        <p:grpSpPr>
          <a:xfrm>
            <a:off x="1051560" y="5577840"/>
            <a:ext cx="10012680" cy="576071"/>
            <a:chOff x="1051560" y="5577840"/>
            <a:chExt cx="10012680" cy="576071"/>
          </a:xfrm>
        </p:grpSpPr>
        <p:sp>
          <p:nvSpPr>
            <p:cNvPr id="8" name="Rounded Rectangle 7"/>
            <p:cNvSpPr/>
            <p:nvPr/>
          </p:nvSpPr>
          <p:spPr>
            <a:xfrm>
              <a:off x="1051560" y="5577840"/>
              <a:ext cx="10012680" cy="566928"/>
            </a:xfrm>
            <a:prstGeom prst="roundRect">
              <a:avLst/>
            </a:prstGeom>
            <a:solidFill>
              <a:srgbClr val="F2F6F9"/>
            </a:solidFill>
            <a:ln>
              <a:solidFill>
                <a:srgbClr val="E0E7EE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" name="Rectangle 8"/>
            <p:cNvSpPr/>
            <p:nvPr/>
          </p:nvSpPr>
          <p:spPr>
            <a:xfrm>
              <a:off x="1051560" y="5577840"/>
              <a:ext cx="73152" cy="566928"/>
            </a:xfrm>
            <a:prstGeom prst="rect">
              <a:avLst/>
            </a:prstGeom>
            <a:solidFill>
              <a:srgbClr val="DA853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280160" y="5742431"/>
              <a:ext cx="9601200" cy="41148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>
                <a:defRPr sz="1400" b="1">
                  <a:solidFill>
                    <a:srgbClr val="10233E"/>
                  </a:solidFill>
                  <a:latin typeface="Aptos"/>
                </a:defRPr>
              </a:pPr>
              <a:r>
                <a:t>THE SHIFT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280160" y="5980175"/>
              <a:ext cx="9601200" cy="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 sz="1100">
                  <a:solidFill>
                    <a:srgbClr val="283441"/>
                  </a:solidFill>
                  <a:latin typeface="Aptos"/>
                </a:defRPr>
              </a:pPr>
              <a:r>
                <a:rPr dirty="0"/>
                <a:t>Version 1 = generate.  Version 2 = challenge and improve.</a:t>
              </a:r>
            </a:p>
          </p:txBody>
        </p:sp>
      </p:grp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B4355590-1B55-5CED-4104-05358D520E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24</a:t>
            </a:fld>
            <a:endParaRPr lang="en-US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2DEEE8F8-AA13-82F1-F1B1-674C7506CF64}"/>
              </a:ext>
            </a:extLst>
          </p:cNvPr>
          <p:cNvSpPr/>
          <p:nvPr/>
        </p:nvSpPr>
        <p:spPr>
          <a:xfrm>
            <a:off x="5341925" y="5593114"/>
            <a:ext cx="914400" cy="9144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5 minutes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0233E"/>
                </a:solidFill>
                <a:latin typeface="Aptos Display"/>
              </a:defRPr>
            </a:pPr>
            <a:r>
              <a:t>From Analysis to Executive Communication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6510528"/>
            <a:ext cx="10972800" cy="16459"/>
          </a:xfrm>
          <a:prstGeom prst="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21792" y="6547104"/>
            <a:ext cx="36576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82919E"/>
                </a:solidFill>
                <a:latin typeface="Aptos"/>
              </a:defRPr>
            </a:pPr>
            <a:r>
              <a:t>WINTRUST  |  GenAI &amp; Technology Fluency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691640"/>
            <a:ext cx="2057400" cy="3474720"/>
          </a:xfrm>
          <a:prstGeom prst="round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94360" y="1691640"/>
            <a:ext cx="73152" cy="3474720"/>
          </a:xfrm>
          <a:prstGeom prst="rect">
            <a:avLst/>
          </a:prstGeom>
          <a:solidFill>
            <a:srgbClr val="0084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1856232"/>
            <a:ext cx="1645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0233E"/>
                </a:solidFill>
                <a:latin typeface="Aptos"/>
              </a:defRPr>
            </a:pPr>
            <a:r>
              <a:t>CEO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13432"/>
            <a:ext cx="16459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83441"/>
                </a:solidFill>
                <a:latin typeface="Aptos"/>
              </a:defRPr>
            </a:pPr>
            <a:r>
              <a:t>Three things you need to know.</a:t>
            </a:r>
            <a:br/>
            <a:br/>
            <a:r>
              <a:t>Decision and strategic implication.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34640" y="1691640"/>
            <a:ext cx="2057400" cy="3474720"/>
          </a:xfrm>
          <a:prstGeom prst="round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834640" y="1691640"/>
            <a:ext cx="73152" cy="3474720"/>
          </a:xfrm>
          <a:prstGeom prst="rect">
            <a:avLst/>
          </a:prstGeom>
          <a:solidFill>
            <a:srgbClr val="2F63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063240" y="1856232"/>
            <a:ext cx="1645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0233E"/>
                </a:solidFill>
                <a:latin typeface="Aptos"/>
              </a:defRPr>
            </a:pPr>
            <a:r>
              <a:t>CFO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63240" y="2313432"/>
            <a:ext cx="16459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83441"/>
                </a:solidFill>
                <a:latin typeface="Aptos"/>
              </a:defRPr>
            </a:pPr>
            <a:r>
              <a:t>Financial exposure.</a:t>
            </a:r>
            <a:br/>
            <a:br/>
            <a:r>
              <a:t>Investment and value implications.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74920" y="1691640"/>
            <a:ext cx="2057400" cy="3474720"/>
          </a:xfrm>
          <a:prstGeom prst="round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074920" y="1691640"/>
            <a:ext cx="73152" cy="3474720"/>
          </a:xfrm>
          <a:prstGeom prst="rect">
            <a:avLst/>
          </a:prstGeom>
          <a:solidFill>
            <a:srgbClr val="B8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03520" y="1856232"/>
            <a:ext cx="1645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0233E"/>
                </a:solidFill>
                <a:latin typeface="Aptos"/>
              </a:defRPr>
            </a:pPr>
            <a:r>
              <a:t>CISO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2313432"/>
            <a:ext cx="16459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83441"/>
                </a:solidFill>
                <a:latin typeface="Aptos"/>
              </a:defRPr>
            </a:pPr>
            <a:r>
              <a:t>Risk and controls.</a:t>
            </a:r>
            <a:br/>
            <a:br/>
            <a:r>
              <a:t>Security implications.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0" y="1691640"/>
            <a:ext cx="2057400" cy="3474720"/>
          </a:xfrm>
          <a:prstGeom prst="round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315200" y="1691640"/>
            <a:ext cx="73152" cy="3474720"/>
          </a:xfrm>
          <a:prstGeom prst="rect">
            <a:avLst/>
          </a:prstGeom>
          <a:solidFill>
            <a:srgbClr val="2F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543800" y="1856232"/>
            <a:ext cx="1645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0233E"/>
                </a:solidFill>
                <a:latin typeface="Aptos"/>
              </a:defRPr>
            </a:pPr>
            <a:r>
              <a:t>DATA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43800" y="2313432"/>
            <a:ext cx="16459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83441"/>
                </a:solidFill>
                <a:latin typeface="Aptos"/>
              </a:defRPr>
            </a:pPr>
            <a:r>
              <a:t>Data requirements.</a:t>
            </a:r>
            <a:br/>
            <a:br/>
            <a:r>
              <a:t>Quality and analytical implications.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555480" y="1691640"/>
            <a:ext cx="2057400" cy="3474720"/>
          </a:xfrm>
          <a:prstGeom prst="round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9555480" y="1691640"/>
            <a:ext cx="73152" cy="3474720"/>
          </a:xfrm>
          <a:prstGeom prst="rect">
            <a:avLst/>
          </a:prstGeom>
          <a:solidFill>
            <a:srgbClr val="DA8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784080" y="1856232"/>
            <a:ext cx="1645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0233E"/>
                </a:solidFill>
                <a:latin typeface="Aptos"/>
              </a:defRPr>
            </a:pPr>
            <a:r>
              <a:t>OPS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84080" y="2313432"/>
            <a:ext cx="16459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83441"/>
                </a:solidFill>
                <a:latin typeface="Aptos"/>
              </a:defRPr>
            </a:pPr>
            <a:r>
              <a:t>Process and execution.</a:t>
            </a:r>
            <a:br/>
            <a:br/>
            <a:r>
              <a:t>Operational implications.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486400"/>
            <a:ext cx="104241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10233E"/>
                </a:solidFill>
                <a:latin typeface="Aptos Display"/>
              </a:defRPr>
            </a:pPr>
            <a:r>
              <a:t>Good AI communication is not just shorter. It is audience-specific.</a:t>
            </a:r>
          </a:p>
        </p:txBody>
      </p:sp>
      <p:sp>
        <p:nvSpPr>
          <p:cNvPr id="27" name="Slide Number Placeholder 26">
            <a:extLst>
              <a:ext uri="{FF2B5EF4-FFF2-40B4-BE49-F238E27FC236}">
                <a16:creationId xmlns:a16="http://schemas.microsoft.com/office/drawing/2014/main" id="{A0C1D96E-7A4E-6072-15FB-ABDA8358D3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0233E"/>
                </a:solidFill>
                <a:latin typeface="Aptos Display"/>
              </a:defRPr>
            </a:pPr>
            <a:r>
              <a:t>Demo 5: Executive Briefing Transformation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6510528"/>
            <a:ext cx="10972800" cy="16459"/>
          </a:xfrm>
          <a:prstGeom prst="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21792" y="6547104"/>
            <a:ext cx="36576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82919E"/>
                </a:solidFill>
                <a:latin typeface="Aptos"/>
              </a:defRPr>
            </a:pPr>
            <a:r>
              <a:t>WINTRUST  |  GenAI &amp; Technology Fluency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508760"/>
            <a:ext cx="10927080" cy="4754880"/>
          </a:xfrm>
          <a:prstGeom prst="roundRect">
            <a:avLst/>
          </a:prstGeom>
          <a:solidFill>
            <a:srgbClr val="192330"/>
          </a:solidFill>
          <a:ln>
            <a:solidFill>
              <a:srgbClr val="3C4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1691639"/>
            <a:ext cx="10469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30">
                <a:solidFill>
                  <a:srgbClr val="E1EBF2"/>
                </a:solidFill>
                <a:latin typeface="Cascadia Mono"/>
              </a:defRPr>
            </a:pPr>
            <a:r>
              <a:t>Convert the validated analysis into a one-page CEO briefing.</a:t>
            </a:r>
            <a:br/>
            <a:br/>
            <a:r>
              <a:t>Audience: WinTrust CEO</a:t>
            </a:r>
            <a:br/>
            <a:br/>
            <a:r>
              <a:t>Include:</a:t>
            </a:r>
            <a:br/>
            <a:r>
              <a:t>1. Executive takeaway</a:t>
            </a:r>
            <a:br/>
            <a:r>
              <a:t>2. What has changed</a:t>
            </a:r>
            <a:br/>
            <a:r>
              <a:t>3. Three material opportunities</a:t>
            </a:r>
            <a:br/>
            <a:r>
              <a:t>4. Three material risks</a:t>
            </a:r>
            <a:br/>
            <a:r>
              <a:t>5. Important evidence</a:t>
            </a:r>
            <a:br/>
            <a:r>
              <a:t>6. What remains uncertain</a:t>
            </a:r>
            <a:br/>
            <a:r>
              <a:t>7. Decisions or questions requiring leadership attention</a:t>
            </a:r>
            <a:br/>
            <a:br/>
            <a:r>
              <a:t>Rules:</a:t>
            </a:r>
            <a:br/>
            <a:r>
              <a:t>• decision-oriented language</a:t>
            </a:r>
            <a:br/>
            <a:r>
              <a:t>• avoid operational detail unless it affects a decision</a:t>
            </a:r>
            <a:br/>
            <a:r>
              <a:t>• separate evidence from interpretation</a:t>
            </a:r>
            <a:br/>
            <a:r>
              <a:t>• do not introduce new facts</a:t>
            </a:r>
            <a:br/>
            <a:r>
              <a:t>• preserve important uncertainty</a:t>
            </a:r>
            <a:br/>
            <a:r>
              <a:t>• do not make unsupported recommendations</a:t>
            </a:r>
            <a:br/>
            <a:br/>
            <a:r>
              <a:t>Maximum length: 500 words.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47BAA6D-D072-65B9-3329-819B4D5219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0233E"/>
                </a:solidFill>
                <a:latin typeface="Aptos Display"/>
              </a:defRPr>
            </a:pPr>
            <a:r>
              <a:t>Prompting for Better Executive Communication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6510528"/>
            <a:ext cx="10972800" cy="16459"/>
          </a:xfrm>
          <a:prstGeom prst="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21792" y="6547104"/>
            <a:ext cx="36576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82919E"/>
                </a:solidFill>
                <a:latin typeface="Aptos"/>
              </a:defRPr>
            </a:pPr>
            <a:r>
              <a:t>WINTRUST  |  GenAI &amp; Technology Fluency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24A89B45-2133-A859-DCD3-CD5DCF441FB2}"/>
              </a:ext>
            </a:extLst>
          </p:cNvPr>
          <p:cNvGrpSpPr/>
          <p:nvPr/>
        </p:nvGrpSpPr>
        <p:grpSpPr>
          <a:xfrm>
            <a:off x="685800" y="1645920"/>
            <a:ext cx="10835640" cy="3931920"/>
            <a:chOff x="685800" y="1645920"/>
            <a:chExt cx="10835640" cy="3931920"/>
          </a:xfrm>
        </p:grpSpPr>
        <p:sp>
          <p:nvSpPr>
            <p:cNvPr id="6" name="Rounded Rectangle 5"/>
            <p:cNvSpPr/>
            <p:nvPr/>
          </p:nvSpPr>
          <p:spPr>
            <a:xfrm>
              <a:off x="685800" y="1645920"/>
              <a:ext cx="2057400" cy="2148840"/>
            </a:xfrm>
            <a:prstGeom prst="roundRect">
              <a:avLst/>
            </a:prstGeom>
            <a:solidFill>
              <a:srgbClr val="F2F6F9"/>
            </a:solidFill>
            <a:ln>
              <a:solidFill>
                <a:srgbClr val="E0E7EE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" name="Rectangle 6"/>
            <p:cNvSpPr/>
            <p:nvPr/>
          </p:nvSpPr>
          <p:spPr>
            <a:xfrm>
              <a:off x="685800" y="1645920"/>
              <a:ext cx="73152" cy="2148840"/>
            </a:xfrm>
            <a:prstGeom prst="rect">
              <a:avLst/>
            </a:prstGeom>
            <a:solidFill>
              <a:srgbClr val="00848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914400" y="1810512"/>
              <a:ext cx="1645920" cy="41148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>
                <a:defRPr sz="1500" b="1">
                  <a:solidFill>
                    <a:srgbClr val="10233E"/>
                  </a:solidFill>
                  <a:latin typeface="Aptos"/>
                </a:defRPr>
              </a:pPr>
              <a:r>
                <a:t>1  AUDIENCE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914400" y="2267712"/>
              <a:ext cx="1645920" cy="14173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 sz="1200">
                  <a:solidFill>
                    <a:srgbClr val="283441"/>
                  </a:solidFill>
                  <a:latin typeface="Aptos"/>
                </a:defRPr>
              </a:pPr>
              <a:r>
                <a:t>Who is reading this?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2880360" y="1645920"/>
              <a:ext cx="2057400" cy="2148840"/>
            </a:xfrm>
            <a:prstGeom prst="roundRect">
              <a:avLst/>
            </a:prstGeom>
            <a:solidFill>
              <a:srgbClr val="F2F6F9"/>
            </a:solidFill>
            <a:ln>
              <a:solidFill>
                <a:srgbClr val="E0E7EE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2880360" y="1645920"/>
              <a:ext cx="73152" cy="2148840"/>
            </a:xfrm>
            <a:prstGeom prst="rect">
              <a:avLst/>
            </a:prstGeom>
            <a:solidFill>
              <a:srgbClr val="2F63A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3108960" y="1810512"/>
              <a:ext cx="1645920" cy="41148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>
                <a:defRPr sz="1500" b="1">
                  <a:solidFill>
                    <a:srgbClr val="10233E"/>
                  </a:solidFill>
                  <a:latin typeface="Aptos"/>
                </a:defRPr>
              </a:pPr>
              <a:r>
                <a:t>2  PURPOSE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3108960" y="2267712"/>
              <a:ext cx="1645920" cy="14173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 sz="1200">
                  <a:solidFill>
                    <a:srgbClr val="283441"/>
                  </a:solidFill>
                  <a:latin typeface="Aptos"/>
                </a:defRPr>
              </a:pPr>
              <a:r>
                <a:t>What should they understand or decide?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5074920" y="1645920"/>
              <a:ext cx="2057400" cy="2148840"/>
            </a:xfrm>
            <a:prstGeom prst="roundRect">
              <a:avLst/>
            </a:prstGeom>
            <a:solidFill>
              <a:srgbClr val="F2F6F9"/>
            </a:solidFill>
            <a:ln>
              <a:solidFill>
                <a:srgbClr val="E0E7EE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5074920" y="1645920"/>
              <a:ext cx="73152" cy="2148840"/>
            </a:xfrm>
            <a:prstGeom prst="rect">
              <a:avLst/>
            </a:prstGeom>
            <a:solidFill>
              <a:srgbClr val="2F8B5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5303520" y="1810512"/>
              <a:ext cx="1645920" cy="41148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>
                <a:defRPr sz="1500" b="1">
                  <a:solidFill>
                    <a:srgbClr val="10233E"/>
                  </a:solidFill>
                  <a:latin typeface="Aptos"/>
                </a:defRPr>
              </a:pPr>
              <a:r>
                <a:t>3  ALTITUDE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5303520" y="2267712"/>
              <a:ext cx="1645920" cy="14173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 sz="1200">
                  <a:solidFill>
                    <a:srgbClr val="283441"/>
                  </a:solidFill>
                  <a:latin typeface="Aptos"/>
                </a:defRPr>
              </a:pPr>
              <a:r>
                <a:t>How much detail is appropriate?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7269480" y="1645920"/>
              <a:ext cx="2057400" cy="2148840"/>
            </a:xfrm>
            <a:prstGeom prst="roundRect">
              <a:avLst/>
            </a:prstGeom>
            <a:solidFill>
              <a:srgbClr val="F2F6F9"/>
            </a:solidFill>
            <a:ln>
              <a:solidFill>
                <a:srgbClr val="E0E7EE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7269480" y="1645920"/>
              <a:ext cx="73152" cy="2148840"/>
            </a:xfrm>
            <a:prstGeom prst="rect">
              <a:avLst/>
            </a:prstGeom>
            <a:solidFill>
              <a:srgbClr val="DA853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7498079" y="1810512"/>
              <a:ext cx="1645920" cy="41148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>
                <a:defRPr sz="1500" b="1">
                  <a:solidFill>
                    <a:srgbClr val="10233E"/>
                  </a:solidFill>
                  <a:latin typeface="Aptos"/>
                </a:defRPr>
              </a:pPr>
              <a:r>
                <a:t>4  EVIDENCE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7498079" y="2267712"/>
              <a:ext cx="1645920" cy="14173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 sz="1200">
                  <a:solidFill>
                    <a:srgbClr val="283441"/>
                  </a:solidFill>
                  <a:latin typeface="Aptos"/>
                </a:defRPr>
              </a:pPr>
              <a:r>
                <a:t>What must remain traceable?</a:t>
              </a:r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9464040" y="1645920"/>
              <a:ext cx="2057400" cy="2148840"/>
            </a:xfrm>
            <a:prstGeom prst="roundRect">
              <a:avLst/>
            </a:prstGeom>
            <a:solidFill>
              <a:srgbClr val="F2F6F9"/>
            </a:solidFill>
            <a:ln>
              <a:solidFill>
                <a:srgbClr val="E0E7EE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9464040" y="1645920"/>
              <a:ext cx="73152" cy="2148840"/>
            </a:xfrm>
            <a:prstGeom prst="rect">
              <a:avLst/>
            </a:prstGeom>
            <a:solidFill>
              <a:srgbClr val="B84444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9692640" y="1810512"/>
              <a:ext cx="1645920" cy="41148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>
                <a:defRPr sz="1500" b="1">
                  <a:solidFill>
                    <a:srgbClr val="10233E"/>
                  </a:solidFill>
                  <a:latin typeface="Aptos"/>
                </a:defRPr>
              </a:pPr>
              <a:r>
                <a:t>5  ACTION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9692640" y="2267712"/>
              <a:ext cx="1645920" cy="14173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 sz="1200">
                  <a:solidFill>
                    <a:srgbClr val="283441"/>
                  </a:solidFill>
                  <a:latin typeface="Aptos"/>
                </a:defRPr>
              </a:pPr>
              <a:r>
                <a:t>What should happen next?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868680" y="4343400"/>
              <a:ext cx="10332720" cy="123444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>
                <a:defRPr sz="2500" b="1">
                  <a:solidFill>
                    <a:srgbClr val="10233E"/>
                  </a:solidFill>
                  <a:latin typeface="Aptos Display"/>
                </a:defRPr>
              </a:pPr>
              <a:r>
                <a:t>Audience + Purpose + Altitude + Evidence + Action</a:t>
              </a:r>
            </a:p>
          </p:txBody>
        </p:sp>
      </p:grpSp>
      <p:sp>
        <p:nvSpPr>
          <p:cNvPr id="27" name="Slide Number Placeholder 26">
            <a:extLst>
              <a:ext uri="{FF2B5EF4-FFF2-40B4-BE49-F238E27FC236}">
                <a16:creationId xmlns:a16="http://schemas.microsoft.com/office/drawing/2014/main" id="{31A8175C-05C2-8C5D-E74C-5EF892AD15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27</a:t>
            </a:fld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EABFEBF-BF42-98B5-3B9D-A4A208BCDBF4}"/>
              </a:ext>
            </a:extLst>
          </p:cNvPr>
          <p:cNvSpPr txBox="1"/>
          <p:nvPr/>
        </p:nvSpPr>
        <p:spPr>
          <a:xfrm>
            <a:off x="3059125" y="1318565"/>
            <a:ext cx="6140196" cy="4801314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IN" b="1" dirty="0"/>
              <a:t>Prompt pattern</a:t>
            </a:r>
            <a:endParaRPr lang="en-IN" dirty="0"/>
          </a:p>
          <a:p>
            <a:r>
              <a:rPr lang="en-IN" dirty="0"/>
              <a:t>Rewrite the analysis for [AUDIENCE].</a:t>
            </a:r>
          </a:p>
          <a:p>
            <a:r>
              <a:rPr lang="en-IN" dirty="0"/>
              <a:t> </a:t>
            </a:r>
          </a:p>
          <a:p>
            <a:r>
              <a:rPr lang="en-IN" dirty="0"/>
              <a:t>Purpose:</a:t>
            </a:r>
          </a:p>
          <a:p>
            <a:r>
              <a:rPr lang="en-IN" dirty="0"/>
              <a:t>[WHAT THE AUDIENCE NEEDS TO DO]</a:t>
            </a:r>
          </a:p>
          <a:p>
            <a:r>
              <a:rPr lang="en-IN" dirty="0"/>
              <a:t> </a:t>
            </a:r>
          </a:p>
          <a:p>
            <a:r>
              <a:rPr lang="en-IN" dirty="0"/>
              <a:t>Focus on:</a:t>
            </a:r>
          </a:p>
          <a:p>
            <a:r>
              <a:rPr lang="en-IN" dirty="0"/>
              <a:t>[3-5 AREAS]</a:t>
            </a:r>
          </a:p>
          <a:p>
            <a:r>
              <a:rPr lang="en-IN" dirty="0"/>
              <a:t> </a:t>
            </a:r>
          </a:p>
          <a:p>
            <a:r>
              <a:rPr lang="en-IN" dirty="0"/>
              <a:t>Do not:</a:t>
            </a:r>
          </a:p>
          <a:p>
            <a:r>
              <a:rPr lang="en-IN" dirty="0"/>
              <a:t>[DETAILS TO EXCLUDE]</a:t>
            </a:r>
          </a:p>
          <a:p>
            <a:r>
              <a:rPr lang="en-IN" dirty="0"/>
              <a:t> </a:t>
            </a:r>
          </a:p>
          <a:p>
            <a:r>
              <a:rPr lang="en-IN" dirty="0"/>
              <a:t>Preserve:</a:t>
            </a:r>
          </a:p>
          <a:p>
            <a:r>
              <a:rPr lang="en-IN" dirty="0"/>
              <a:t>[FACTS / EVIDENCE / UNCERTAINTIES]</a:t>
            </a:r>
          </a:p>
          <a:p>
            <a:r>
              <a:rPr lang="en-IN" dirty="0"/>
              <a:t> </a:t>
            </a:r>
          </a:p>
          <a:p>
            <a:r>
              <a:rPr lang="en-IN" dirty="0"/>
              <a:t>Output:</a:t>
            </a:r>
          </a:p>
          <a:p>
            <a:r>
              <a:rPr lang="en-IN" dirty="0"/>
              <a:t>[STRUCTURE]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indefinite"/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25"/>
                                      </p:to>
                                    </p:set>
                                    <p:animEffect filter="image" prLst="opacity: 0.25">
                                      <p:cBhvr rctx="IE">
                                        <p:cTn id="11" dur="indefinite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0233E"/>
                </a:solidFill>
                <a:latin typeface="Aptos Display"/>
              </a:defRPr>
            </a:pPr>
            <a:r>
              <a:t>Research &amp; Synthesis Anti-Patterns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6510528"/>
            <a:ext cx="10972800" cy="16459"/>
          </a:xfrm>
          <a:prstGeom prst="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21792" y="6547104"/>
            <a:ext cx="36576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82919E"/>
                </a:solidFill>
                <a:latin typeface="Aptos"/>
              </a:defRPr>
            </a:pPr>
            <a:r>
              <a:t>WINTRUST  |  GenAI &amp; Technology Fluency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5349240" cy="521207"/>
          </a:xfrm>
          <a:prstGeom prst="rect">
            <a:avLst/>
          </a:prstGeom>
          <a:solidFill>
            <a:srgbClr val="10233E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95528" y="1472184"/>
            <a:ext cx="5221224" cy="4297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30" b="1">
                <a:solidFill>
                  <a:srgbClr val="FFFFFF"/>
                </a:solidFill>
                <a:latin typeface="Aptos"/>
              </a:defRPr>
            </a:pPr>
            <a:r>
              <a:t>Anti-pattern</a:t>
            </a:r>
          </a:p>
        </p:txBody>
      </p:sp>
      <p:sp>
        <p:nvSpPr>
          <p:cNvPr id="8" name="Rectangle 7"/>
          <p:cNvSpPr/>
          <p:nvPr/>
        </p:nvSpPr>
        <p:spPr>
          <a:xfrm>
            <a:off x="6080759" y="1417320"/>
            <a:ext cx="5349240" cy="521207"/>
          </a:xfrm>
          <a:prstGeom prst="rect">
            <a:avLst/>
          </a:prstGeom>
          <a:solidFill>
            <a:srgbClr val="10233E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144768" y="1472184"/>
            <a:ext cx="5221224" cy="4297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30" b="1">
                <a:solidFill>
                  <a:srgbClr val="FFFFFF"/>
                </a:solidFill>
                <a:latin typeface="Aptos"/>
              </a:defRPr>
            </a:pPr>
            <a:r>
              <a:t>Better approach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1938528"/>
            <a:ext cx="5349240" cy="521207"/>
          </a:xfrm>
          <a:prstGeom prst="rect">
            <a:avLst/>
          </a:prstGeom>
          <a:solidFill>
            <a:srgbClr val="FFFFFF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95528" y="1993392"/>
            <a:ext cx="5221224" cy="4297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080" b="0">
                <a:solidFill>
                  <a:srgbClr val="283441"/>
                </a:solidFill>
                <a:latin typeface="Aptos"/>
              </a:defRPr>
            </a:pPr>
            <a:r>
              <a:t>“Summarize this”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80759" y="1938528"/>
            <a:ext cx="5349240" cy="521207"/>
          </a:xfrm>
          <a:prstGeom prst="rect">
            <a:avLst/>
          </a:prstGeom>
          <a:solidFill>
            <a:srgbClr val="FFFFFF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44768" y="1993392"/>
            <a:ext cx="5221224" cy="4297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080" b="0">
                <a:solidFill>
                  <a:srgbClr val="283441"/>
                </a:solidFill>
                <a:latin typeface="Aptos"/>
              </a:defRPr>
            </a:pPr>
            <a:r>
              <a:t>Define what matters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2459736"/>
            <a:ext cx="5349240" cy="521207"/>
          </a:xfrm>
          <a:prstGeom prst="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95528" y="2514600"/>
            <a:ext cx="5221224" cy="4297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080" b="0">
                <a:solidFill>
                  <a:srgbClr val="283441"/>
                </a:solidFill>
                <a:latin typeface="Aptos"/>
              </a:defRPr>
            </a:pPr>
            <a:r>
              <a:t>Treating AI output as evidence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80759" y="2459736"/>
            <a:ext cx="5349240" cy="521207"/>
          </a:xfrm>
          <a:prstGeom prst="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144768" y="2514600"/>
            <a:ext cx="5221224" cy="4297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080" b="0">
                <a:solidFill>
                  <a:srgbClr val="283441"/>
                </a:solidFill>
                <a:latin typeface="Aptos"/>
              </a:defRPr>
            </a:pPr>
            <a:r>
              <a:t>Require source attribution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2980944"/>
            <a:ext cx="5349240" cy="521207"/>
          </a:xfrm>
          <a:prstGeom prst="rect">
            <a:avLst/>
          </a:prstGeom>
          <a:solidFill>
            <a:srgbClr val="FFFFFF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95528" y="3035808"/>
            <a:ext cx="5221224" cy="4297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080" b="0">
                <a:solidFill>
                  <a:srgbClr val="283441"/>
                </a:solidFill>
                <a:latin typeface="Aptos"/>
              </a:defRPr>
            </a:pPr>
            <a:r>
              <a:t>Mixing facts and recommendations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80759" y="2980944"/>
            <a:ext cx="5349240" cy="521207"/>
          </a:xfrm>
          <a:prstGeom prst="rect">
            <a:avLst/>
          </a:prstGeom>
          <a:solidFill>
            <a:srgbClr val="FFFFFF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144768" y="3035808"/>
            <a:ext cx="5221224" cy="4297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080" b="0">
                <a:solidFill>
                  <a:srgbClr val="283441"/>
                </a:solidFill>
                <a:latin typeface="Aptos"/>
              </a:defRPr>
            </a:pPr>
            <a:r>
              <a:t>Separate them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3502152"/>
            <a:ext cx="5349240" cy="521207"/>
          </a:xfrm>
          <a:prstGeom prst="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95528" y="3557016"/>
            <a:ext cx="5221224" cy="4297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080" b="0">
                <a:solidFill>
                  <a:srgbClr val="283441"/>
                </a:solidFill>
                <a:latin typeface="Aptos"/>
              </a:defRPr>
            </a:pPr>
            <a:r>
              <a:t>Ignoring contradictions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80759" y="3502152"/>
            <a:ext cx="5349240" cy="521207"/>
          </a:xfrm>
          <a:prstGeom prst="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144768" y="3557016"/>
            <a:ext cx="5221224" cy="4297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080" b="0">
                <a:solidFill>
                  <a:srgbClr val="283441"/>
                </a:solidFill>
                <a:latin typeface="Aptos"/>
              </a:defRPr>
            </a:pPr>
            <a:r>
              <a:t>Explicitly search for conflicts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4023359"/>
            <a:ext cx="5349240" cy="521207"/>
          </a:xfrm>
          <a:prstGeom prst="rect">
            <a:avLst/>
          </a:prstGeom>
          <a:solidFill>
            <a:srgbClr val="FFFFFF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95528" y="4078223"/>
            <a:ext cx="5221224" cy="4297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080" b="0">
                <a:solidFill>
                  <a:srgbClr val="283441"/>
                </a:solidFill>
                <a:latin typeface="Aptos"/>
              </a:defRPr>
            </a:pPr>
            <a:r>
              <a:t>Filling missing information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80759" y="4023359"/>
            <a:ext cx="5349240" cy="521207"/>
          </a:xfrm>
          <a:prstGeom prst="rect">
            <a:avLst/>
          </a:prstGeom>
          <a:solidFill>
            <a:srgbClr val="FFFFFF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144768" y="4078223"/>
            <a:ext cx="5221224" cy="4297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080" b="0">
                <a:solidFill>
                  <a:srgbClr val="283441"/>
                </a:solidFill>
                <a:latin typeface="Aptos"/>
              </a:defRPr>
            </a:pPr>
            <a:r>
              <a:t>Ask AI to flag gaps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" y="4544568"/>
            <a:ext cx="5349240" cy="521207"/>
          </a:xfrm>
          <a:prstGeom prst="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95528" y="4599431"/>
            <a:ext cx="5221224" cy="4297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080" b="0">
                <a:solidFill>
                  <a:srgbClr val="283441"/>
                </a:solidFill>
                <a:latin typeface="Aptos"/>
              </a:defRPr>
            </a:pPr>
            <a:r>
              <a:t>Writing immediately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80759" y="4544568"/>
            <a:ext cx="5349240" cy="521207"/>
          </a:xfrm>
          <a:prstGeom prst="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144768" y="4599431"/>
            <a:ext cx="5221224" cy="4297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080" b="0">
                <a:solidFill>
                  <a:srgbClr val="283441"/>
                </a:solidFill>
                <a:latin typeface="Aptos"/>
              </a:defRPr>
            </a:pPr>
            <a:r>
              <a:t>Analyze first, communicate second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31520" y="5065776"/>
            <a:ext cx="5349240" cy="521207"/>
          </a:xfrm>
          <a:prstGeom prst="rect">
            <a:avLst/>
          </a:prstGeom>
          <a:solidFill>
            <a:srgbClr val="FFFFFF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95528" y="5120640"/>
            <a:ext cx="5221224" cy="4297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080" b="0">
                <a:solidFill>
                  <a:srgbClr val="283441"/>
                </a:solidFill>
                <a:latin typeface="Aptos"/>
              </a:defRPr>
            </a:pPr>
            <a:r>
              <a:t>Accepting first output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80759" y="5065776"/>
            <a:ext cx="5349240" cy="521207"/>
          </a:xfrm>
          <a:prstGeom prst="rect">
            <a:avLst/>
          </a:prstGeom>
          <a:solidFill>
            <a:srgbClr val="FFFFFF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144768" y="5120640"/>
            <a:ext cx="5221224" cy="4297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080" b="0">
                <a:solidFill>
                  <a:srgbClr val="283441"/>
                </a:solidFill>
                <a:latin typeface="Aptos"/>
              </a:defRPr>
            </a:pPr>
            <a:r>
              <a:t>Red-team the result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31520" y="5586983"/>
            <a:ext cx="5349240" cy="521207"/>
          </a:xfrm>
          <a:prstGeom prst="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95528" y="5641847"/>
            <a:ext cx="5221224" cy="4297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080" b="0">
                <a:solidFill>
                  <a:srgbClr val="283441"/>
                </a:solidFill>
                <a:latin typeface="Aptos"/>
              </a:defRPr>
            </a:pPr>
            <a:r>
              <a:t>Same briefing for everyone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80759" y="5586983"/>
            <a:ext cx="5349240" cy="521207"/>
          </a:xfrm>
          <a:prstGeom prst="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144768" y="5641847"/>
            <a:ext cx="5221224" cy="4297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080" b="0">
                <a:solidFill>
                  <a:srgbClr val="283441"/>
                </a:solidFill>
                <a:latin typeface="Aptos"/>
              </a:defRPr>
            </a:pPr>
            <a:r>
              <a:t>Adapt to audience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31520" y="6108192"/>
            <a:ext cx="5349240" cy="521207"/>
          </a:xfrm>
          <a:prstGeom prst="rect">
            <a:avLst/>
          </a:prstGeom>
          <a:solidFill>
            <a:srgbClr val="FFFFFF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795528" y="6163055"/>
            <a:ext cx="5221224" cy="4297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080" b="0">
                <a:solidFill>
                  <a:srgbClr val="283441"/>
                </a:solidFill>
                <a:latin typeface="Aptos"/>
              </a:defRPr>
            </a:pPr>
            <a:r>
              <a:t>Confident language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080759" y="6108192"/>
            <a:ext cx="5349240" cy="521207"/>
          </a:xfrm>
          <a:prstGeom prst="rect">
            <a:avLst/>
          </a:prstGeom>
          <a:solidFill>
            <a:srgbClr val="FFFFFF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144768" y="6163055"/>
            <a:ext cx="5221224" cy="4297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080" b="0">
                <a:solidFill>
                  <a:srgbClr val="283441"/>
                </a:solidFill>
                <a:latin typeface="Aptos"/>
              </a:defRPr>
            </a:pPr>
            <a:r>
              <a:t>Evidence-calibrated language</a:t>
            </a:r>
          </a:p>
        </p:txBody>
      </p:sp>
      <p:sp>
        <p:nvSpPr>
          <p:cNvPr id="46" name="Slide Number Placeholder 45">
            <a:extLst>
              <a:ext uri="{FF2B5EF4-FFF2-40B4-BE49-F238E27FC236}">
                <a16:creationId xmlns:a16="http://schemas.microsoft.com/office/drawing/2014/main" id="{C4EBA503-C0F9-2068-FD79-EDD960E99F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0233E"/>
                </a:solidFill>
                <a:latin typeface="Aptos Display"/>
              </a:defRPr>
            </a:pPr>
            <a:r>
              <a:t>Enterprise Research = Evidence + Judgment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307592"/>
            <a:ext cx="10698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C6976"/>
                </a:solidFill>
                <a:latin typeface="Aptos"/>
              </a:defRPr>
            </a:pPr>
            <a:r>
              <a:t>The operating model to carry into the rest of the program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510528"/>
            <a:ext cx="10972800" cy="16459"/>
          </a:xfrm>
          <a:prstGeom prst="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21792" y="6547104"/>
            <a:ext cx="36576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82919E"/>
                </a:solidFill>
                <a:latin typeface="Aptos"/>
              </a:defRPr>
            </a:pPr>
            <a:r>
              <a:t>WINTRUST  |  GenAI &amp; Technology Fluency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28800"/>
            <a:ext cx="1965960" cy="1874519"/>
          </a:xfrm>
          <a:prstGeom prst="round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85800" y="1828800"/>
            <a:ext cx="73152" cy="1874519"/>
          </a:xfrm>
          <a:prstGeom prst="rect">
            <a:avLst/>
          </a:prstGeom>
          <a:solidFill>
            <a:srgbClr val="0084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1993392"/>
            <a:ext cx="1554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0233E"/>
                </a:solidFill>
                <a:latin typeface="Aptos"/>
              </a:defRPr>
            </a:pPr>
            <a:r>
              <a:t>ASK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450592"/>
            <a:ext cx="1554480" cy="1142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83441"/>
                </a:solidFill>
                <a:latin typeface="Aptos"/>
              </a:defRPr>
            </a:pPr>
            <a:r>
              <a:t>Define the question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88920" y="1828800"/>
            <a:ext cx="1965960" cy="1874519"/>
          </a:xfrm>
          <a:prstGeom prst="round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788920" y="1828800"/>
            <a:ext cx="73152" cy="1874519"/>
          </a:xfrm>
          <a:prstGeom prst="rect">
            <a:avLst/>
          </a:prstGeom>
          <a:solidFill>
            <a:srgbClr val="2F63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017520" y="1993392"/>
            <a:ext cx="1554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0233E"/>
                </a:solidFill>
                <a:latin typeface="Aptos"/>
              </a:defRPr>
            </a:pPr>
            <a:r>
              <a:t>GROUND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2450592"/>
            <a:ext cx="1554480" cy="1142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83441"/>
                </a:solidFill>
                <a:latin typeface="Aptos"/>
              </a:defRPr>
            </a:pPr>
            <a:r>
              <a:t>Control the evidence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92040" y="1828800"/>
            <a:ext cx="1965960" cy="1874519"/>
          </a:xfrm>
          <a:prstGeom prst="round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892040" y="1828800"/>
            <a:ext cx="73152" cy="1874519"/>
          </a:xfrm>
          <a:prstGeom prst="rect">
            <a:avLst/>
          </a:prstGeom>
          <a:solidFill>
            <a:srgbClr val="2F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120640" y="1993392"/>
            <a:ext cx="1554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0233E"/>
                </a:solidFill>
                <a:latin typeface="Aptos"/>
              </a:defRPr>
            </a:pPr>
            <a:r>
              <a:t>SYNTHESIZE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0" y="2450592"/>
            <a:ext cx="1554480" cy="1142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83441"/>
                </a:solidFill>
                <a:latin typeface="Aptos"/>
              </a:defRPr>
            </a:pPr>
            <a:r>
              <a:t>Connect the signals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95160" y="1828800"/>
            <a:ext cx="1965960" cy="1874519"/>
          </a:xfrm>
          <a:prstGeom prst="round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995160" y="1828800"/>
            <a:ext cx="73152" cy="1874519"/>
          </a:xfrm>
          <a:prstGeom prst="rect">
            <a:avLst/>
          </a:prstGeom>
          <a:solidFill>
            <a:srgbClr val="DA8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223760" y="1993392"/>
            <a:ext cx="1554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0233E"/>
                </a:solidFill>
                <a:latin typeface="Aptos"/>
              </a:defRPr>
            </a:pPr>
            <a:r>
              <a:t>CHALLENGE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0" y="2450592"/>
            <a:ext cx="1554480" cy="1142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83441"/>
                </a:solidFill>
                <a:latin typeface="Aptos"/>
              </a:defRPr>
            </a:pPr>
            <a:r>
              <a:t>Find gaps and contradictions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98280" y="1828800"/>
            <a:ext cx="1965960" cy="1874519"/>
          </a:xfrm>
          <a:prstGeom prst="roundRect">
            <a:avLst/>
          </a:prstGeom>
          <a:solidFill>
            <a:srgbClr val="F2F6F9"/>
          </a:solidFill>
          <a:ln>
            <a:solidFill>
              <a:srgbClr val="E0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9098280" y="1828800"/>
            <a:ext cx="73152" cy="1874519"/>
          </a:xfrm>
          <a:prstGeom prst="rect">
            <a:avLst/>
          </a:prstGeom>
          <a:solidFill>
            <a:srgbClr val="B8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326880" y="1993392"/>
            <a:ext cx="1554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0233E"/>
                </a:solidFill>
                <a:latin typeface="Aptos"/>
              </a:defRPr>
            </a:pPr>
            <a:r>
              <a:t>COMMUNICATE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0" y="2450592"/>
            <a:ext cx="1554480" cy="1142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83441"/>
                </a:solidFill>
                <a:latin typeface="Aptos"/>
              </a:defRPr>
            </a:pPr>
            <a:r>
              <a:t>Adapt to the audience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4251960"/>
            <a:ext cx="102412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700" b="1">
                <a:solidFill>
                  <a:srgbClr val="10233E"/>
                </a:solidFill>
                <a:latin typeface="Aptos Display"/>
              </a:defRPr>
            </a:pPr>
            <a:r>
              <a:t>VALIDATE  →  Human judgment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349240"/>
            <a:ext cx="10241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008489"/>
                </a:solidFill>
                <a:latin typeface="Aptos"/>
              </a:defRPr>
            </a:pPr>
            <a:r>
              <a:t>The goal is not an AI-generated answer. The goal is a better-informed human decision.</a:t>
            </a:r>
          </a:p>
        </p:txBody>
      </p:sp>
      <p:sp>
        <p:nvSpPr>
          <p:cNvPr id="29" name="Slide Number Placeholder 28">
            <a:extLst>
              <a:ext uri="{FF2B5EF4-FFF2-40B4-BE49-F238E27FC236}">
                <a16:creationId xmlns:a16="http://schemas.microsoft.com/office/drawing/2014/main" id="{08C45C5C-86A2-F452-3CAB-29350CA8C1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AB2743-E7EB-4EDA-99DD-3E50EDFDA0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274638"/>
            <a:ext cx="11282855" cy="1143000"/>
          </a:xfrm>
        </p:spPr>
        <p:txBody>
          <a:bodyPr/>
          <a:lstStyle/>
          <a:p>
            <a:r>
              <a:rPr lang="en-US" dirty="0"/>
              <a:t>Thank you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1D88BF-4C64-684A-E31B-A38E0D0E74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600200"/>
            <a:ext cx="11282855" cy="4525963"/>
          </a:xfrm>
        </p:spPr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4F566B-04ED-66BE-E4F7-9D5692A3B3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48328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1499</TotalTime>
  <Words>2434</Words>
  <Application>Microsoft Office PowerPoint</Application>
  <PresentationFormat>Widescreen</PresentationFormat>
  <Paragraphs>383</Paragraphs>
  <Slides>30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6" baseType="lpstr">
      <vt:lpstr>Aptos</vt:lpstr>
      <vt:lpstr>Aptos Display</vt:lpstr>
      <vt:lpstr>Arial</vt:lpstr>
      <vt:lpstr>Calibri</vt:lpstr>
      <vt:lpstr>Cascadia Mono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Thank you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Ajay Singala</dc:creator>
  <cp:keywords/>
  <dc:description>generated using python-pptx</dc:description>
  <cp:lastModifiedBy>Ajay Singala</cp:lastModifiedBy>
  <cp:revision>39</cp:revision>
  <dcterms:created xsi:type="dcterms:W3CDTF">2013-01-27T09:14:16Z</dcterms:created>
  <dcterms:modified xsi:type="dcterms:W3CDTF">2026-10-19T15:52:45Z</dcterms:modified>
  <cp:category/>
</cp:coreProperties>
</file>