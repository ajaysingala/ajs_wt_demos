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92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5" r:id="rId29"/>
    <p:sldId id="286" r:id="rId30"/>
    <p:sldId id="287" r:id="rId31"/>
    <p:sldId id="288" r:id="rId32"/>
    <p:sldId id="289" r:id="rId33"/>
    <p:sldId id="290" r:id="rId34"/>
    <p:sldId id="293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4F40CB-9CDD-4325-9DE3-2D1C9EC4E05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A80C9-75F1-4078-B938-458697C23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2859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97A45-2B59-442F-A818-706707926F1C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CB02A-B856-4D3B-8C38-53241E4BDC53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4C3EE-808B-4468-B1E5-1957D0A90747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C1C7B-9E99-4A36-8A32-CE26BA49BB04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28E1B-EE52-43B4-9B54-BA7717653EB3}" type="datetime1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EB024-3E94-4416-9E56-4E2B96469F68}" type="datetime1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16463-7EA8-41FF-A656-6923135FC2F4}" type="datetime1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601200" y="6356350"/>
            <a:ext cx="21336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786EC-311D-4616-8FB0-44946D364BED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B4C5-F703-4CB0-9308-F96FB58B8DAB}" type="datetime1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0219F-9279-4D1C-ABE4-2590F2623891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CCD81-A2CA-493E-A1EB-1C18A2FBE530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C1D3C-44AC-469C-9B58-72C1ED8FF205}" type="datetime1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6070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200" b="1" i="0">
                <a:solidFill>
                  <a:srgbClr val="47B7B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4241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Aptos"/>
              </a:defRPr>
            </a:pPr>
            <a:r>
              <a:t>MC-II: UNDER THE HOOD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926080"/>
            <a:ext cx="9966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300" b="0" i="0">
                <a:solidFill>
                  <a:srgbClr val="DBE7F1"/>
                </a:solidFill>
                <a:latin typeface="Aptos"/>
              </a:defRPr>
            </a:pPr>
            <a:r>
              <a:t>How LLMs work, why they fail, and how to troubleshoot them with confidence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507492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700" b="1" i="0">
                <a:solidFill>
                  <a:srgbClr val="47B7BE"/>
                </a:solidFill>
                <a:latin typeface="Aptos"/>
              </a:defRPr>
            </a:pPr>
            <a:r>
              <a:t>Common Masterclass | Data + Enterprise 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577840"/>
            <a:ext cx="9601200" cy="20005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300" b="0" i="0">
                <a:solidFill>
                  <a:srgbClr val="DBE7F1"/>
                </a:solidFill>
                <a:latin typeface="Aptos"/>
              </a:defRPr>
            </a:pPr>
            <a:r>
              <a:rPr dirty="0"/>
              <a:t>• Microsoft Copilot Chat • GitHub Copilot (optional)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852EF2-C72D-C312-EB0E-0D19488AD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Why this masterclass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AI can produce fluent answers that are incorrect.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21992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Better prompts cannot compensate for missing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26664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More context is not always better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31336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67912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Some tasks require retrieval, computation or testing, not more prompting.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36008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72584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High-impact actions still require appropriate controls and human judgment.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1464548-8C0F-969D-E93E-F072595EC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Explain tokens, context windows, attention and next-token prediction.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21992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Distinguish model knowledge from supplied evidence and retrieved information.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26664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Diagnose common response failures and choose a suitable correction.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31336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67912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Apply grounding and verification to Data and Enterprise Ops tasks.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36008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72584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Recognize when deterministic tools or human approval are necessary.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73E15BC-D3E3-1820-CBFA-2ADA5FE59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52F2F-7754-DDFE-8206-FCA1152C6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FEFBD4D-5ACB-2D4A-4AB3-A3BE293AB03B}"/>
              </a:ext>
            </a:extLst>
          </p:cNvPr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27DAD-F502-42EC-C3B3-E5108A2303C1}"/>
              </a:ext>
            </a:extLst>
          </p:cNvPr>
          <p:cNvSpPr txBox="1"/>
          <p:nvPr/>
        </p:nvSpPr>
        <p:spPr>
          <a:xfrm>
            <a:off x="502920" y="493776"/>
            <a:ext cx="1115568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rPr lang="en-US" dirty="0"/>
              <a:t>How an LLM Works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3391221-1EC9-7AED-F1C6-B0FFDDFA51F9}"/>
              </a:ext>
            </a:extLst>
          </p:cNvPr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2A90E-CDB6-D8BC-F607-78BE551E45FC}"/>
              </a:ext>
            </a:extLst>
          </p:cNvPr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57AE712-8557-3411-BD4B-F9624EE07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493" y="1217237"/>
            <a:ext cx="9486533" cy="5339011"/>
          </a:xfrm>
          <a:prstGeom prst="rect">
            <a:avLst/>
          </a:prstGeom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FFF419A-A73E-FDDD-8C81-5A85CEA0F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585DA9-2F85-9E78-124D-67AB454D2CE0}"/>
              </a:ext>
            </a:extLst>
          </p:cNvPr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rPr dirty="0"/>
              <a:t>HOW MODELS WORK</a:t>
            </a:r>
          </a:p>
        </p:txBody>
      </p:sp>
    </p:spTree>
    <p:extLst>
      <p:ext uri="{BB962C8B-B14F-4D97-AF65-F5344CB8AC3E}">
        <p14:creationId xmlns:p14="http://schemas.microsoft.com/office/powerpoint/2010/main" val="36344514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HOW MODELS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An LLM predicts the next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70561" y="1261872"/>
            <a:ext cx="2073859" cy="877824"/>
          </a:xfrm>
          <a:prstGeom prst="roundRect">
            <a:avLst/>
          </a:prstGeom>
          <a:solidFill>
            <a:srgbClr val="EBF5F6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04088" y="1472184"/>
            <a:ext cx="1945843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Prompt +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883664"/>
            <a:ext cx="1945843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Instructions and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3939" y="1627632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2436" y="1261872"/>
            <a:ext cx="2073859" cy="877824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05963" y="1472184"/>
            <a:ext cx="1945843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Tokenization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5963" y="1883664"/>
            <a:ext cx="1945843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Text becomes tokens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5814" y="1627632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311" y="1261872"/>
            <a:ext cx="2073859" cy="877824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107838" y="1472184"/>
            <a:ext cx="1945843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Transformer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07838" y="1883664"/>
            <a:ext cx="1945843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Contextual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17689" y="1627632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6186" y="1261872"/>
            <a:ext cx="2073859" cy="877824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09713" y="1472184"/>
            <a:ext cx="1945843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Next-token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09713" y="1883664"/>
            <a:ext cx="1945843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Probability distribution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19564" y="1627632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47580" y="1261872"/>
            <a:ext cx="2073859" cy="877824"/>
          </a:xfrm>
          <a:prstGeom prst="roundRect">
            <a:avLst/>
          </a:prstGeom>
          <a:solidFill>
            <a:srgbClr val="EBF5F6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11588" y="1472184"/>
            <a:ext cx="1945843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Repeated generation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1588" y="1883664"/>
            <a:ext cx="1945843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Token by 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2221992"/>
            <a:ext cx="105156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162B4B"/>
                </a:solidFill>
                <a:latin typeface="Aptos"/>
              </a:defRPr>
            </a:pPr>
            <a:r>
              <a:rPr dirty="0"/>
              <a:t>A generated response is not automatically a verified answer.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C25266E-ECDC-E034-BFA2-BBDB3385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467048E-92CB-F97C-3851-8D97C84770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802" y="2567436"/>
            <a:ext cx="7381036" cy="41540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rPr dirty="0"/>
              <a:t>HOW MODELS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What is a token?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5440680" cy="4846320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Tokens are model input units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May be a whole word, part of a word, punctuation or another text unit.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One word does not necessarily equal one token.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94176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Longer prompts and documents generally consume more context.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43984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Tokenization varies by model and tokenizer.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44752"/>
            <a:ext cx="5394960" cy="48463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664208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Practical implication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94560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Do not estimate token counts by counting words.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944368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Large inputs may compete for limited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94176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Keep the task and relevant evidence focused.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443984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Use product-specific limits rather than assuming one universal size.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4CA1FF4C-DA04-8F51-8920-5FE92CEAA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HOW MODELS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What is a transformer?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6072" y="1271016"/>
            <a:ext cx="2624328" cy="873252"/>
          </a:xfrm>
          <a:prstGeom prst="roundRect">
            <a:avLst/>
          </a:prstGeom>
          <a:solidFill>
            <a:srgbClr val="EBF5F6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24963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Input 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92808"/>
            <a:ext cx="2496312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Token representations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36776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8416" y="1271016"/>
            <a:ext cx="2624328" cy="873252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92424" y="1481328"/>
            <a:ext cx="24963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Attention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1892808"/>
            <a:ext cx="2496312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Relate 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52744" y="1636776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271016"/>
            <a:ext cx="2624328" cy="873252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44768" y="1481328"/>
            <a:ext cx="24963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Transformer layers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1892808"/>
            <a:ext cx="2496312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Repeated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1636776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33104" y="1271016"/>
            <a:ext cx="2624328" cy="873252"/>
          </a:xfrm>
          <a:prstGeom prst="roundRect">
            <a:avLst/>
          </a:prstGeom>
          <a:solidFill>
            <a:srgbClr val="F6F8FB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97112" y="1481328"/>
            <a:ext cx="24963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Output scores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1892808"/>
            <a:ext cx="2496312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Next-token options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2276856"/>
            <a:ext cx="105156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162B4B"/>
                </a:solidFill>
                <a:latin typeface="Aptos"/>
              </a:defRPr>
            </a:pPr>
            <a:r>
              <a:rPr dirty="0"/>
              <a:t>Attention helps model contextual relationships; it does not guarantee factual reasoning.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B4E4BE7-B2DC-59D6-B784-A13B91471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A2D2F61-3B65-BEC9-C116-6BF9D8C24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199" y="2595626"/>
            <a:ext cx="6803137" cy="38287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HOW MODELS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Training versus inference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5440680" cy="4846320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Model parameters are learned from training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Large-scale optimization shapes learned patterns.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94176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Occurs during model development or subsequent training.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444752"/>
            <a:ext cx="5394960" cy="48463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664208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Inference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194560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The trained model processes a new request.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944368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Prompt, context and configuration influence the response.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694176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A prompt normally changes the task, not the model's trained parameters.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40FA1E20-BE35-8AF3-0860-C325ECD50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rPr dirty="0"/>
              <a:t>HOW MODELS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Why fluent answers can be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Hallucinated details or references.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21992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Incorrect calculations or faulty inference.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26664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Misinterpreted or conflicting instructions.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31336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67912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Outdated knowledge or missing context.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36008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72584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A confident tone is not evidence of correctness.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BBED4498-9348-F873-E902-8568BCEBF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CONTEXT AND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Understanding the context window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May include instructions, prompt, conversation history, supplied or retrieved material, and generated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21992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Long conversations and documents consume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26664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Products may summarize, truncate or otherwise manage context.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31336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67912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A context limit does not guarantee perfect recall.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E608337-0FAB-9C7F-D97C-1A8C14ACD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CONTEXT AND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More context is not always better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1" y="1444752"/>
            <a:ext cx="4140450" cy="1895183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Noisy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83480" cy="1421928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rPr dirty="0"/>
              <a:t>• Unrelated or duplicated documents.</a:t>
            </a:r>
            <a:endParaRPr lang="en-US" dirty="0"/>
          </a:p>
          <a:p>
            <a:pPr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rPr lang="en-IN" dirty="0"/>
              <a:t>• Conflicting instructions.</a:t>
            </a:r>
          </a:p>
          <a:p>
            <a:pPr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rPr lang="en-IN" dirty="0"/>
              <a:t>• Unclear source authority.</a:t>
            </a:r>
          </a:p>
          <a:p>
            <a:pPr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rPr lang="en-US" dirty="0"/>
              <a:t>• Important facts buried in irrelevant material.</a:t>
            </a:r>
          </a:p>
          <a:p>
            <a:pPr>
              <a:defRPr sz="1500" b="0" i="0">
                <a:solidFill>
                  <a:srgbClr val="232C37"/>
                </a:solidFill>
                <a:latin typeface="Aptos"/>
              </a:defRPr>
            </a:pPr>
            <a:endParaRPr lang="en-IN" dirty="0"/>
          </a:p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594360" y="3706722"/>
            <a:ext cx="4105656" cy="1895183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3926178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Relevant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56530"/>
            <a:ext cx="4937760" cy="119109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rPr dirty="0"/>
              <a:t>• Specific task and expected output.</a:t>
            </a:r>
            <a:endParaRPr lang="en-US" dirty="0"/>
          </a:p>
          <a:p>
            <a:pPr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rPr lang="en-IN" dirty="0"/>
              <a:t>• Relevant, trustworthy sources.</a:t>
            </a:r>
          </a:p>
          <a:p>
            <a:pPr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rPr lang="en-IN" dirty="0"/>
              <a:t>• Clear constraints and definitions.</a:t>
            </a:r>
          </a:p>
          <a:p>
            <a:pPr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rPr lang="en-US" dirty="0"/>
              <a:t>• Explicit handling of missing evidence.</a:t>
            </a:r>
          </a:p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9CB51AC-F0D5-8A54-838D-ACEA4496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923937B-FA51-6805-60CF-222719DC40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73" y="1799118"/>
            <a:ext cx="6458326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CONTEXT AND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Attention and long-context limitations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Attention helps relate information across the available token sequence.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21992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Relevant information may be harder to use when buried in long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26664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Contradictions can create ambiguity.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31336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67912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Long context does not guarantee complete recall.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36008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72584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Put critical constraints up front and verify important claims.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15D893F-15D9-8DAF-A2F5-B0DA1F92F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Checkpoint: diagnose 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Copilot summarizes an 80-page policy but omits an important exception.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21992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Was the exception present in the supplied material?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26664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Could Copilot access the document, and was the relevant section available?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31336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67912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Did the prompt explicitly request exceptions and limitations?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36008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72584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Compare the response against the source before assuming the prompt alone caused the failure.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93F76D2-56F9-EAAA-13C4-E9868BDEF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HOW MODELS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Five common failure patterns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Hallucination: plausible content unsupported by adequate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21992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Ambiguity: the request permits multiple interpretations.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26664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Missing context: necessary facts were not supplied or retrieved.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31336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67912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Instruction conflict: requirements contradict one another.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36008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72584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Reasoning or calculation error: faulty inference or computation.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552BB39D-4FE4-3E29-B782-0B39AAEA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Match the failure to the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5440680" cy="4846320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Failure → first corrective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Ambiguous request → clarify task and constraints.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Missing evidence → supply or retrieve relevant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94176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Unsupported claims → require evidence and explicit uncertainty.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43984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Incorrect calculation → use deterministic computation and verify.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44752"/>
            <a:ext cx="5394960" cy="48463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664208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Other failure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94560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Code defects → inspect implementation and test safely.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944368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Unsafe recommendation → assess risk and apply controls.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94176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High-impact action → require appropriate authorization and approval.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443984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Do not use prompt rewriting as the universal solution.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B4E9142-A276-D871-B36C-C1A06D15D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rPr dirty="0"/>
              <a:t>Demo 1</a:t>
            </a:r>
            <a:r>
              <a:rPr lang="en-US" dirty="0"/>
              <a:t>A</a:t>
            </a:r>
            <a:r>
              <a:rPr dirty="0"/>
              <a:t>: Same question, different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10927080" cy="4736592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08791"/>
                </a:solidFill>
                <a:latin typeface="Aptos"/>
              </a:defRPr>
            </a:pPr>
            <a:r>
              <a:rPr dirty="0"/>
              <a:t>Prompt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10424160" cy="3840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What caused the incident, and what should we do next?</a:t>
            </a:r>
            <a:br/>
            <a:br/>
            <a:r>
              <a:t>Separate confirmed facts from assumptions. If the evidence is insufficient to determine the cause, say so.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9FF0B3F-AC52-5D84-72EE-9F0671905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rPr dirty="0"/>
              <a:t>Demo 1</a:t>
            </a:r>
            <a:r>
              <a:rPr lang="en-US" dirty="0"/>
              <a:t>B</a:t>
            </a:r>
            <a:r>
              <a:rPr dirty="0"/>
              <a:t>: Supply incident evidence</a:t>
            </a:r>
            <a:r>
              <a:rPr lang="en-US" dirty="0"/>
              <a:t> and Better Prompt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10927080" cy="4736592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08791"/>
                </a:solidFill>
                <a:latin typeface="Aptos"/>
              </a:defRPr>
            </a:pPr>
            <a:r>
              <a:t>Incident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10424160" cy="3840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 Mono"/>
              </a:defRPr>
            </a:pPr>
            <a:r>
              <a:t>Incident INC-2048</a:t>
            </a:r>
            <a:br/>
            <a:r>
              <a:t>10:02 Monitoring detected a sharp increase in API response time.</a:t>
            </a:r>
            <a:br/>
            <a:r>
              <a:t>10:04 API error rate increased from 0.5% to 8%.</a:t>
            </a:r>
            <a:br/>
            <a:r>
              <a:t>10:06 Database CPU reached 94%.</a:t>
            </a:r>
            <a:br/>
            <a:r>
              <a:t>10:08 A scheduled reporting job began.</a:t>
            </a:r>
            <a:br/>
            <a:r>
              <a:t>10:12 API latency remained elevated.</a:t>
            </a:r>
            <a:br/>
            <a:r>
              <a:t>No database execution plan, query log or dependency trace is available.</a:t>
            </a:r>
            <a:br/>
            <a:br/>
            <a:r>
              <a:t>Using only this record, identify confirmed facts, plausible hypotheses, missing evidence, and safe non-destructive diagnostics. Do not claim the reporting job caused the incident.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40AE391-2B57-46A9-2CF9-2250B04F9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rPr dirty="0"/>
              <a:t>Demo 2</a:t>
            </a:r>
            <a:r>
              <a:rPr lang="en-US" dirty="0"/>
              <a:t>A</a:t>
            </a:r>
            <a:r>
              <a:rPr dirty="0"/>
              <a:t>: Improve the task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10927080" cy="4736592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08791"/>
                </a:solidFill>
                <a:latin typeface="Aptos"/>
              </a:defRPr>
            </a:pPr>
            <a:r>
              <a:t>Initial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10424160" cy="3840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Analyze these operational tickets and tell me what matters.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5915F65-F9B8-EEC2-38FA-40FDD9C0A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rPr dirty="0"/>
              <a:t>Demo 2</a:t>
            </a:r>
            <a:r>
              <a:rPr lang="en-US" dirty="0"/>
              <a:t>B</a:t>
            </a:r>
            <a:r>
              <a:rPr dirty="0"/>
              <a:t>: Improved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10927080" cy="4736592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08791"/>
                </a:solidFill>
                <a:latin typeface="Aptos"/>
              </a:defRPr>
            </a:pPr>
            <a:r>
              <a:t>Use with ops_tickets_200.csv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10424160" cy="3840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Analyze the supplied operational tickets.</a:t>
            </a:r>
            <a:br/>
            <a:br/>
            <a:r>
              <a:t>Return:</a:t>
            </a:r>
            <a:br/>
            <a:r>
              <a:t>- Three recurring incident patterns, if supported by the data.</a:t>
            </a:r>
            <a:br/>
            <a:r>
              <a:t>- Evidence for each pattern, including ticket references and counts where available.</a:t>
            </a:r>
            <a:br/>
            <a:r>
              <a:t>- Severity or SLA concerns supported by the records.</a:t>
            </a:r>
            <a:br/>
            <a:r>
              <a:t>- Missing information and limitations.</a:t>
            </a:r>
            <a:br/>
            <a:br/>
            <a:r>
              <a:t>Do not invent ticket fields, infer causation from correlation, or claim that you executed queries or independently verified the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EE0D5CC-847A-E758-3FA0-C6649EB8C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Grounding, supplied context and RAG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6928" y="1275588"/>
            <a:ext cx="2624328" cy="854964"/>
          </a:xfrm>
          <a:prstGeom prst="roundRect">
            <a:avLst/>
          </a:prstGeom>
          <a:solidFill>
            <a:srgbClr val="EBF5F6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30936" y="1485900"/>
            <a:ext cx="24963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Model knowledge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1897380"/>
            <a:ext cx="2496312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Learned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91256" y="1641348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9272" y="1275588"/>
            <a:ext cx="2624328" cy="854964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485900"/>
            <a:ext cx="24963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Supplied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897380"/>
            <a:ext cx="2496312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User-provided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1641348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71616" y="1275588"/>
            <a:ext cx="2624328" cy="854964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35624" y="1485900"/>
            <a:ext cx="24963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RAG retrieval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35624" y="1897380"/>
            <a:ext cx="2496312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Search relevant 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95944" y="1641348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1275588"/>
            <a:ext cx="2624328" cy="854964"/>
          </a:xfrm>
          <a:prstGeom prst="roundRect">
            <a:avLst/>
          </a:prstGeom>
          <a:solidFill>
            <a:srgbClr val="F6F8FB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87968" y="1485900"/>
            <a:ext cx="2496312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Context to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1897380"/>
            <a:ext cx="2496312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Selected passages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281428"/>
            <a:ext cx="105156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162B4B"/>
                </a:solidFill>
                <a:latin typeface="Aptos"/>
              </a:defRPr>
            </a:pPr>
            <a:r>
              <a:rPr dirty="0"/>
              <a:t>Grounding improves evidence availability; it does not guarantee correctness.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8024631-201E-D37D-8DAB-2DDEC624E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6209B26-9133-6A12-3E94-EDF9B1649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923" y="2568645"/>
            <a:ext cx="7141369" cy="40191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Demo 3: Ground the answer in a runbook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10927080" cy="4736592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08791"/>
                </a:solidFill>
                <a:latin typeface="Aptos"/>
              </a:defRPr>
            </a:pPr>
            <a:r>
              <a:t>Copilot Chat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10424160" cy="3840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Using the supplied disk-utilization runbook, summarize the documented diagnostic and remediation steps.</a:t>
            </a:r>
            <a:br/>
            <a:br/>
            <a:r>
              <a:t>For each step:</a:t>
            </a:r>
            <a:br/>
            <a:r>
              <a:t>- State what the runbook explicitly says.</a:t>
            </a:r>
            <a:br/>
            <a:r>
              <a:t>- Identify documented prerequisites or approval requirements.</a:t>
            </a:r>
            <a:br/>
            <a:r>
              <a:t>- Flag risks to production availability or data integrity.</a:t>
            </a:r>
            <a:br/>
            <a:r>
              <a:t>- Identify details the runbook does not specify.</a:t>
            </a:r>
            <a:br/>
            <a:br/>
            <a:r>
              <a:t>Do not invent procedures or approval rules. Distinguish documented instructions from recommendations and reference the relevant section or wording where possible.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70448"/>
            <a:ext cx="10424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5E6C7E"/>
                </a:solidFill>
                <a:latin typeface="Aptos"/>
              </a:defRPr>
            </a:pPr>
            <a:r>
              <a:rPr dirty="0"/>
              <a:t>Required: WinTrust_Runbook_Disk_Utilization.docx | Optional: WinTrust_Operations_SLA_Policy.docx; WinTrust_GenAI_Security_Guidelines.docx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EC15418-7F90-083F-9F17-7ED5259E3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Troubleshoot the AI response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223010"/>
            <a:ext cx="1706880" cy="861822"/>
          </a:xfrm>
          <a:prstGeom prst="roundRect">
            <a:avLst/>
          </a:prstGeom>
          <a:solidFill>
            <a:srgbClr val="EBF5F6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1433322"/>
            <a:ext cx="15788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Task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844802"/>
            <a:ext cx="1578864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Is it clear?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01240" y="1588770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9256" y="1223010"/>
            <a:ext cx="1706880" cy="861822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93264" y="1433322"/>
            <a:ext cx="15788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93264" y="1844802"/>
            <a:ext cx="1578864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Is evidence present?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6136" y="1588770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4152" y="1223010"/>
            <a:ext cx="1706880" cy="861822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8160" y="1433322"/>
            <a:ext cx="15788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Grounding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8160" y="1844802"/>
            <a:ext cx="1578864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Can claims be traced?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1588770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1223010"/>
            <a:ext cx="1706880" cy="861822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63056" y="1433322"/>
            <a:ext cx="15788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1844802"/>
            <a:ext cx="1578864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Need computation?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05928" y="1588770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33944" y="1223010"/>
            <a:ext cx="1706880" cy="861822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997952" y="1433322"/>
            <a:ext cx="15788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97952" y="1844802"/>
            <a:ext cx="1578864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Has it been checked?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0824" y="1588770"/>
            <a:ext cx="128016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900" b="1" i="0">
                <a:solidFill>
                  <a:srgbClr val="008791"/>
                </a:solidFill>
                <a:latin typeface="Aptos"/>
              </a:defRPr>
            </a:pPr>
            <a: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68840" y="1223010"/>
            <a:ext cx="1706880" cy="861822"/>
          </a:xfrm>
          <a:prstGeom prst="roundRect">
            <a:avLst/>
          </a:prstGeom>
          <a:solidFill>
            <a:srgbClr val="F6F8FB"/>
          </a:solidFill>
          <a:ln>
            <a:solidFill>
              <a:srgbClr val="0087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32848" y="1433322"/>
            <a:ext cx="1578864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300" b="1" i="0">
                <a:solidFill>
                  <a:srgbClr val="162B4B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32848" y="1844802"/>
            <a:ext cx="1578864" cy="502920"/>
          </a:xfrm>
          <a:prstGeom prst="rect">
            <a:avLst/>
          </a:prstGeom>
          <a:noFill/>
        </p:spPr>
        <p:txBody>
          <a:bodyPr wrap="square" lIns="9144" tIns="9144" rIns="9144" bIns="9144">
            <a:spAutoFit/>
          </a:bodyPr>
          <a:lstStyle/>
          <a:p>
            <a:pPr algn="ctr">
              <a:defRPr sz="1000" b="0" i="0">
                <a:solidFill>
                  <a:srgbClr val="5E6C7E"/>
                </a:solidFill>
                <a:latin typeface="Aptos"/>
              </a:defRPr>
            </a:pPr>
            <a:r>
              <a:t>Approval needed?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2148840"/>
            <a:ext cx="105156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 sz="2000" b="1" i="0">
                <a:solidFill>
                  <a:srgbClr val="162B4B"/>
                </a:solidFill>
                <a:latin typeface="Aptos"/>
              </a:defRPr>
            </a:pPr>
            <a:r>
              <a:rPr dirty="0"/>
              <a:t>Fix the actual failure mechanism, not just the wording.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08E8E066-6C01-9CB8-E489-64587B08A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22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C96CB78-21EC-699F-1869-AD95C4253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0647" y="2450592"/>
            <a:ext cx="7717345" cy="434331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A practical diagnostic decision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5440680" cy="4846320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If you see this...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Wrong interpretation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Missing 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94176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Unsupported claims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43984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Incorrect calculation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93792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Incorrect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Unsafe recommendation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444752"/>
            <a:ext cx="5394960" cy="48463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664208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Try this first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194560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Clarify instructions and output format.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944368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Supply or retrieve relevant evidence.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694176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Require source references and uncertainty labels.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443984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Recalculate with a suitable tool.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5193792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Inspect code and run tests in a safe environment.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5943600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Require risk assessment, authorization and approval.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C19C1DF-8153-ADF0-D9B7-E879E21D2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15">
            <a:extLst>
              <a:ext uri="{FF2B5EF4-FFF2-40B4-BE49-F238E27FC236}">
                <a16:creationId xmlns:a16="http://schemas.microsoft.com/office/drawing/2014/main" id="{2F6DDF7B-E47E-C499-D100-13390FECB1C8}"/>
              </a:ext>
            </a:extLst>
          </p:cNvPr>
          <p:cNvSpPr/>
          <p:nvPr/>
        </p:nvSpPr>
        <p:spPr>
          <a:xfrm>
            <a:off x="658368" y="3982128"/>
            <a:ext cx="10835640" cy="1391761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Why verification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335026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t>Compare claims against source documents.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778508"/>
            <a:ext cx="10835640" cy="335026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815084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t>Recalculate totals independently.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139696"/>
            <a:ext cx="10835640" cy="335026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2176272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t>Test SQL against known cases.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2500884"/>
            <a:ext cx="10835640" cy="335026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37460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t>Use unit tests for generated code.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862072"/>
            <a:ext cx="10835640" cy="335026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898648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rPr dirty="0"/>
              <a:t>Challenge assumptions and boundary conditions.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23260"/>
            <a:ext cx="10835640" cy="335026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259836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t>Record unresolved uncertainties.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A1559C7-6950-1EB6-F814-6A836D0EC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24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E36C0F-50B9-4504-FC87-795428C1294F}"/>
              </a:ext>
            </a:extLst>
          </p:cNvPr>
          <p:cNvSpPr txBox="1"/>
          <p:nvPr/>
        </p:nvSpPr>
        <p:spPr>
          <a:xfrm>
            <a:off x="868680" y="4289421"/>
            <a:ext cx="10607040" cy="748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Data example</a:t>
            </a:r>
            <a:r>
              <a:rPr lang="en-IN" sz="18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 Verify totals by currency independently </a:t>
            </a:r>
            <a:r>
              <a:rPr lang="en-IN" sz="1800" dirty="0" err="1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rathethan</a:t>
            </a:r>
            <a:r>
              <a:rPr lang="en-IN" sz="18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trusting a model's arithmetic.</a:t>
            </a:r>
          </a:p>
          <a:p>
            <a:pPr algn="just"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Ops example</a:t>
            </a:r>
            <a:r>
              <a:rPr lang="en-IN" sz="18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: Confirm an incident recommendation against the runbook and applicable approval requirements.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Lab: Diagnose the model, improve the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726948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t>25 minutes | Copilot Chat | Work in pairs.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17420"/>
            <a:ext cx="10835640" cy="726948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53996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t>Choose the Data or Enterprise Ops scenario.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17520"/>
            <a:ext cx="10835640" cy="726948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54096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t>Submit the original prompt and its weakness.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17620"/>
            <a:ext cx="10835640" cy="726948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54196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t>Submit the improved prompt and response.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17720"/>
            <a:ext cx="10835640" cy="726948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54296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t>Identify two unsupported claims or assumptions and one limitation prompting could not resolve.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417820"/>
            <a:ext cx="10835640" cy="726948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454396"/>
            <a:ext cx="10378440" cy="6812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t>Do not modify source data or execute operational actions.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55B56764-D22B-8C37-E739-FC55AEF3E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rPr dirty="0"/>
              <a:t>Data </a:t>
            </a:r>
            <a:r>
              <a:rPr lang="en-US" dirty="0"/>
              <a:t>Track </a:t>
            </a:r>
            <a:r>
              <a:rPr dirty="0"/>
              <a:t>lab: Investigate transaction quality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10927080" cy="4736592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08791"/>
                </a:solidFill>
                <a:latin typeface="Aptos"/>
              </a:defRPr>
            </a:pPr>
            <a:r>
              <a:t>Sample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10424160" cy="3840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 Mono"/>
              </a:defRPr>
            </a:pPr>
            <a:r>
              <a:rPr dirty="0" err="1"/>
              <a:t>transaction_id,amount,currency</a:t>
            </a:r>
            <a:br>
              <a:rPr dirty="0"/>
            </a:br>
            <a:r>
              <a:rPr dirty="0"/>
              <a:t>T101,1200,INR</a:t>
            </a:r>
            <a:br>
              <a:rPr dirty="0"/>
            </a:br>
            <a:r>
              <a:rPr dirty="0"/>
              <a:t>T102,850,INR</a:t>
            </a:r>
            <a:br>
              <a:rPr dirty="0"/>
            </a:br>
            <a:r>
              <a:rPr dirty="0"/>
              <a:t>T103,,INR</a:t>
            </a:r>
            <a:br>
              <a:rPr dirty="0"/>
            </a:br>
            <a:r>
              <a:rPr dirty="0"/>
              <a:t>T104,-250,INR</a:t>
            </a:r>
            <a:br>
              <a:rPr dirty="0"/>
            </a:br>
            <a:r>
              <a:rPr dirty="0"/>
              <a:t>T105,700,USD</a:t>
            </a:r>
            <a:br>
              <a:rPr dirty="0"/>
            </a:br>
            <a:br>
              <a:rPr dirty="0"/>
            </a:br>
            <a:r>
              <a:rPr dirty="0"/>
              <a:t>Initial prompt: “Analyze this transaction data and tell me whether it is correct.”</a:t>
            </a:r>
            <a:br>
              <a:rPr dirty="0"/>
            </a:br>
            <a:br>
              <a:rPr dirty="0"/>
            </a:br>
            <a:r>
              <a:rPr dirty="0"/>
              <a:t>Task: identify why the request is underspecified, then improve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642BC52-56F8-5D56-7655-4E72E0AAF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Enterprise Ops lab: Investigate an incident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10927080" cy="4736592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08791"/>
                </a:solidFill>
                <a:latin typeface="Aptos"/>
              </a:defRPr>
            </a:pPr>
            <a:r>
              <a:t>Incident record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10424160" cy="38404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 Mono"/>
              </a:defRPr>
            </a:pPr>
            <a:r>
              <a:t>Incident: INC-3091</a:t>
            </a:r>
            <a:br/>
            <a:r>
              <a:t>Service: Customer API</a:t>
            </a:r>
            <a:br/>
            <a:r>
              <a:t>Alert: Disk utilization at 92%</a:t>
            </a:r>
            <a:br/>
            <a:r>
              <a:t>Trend: Increased from 78% over 30 minutes</a:t>
            </a:r>
            <a:br/>
            <a:r>
              <a:t>Customer impact: Intermittent API timeouts reported</a:t>
            </a:r>
            <a:br/>
            <a:r>
              <a:t>Recent change: Unknown</a:t>
            </a:r>
            <a:br/>
            <a:r>
              <a:t>Available evidence: Disk utilization alert only</a:t>
            </a:r>
            <a:br/>
            <a:br/>
            <a:r>
              <a:t>Initial prompt: “Tell me how to fix this incident.”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04ED37E-FBF0-BC70-5358-E8E92825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27</a:t>
            </a:fld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C68FA5-ACD9-8C65-A398-E9D56D6E534F}"/>
              </a:ext>
            </a:extLst>
          </p:cNvPr>
          <p:cNvSpPr/>
          <p:nvPr/>
        </p:nvSpPr>
        <p:spPr>
          <a:xfrm>
            <a:off x="5618988" y="4847245"/>
            <a:ext cx="9144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HANDS-ON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Lab debrief: compare the tracks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5440680" cy="4846320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Data track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Known: values in the supplied CSV.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Uncertain: validity rules and business meaning.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94176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Improve with explicit checks and output requirements.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43984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Verify counts, totals and business rules.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93792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Prompting cannot invent missing business definitions.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44752"/>
            <a:ext cx="5394960" cy="48463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8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Enterprise Ops track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Known: alert and incident observations.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944368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Uncertain: root cause and safe remediation.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694176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Improve with evidence boundaries and diagnostic steps.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443984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Verify runbook alignment and operational risk.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5193792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Prompting cannot replace missing telemetry or authorization.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84A599B-B4D4-4D8D-BD6E-5D5304105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4001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rPr dirty="0"/>
              <a:t>Optional </a:t>
            </a:r>
            <a:r>
              <a:rPr lang="en-US" dirty="0"/>
              <a:t>D</a:t>
            </a:r>
            <a:r>
              <a:rPr dirty="0"/>
              <a:t>emo</a:t>
            </a:r>
            <a:r>
              <a:rPr lang="en-US" dirty="0"/>
              <a:t> 4</a:t>
            </a:r>
            <a:r>
              <a:rPr dirty="0"/>
              <a:t>: Code explanation is not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792" y="1444752"/>
            <a:ext cx="10927080" cy="4736592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27632"/>
            <a:ext cx="104241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400" b="1" i="0">
                <a:solidFill>
                  <a:srgbClr val="008791"/>
                </a:solidFill>
                <a:latin typeface="Aptos"/>
              </a:defRPr>
            </a:pPr>
            <a:r>
              <a:t>GitHub Copilot Chat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1993392"/>
            <a:ext cx="10424160" cy="280692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sz="1500" dirty="0">
                <a:solidFill>
                  <a:srgbClr val="232C37"/>
                </a:solidFill>
                <a:latin typeface="Aptos"/>
              </a:rPr>
              <a:t>Explain how the ticket-triage implementation works.</a:t>
            </a:r>
            <a:br>
              <a:rPr sz="1500" dirty="0">
                <a:solidFill>
                  <a:srgbClr val="232C37"/>
                </a:solidFill>
                <a:latin typeface="Aptos"/>
              </a:rPr>
            </a:br>
            <a:r>
              <a:rPr lang="en-IN" sz="1500" dirty="0">
                <a:solidFill>
                  <a:srgbClr val="232C37"/>
                </a:solidFill>
                <a:latin typeface="Aptos"/>
              </a:rPr>
              <a:t>Refer to these code files:</a:t>
            </a:r>
          </a:p>
          <a:p>
            <a:r>
              <a:rPr lang="en-IN" sz="1500" dirty="0">
                <a:solidFill>
                  <a:srgbClr val="232C37"/>
                </a:solidFill>
                <a:latin typeface="Aptos"/>
              </a:rPr>
              <a:t>- Code/ticket_triage_starter.py</a:t>
            </a:r>
          </a:p>
          <a:p>
            <a:r>
              <a:rPr lang="en-IN" sz="1500" dirty="0">
                <a:solidFill>
                  <a:srgbClr val="232C37"/>
                </a:solidFill>
                <a:latin typeface="Aptos"/>
              </a:rPr>
              <a:t>- Code/test_ticket_triage.py</a:t>
            </a:r>
          </a:p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br>
              <a:rPr dirty="0"/>
            </a:br>
            <a:r>
              <a:rPr dirty="0"/>
              <a:t>Identify:</a:t>
            </a:r>
            <a:br>
              <a:rPr dirty="0"/>
            </a:br>
            <a:r>
              <a:rPr dirty="0"/>
              <a:t>- Business rules implemented in code.</a:t>
            </a:r>
            <a:br>
              <a:rPr dirty="0"/>
            </a:br>
            <a:r>
              <a:rPr dirty="0"/>
              <a:t>- Assumptions or missing edge cases.</a:t>
            </a:r>
            <a:br>
              <a:rPr dirty="0"/>
            </a:br>
            <a:r>
              <a:rPr dirty="0"/>
              <a:t>- </a:t>
            </a:r>
            <a:r>
              <a:rPr dirty="0" err="1"/>
              <a:t>Behaviours</a:t>
            </a:r>
            <a:r>
              <a:rPr dirty="0"/>
              <a:t> that can be verified through unit tests.</a:t>
            </a:r>
            <a:br>
              <a:rPr dirty="0"/>
            </a:br>
            <a:r>
              <a:rPr dirty="0"/>
              <a:t>- Business rules requiring clarification rather than inference.</a:t>
            </a:r>
            <a:br>
              <a:rPr dirty="0"/>
            </a:br>
            <a:br>
              <a:rPr dirty="0"/>
            </a:br>
            <a:r>
              <a:rPr dirty="0"/>
              <a:t>Do not change files or claim tests have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5870448"/>
            <a:ext cx="1042416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0" i="0">
                <a:solidFill>
                  <a:srgbClr val="5E6C7E"/>
                </a:solidFill>
                <a:latin typeface="Aptos"/>
              </a:defRPr>
            </a:pPr>
            <a:r>
              <a:t>Files: Code/ticket_triage_starter.py and Code/test_ticket_triage.py | Optional 5–7 minutes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A740B36-EAA8-47F1-46A5-74393F153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KNOWLEDGE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Knowledge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5440680" cy="4846320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Does an LLM guarantee a correct answer every time?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Does more context always improve the answer?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94176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Does RAG eliminate hallucinations?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43984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What should you do if evidence is missing?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93792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Is prompting alone sufficient for exact calculations or high-impact changes?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444752"/>
            <a:ext cx="5394960" cy="48463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1664208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944368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No. Relevance and quality matter.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694176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4443984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Supply or retrieve evidence and state uncertainty.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5193792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No. Verify with suitable tools and controls.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AA266E7-2A40-C04F-488F-DB10ED890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The troubleshooting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0352" y="1986107"/>
            <a:ext cx="4727448" cy="365125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0664" y="2022683"/>
            <a:ext cx="4527978" cy="31701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rPr dirty="0"/>
              <a:t>Is the task clearly defined?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30352" y="2383871"/>
            <a:ext cx="4727448" cy="365125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420447"/>
            <a:ext cx="4527978" cy="31701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rPr dirty="0"/>
              <a:t>Does the model have relevant context?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530352" y="2790779"/>
            <a:ext cx="4727448" cy="365125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0664" y="2827355"/>
            <a:ext cx="4527978" cy="31701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rPr dirty="0"/>
              <a:t>Are claims supported by evidence?</a:t>
            </a:r>
            <a:endParaRPr lang="en-US" dirty="0"/>
          </a:p>
        </p:txBody>
      </p:sp>
      <p:sp>
        <p:nvSpPr>
          <p:cNvPr id="12" name="Rounded Rectangle 11"/>
          <p:cNvSpPr/>
          <p:nvPr/>
        </p:nvSpPr>
        <p:spPr>
          <a:xfrm>
            <a:off x="530352" y="3188543"/>
            <a:ext cx="4727448" cy="365125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0664" y="3225119"/>
            <a:ext cx="4527978" cy="31701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rPr dirty="0"/>
              <a:t>Does the task need deterministic computation?</a:t>
            </a:r>
            <a:endParaRPr lang="en-US" dirty="0"/>
          </a:p>
        </p:txBody>
      </p:sp>
      <p:sp>
        <p:nvSpPr>
          <p:cNvPr id="14" name="Rounded Rectangle 13"/>
          <p:cNvSpPr/>
          <p:nvPr/>
        </p:nvSpPr>
        <p:spPr>
          <a:xfrm>
            <a:off x="530352" y="3595451"/>
            <a:ext cx="4727448" cy="365125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0664" y="3632027"/>
            <a:ext cx="4527978" cy="31701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rPr dirty="0"/>
              <a:t>Have I verified the output?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530352" y="3993215"/>
            <a:ext cx="4727448" cy="365125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0664" y="4029791"/>
            <a:ext cx="4527978" cy="31701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700" b="0" i="0">
                <a:solidFill>
                  <a:srgbClr val="232C37"/>
                </a:solidFill>
                <a:latin typeface="Aptos"/>
              </a:defRPr>
            </a:pPr>
            <a:r>
              <a:rPr dirty="0"/>
              <a:t>Are required controls and approvals in place?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8866D5E2-4D61-1561-30E6-CF179531B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31</a:t>
            </a:fld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D76451C-A998-7B7A-C16B-3558A458D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7" y="1487442"/>
            <a:ext cx="6371866" cy="358608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417320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53896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LLMs generate responses; they do not guarantee truth.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21992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Context quality matters more than context volume.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3026664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Grounding improves evidence availability, not certainty.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31336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3867912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Prompting is one troubleshooting tool, not the solution to every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36008"/>
            <a:ext cx="10835640" cy="7315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672584"/>
            <a:ext cx="1037844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>
              <a:defRPr sz="1900" b="0" i="0">
                <a:solidFill>
                  <a:srgbClr val="232C37"/>
                </a:solidFill>
                <a:latin typeface="Aptos"/>
              </a:defRPr>
            </a:pPr>
            <a:r>
              <a:t>Verification and appropriate controls remain essential.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0F7592D-860A-1CE9-C501-999434E5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09728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900" b="1" i="0">
                <a:solidFill>
                  <a:srgbClr val="008791"/>
                </a:solidFill>
                <a:latin typeface="Aptos"/>
              </a:defRPr>
            </a:pPr>
            <a:r>
              <a:t>NEXT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155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2600" b="1" i="0">
                <a:solidFill>
                  <a:srgbClr val="162B4B"/>
                </a:solidFill>
                <a:latin typeface="Aptos"/>
              </a:defRPr>
            </a:pPr>
            <a:r>
              <a:t>Bridge to Session 7: Risks, Security and Governance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064240" cy="22860"/>
          </a:xfrm>
          <a:prstGeom prst="rect">
            <a:avLst/>
          </a:prstGeom>
          <a:solidFill>
            <a:srgbClr val="D7E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444752"/>
            <a:ext cx="5440680" cy="4846320"/>
          </a:xfrm>
          <a:prstGeom prst="roundRect">
            <a:avLst/>
          </a:prstGeom>
          <a:solidFill>
            <a:srgbClr val="EBF5F6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8" y="1664208"/>
            <a:ext cx="503834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Models can generate plausible but unsupported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944368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Context may be incomplete, noisy or misleading.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94176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A response can be fluent and still be unsafe.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43984"/>
            <a:ext cx="498348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Generated code and operational advice need verification.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444752"/>
            <a:ext cx="5394960" cy="4846320"/>
          </a:xfrm>
          <a:prstGeom prst="roundRect">
            <a:avLst/>
          </a:prstGeom>
          <a:solidFill>
            <a:srgbClr val="F6F8FB"/>
          </a:solidFill>
          <a:ln>
            <a:solidFill>
              <a:srgbClr val="D7E0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664208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1800" b="1" i="0">
                <a:solidFill>
                  <a:srgbClr val="162B4B"/>
                </a:solidFill>
                <a:latin typeface="Aptos"/>
              </a:defRPr>
            </a:pPr>
            <a:r>
              <a:t>What comes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194560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Sensitive data handling.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944368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Prompt injection and malicious content.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3694176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Input, output and tool-access controls.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4443984"/>
            <a:ext cx="4937760" cy="64008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defRPr sz="1500" b="0" i="0">
                <a:solidFill>
                  <a:srgbClr val="232C37"/>
                </a:solidFill>
                <a:latin typeface="Aptos"/>
              </a:defRPr>
            </a:pPr>
            <a:r>
              <a:t>• Human approval and governance.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56248"/>
            <a:ext cx="1078992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defRPr sz="800" b="0" i="0">
                <a:solidFill>
                  <a:srgbClr val="5E6C7E"/>
                </a:solidFill>
                <a:latin typeface="Aptos"/>
              </a:defRPr>
            </a:pPr>
            <a:r>
              <a:t>WINTRUST | AI CAPABILITY PROGRAM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E595A20-D2E4-63AB-A3ED-AC12C6B5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B2743-E7EB-4EDA-99DD-3E50EDFDA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282855" cy="1143000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D88BF-4C64-684A-E31B-A38E0D0E7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11282855" cy="4525963"/>
          </a:xfr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F566B-04ED-66BE-E4F7-9D5692A3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328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2360</Words>
  <Application>Microsoft Office PowerPoint</Application>
  <PresentationFormat>Widescreen</PresentationFormat>
  <Paragraphs>360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WinTrust Session 6 - MC-II Under the Hood</dc:title>
  <dc:subject>Common masterclass for Data and Enterprise Ops</dc:subject>
  <dc:creator>OpenAI</dc:creator>
  <cp:keywords>WinTrust, LLM, Copilot Chat, Under the Hood</cp:keywords>
  <dc:description>generated using python-pptx</dc:description>
  <cp:lastModifiedBy>Ajay Singala</cp:lastModifiedBy>
  <cp:revision>33</cp:revision>
  <dcterms:created xsi:type="dcterms:W3CDTF">2013-01-27T09:14:16Z</dcterms:created>
  <dcterms:modified xsi:type="dcterms:W3CDTF">2026-10-14T09:28:27Z</dcterms:modified>
  <cp:category/>
</cp:coreProperties>
</file>