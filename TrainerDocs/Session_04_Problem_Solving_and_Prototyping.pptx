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1" r:id="rId3"/>
    <p:sldId id="29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  <p:sldId id="268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93" r:id="rId29"/>
    <p:sldId id="281" r:id="rId30"/>
    <p:sldId id="282" r:id="rId31"/>
    <p:sldId id="288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55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822960"/>
            <a:ext cx="7772400" cy="36576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91DADD"/>
                </a:solidFill>
                <a:latin typeface="Aptos"/>
              </a:defRPr>
            </a:pPr>
            <a:r>
              <a:rPr dirty="0"/>
              <a:t>WINTRUST  |  AI CAPABILITY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Problem Solving</a:t>
            </a:r>
          </a:p>
          <a:p>
            <a:pPr>
              <a:spcAft>
                <a:spcPts val="3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&amp; Prototyping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429000"/>
            <a:ext cx="7040880" cy="7315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E0EBF7"/>
                </a:solidFill>
                <a:latin typeface="Aptos"/>
              </a:defRPr>
            </a:pPr>
            <a:r>
              <a:t>Turn an ambiguous problem into a testable, reviewable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7040880" cy="304699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rPr dirty="0"/>
              <a:t>Copilot Chat + GitHub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35040"/>
            <a:ext cx="8686800" cy="2743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91DADD"/>
                </a:solidFill>
                <a:latin typeface="Aptos"/>
              </a:defRPr>
            </a:pPr>
            <a:r>
              <a:t>Generate  →  Explain  →  Review  →  Test  →  Challenge  →  Approve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194560" cy="914400"/>
          </a:xfrm>
          <a:prstGeom prst="round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418320" y="1920240"/>
            <a:ext cx="2011680" cy="914400"/>
          </a:xfrm>
          <a:prstGeom prst="roundRect">
            <a:avLst/>
          </a:prstGeom>
          <a:solidFill>
            <a:srgbClr val="2D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0" y="3200400"/>
            <a:ext cx="2926080" cy="1188720"/>
          </a:xfrm>
          <a:prstGeom prst="roundRect">
            <a:avLst/>
          </a:prstGeom>
          <a:solidFill>
            <a:srgbClr val="264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235440" y="4754880"/>
            <a:ext cx="2377440" cy="731520"/>
          </a:xfrm>
          <a:prstGeom prst="roundRect">
            <a:avLst/>
          </a:prstGeom>
          <a:solidFill>
            <a:srgbClr val="E0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314406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Last Session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058010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AI useful analytical questions rather than simply request a summary.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Explore a dataset using business dimensions such as region, product, segment, status, and time.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Distinguish descriptive statistics from actionable insights.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outliers, anomalies, potential risks, and opportunities.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Validate AI-generated calculations and question unsupported conclusions.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Recognize data-quality limitations, missing context, and misleading comparisons.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Translate validated analysis into recommendations and follow-up questions.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GitHub Copilot to generate and review repeatable analytical code when appropriate.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7899E309-3BA3-8CDA-4F52-3236863FF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E8B1D-0B99-3B24-DACA-D67A097E3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E21150-EA10-38C2-272D-A47774A766A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BB0B6-C3FD-B645-0324-F54DD46AB9D4}"/>
              </a:ext>
            </a:extLst>
          </p:cNvPr>
          <p:cNvSpPr txBox="1"/>
          <p:nvPr/>
        </p:nvSpPr>
        <p:spPr>
          <a:xfrm>
            <a:off x="594360" y="658368"/>
            <a:ext cx="302794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Today’s Objectives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89695-20C9-3938-4FF0-219B8B8F0D2D}"/>
              </a:ext>
            </a:extLst>
          </p:cNvPr>
          <p:cNvSpPr txBox="1"/>
          <p:nvPr/>
        </p:nvSpPr>
        <p:spPr>
          <a:xfrm>
            <a:off x="621792" y="1307592"/>
            <a:ext cx="10575459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Translate a loosely defined business problem into clear, testable requirements.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Copilot Chat to explore solution approaches and identify constraints.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Convert business rules into an explicit solution design.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GitHub Copilot to generate a small Python prototype.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Generate meaningful tests for normal cases, edge cases, and invalid inputs.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generated code for correctness, maintainability, and unsafe </a:t>
            </a:r>
            <a:r>
              <a:rPr lang="en-IN" dirty="0" err="1">
                <a:latin typeface="Aptos" panose="020B0004020202020204" pitchFamily="34" charset="0"/>
              </a:rPr>
              <a:t>behavior</a:t>
            </a:r>
            <a:r>
              <a:rPr lang="en-IN" dirty="0">
                <a:latin typeface="Aptos" panose="020B0004020202020204" pitchFamily="34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Separate deterministic business rules from AI-generated explanations.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Improve a prototype through an iterative Generate, Explain, Review, Test, Challenge, Approve workflow.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where human review and approval are required before a solution is used.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964212-F779-D205-D0BC-77E4D71C9AF1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09F3C-152D-77BB-A731-35E10C5BA4FC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2133C17B-0DCC-5982-F766-5D6BC6D99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2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Why this session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Many AI-assisted solutions fail because the problem was never made precise.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289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Generated code can look convincing while implementing the wrong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A prototype is useful only when requirements, assumptions and limits are visible.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52059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Today is about a small, testable, reviewable prototype, not a production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The problem-solving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CORE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5690616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Do not let speed skip the steps that make the result safe and useful.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DC91DF-FDB8-8BC8-A1E2-5F3C9383D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320" y="758952"/>
            <a:ext cx="4224680" cy="48627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Vague request vs. testable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72789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Vague</a:t>
            </a:r>
            <a:r>
              <a:rPr dirty="0"/>
              <a:t>: </a:t>
            </a:r>
            <a:endParaRPr lang="en-US" dirty="0"/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“</a:t>
            </a:r>
            <a:r>
              <a:rPr i="1" dirty="0"/>
              <a:t>Build something that prioritizes operational tickets.</a:t>
            </a:r>
            <a:r>
              <a:rPr dirty="0"/>
              <a:t>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027681"/>
            <a:ext cx="10652760" cy="381643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Missing</a:t>
            </a:r>
            <a:r>
              <a:rPr dirty="0"/>
              <a:t>: inputs, rules, boundaries, outputs, exceptions and acceptance criteria.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675593"/>
            <a:ext cx="10652760" cy="134344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Testable</a:t>
            </a:r>
            <a:r>
              <a:rPr dirty="0"/>
              <a:t>: </a:t>
            </a:r>
            <a:endParaRPr lang="en-US" dirty="0"/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lang="en-US" sz="2000" dirty="0">
                <a:solidFill>
                  <a:srgbClr val="2B333D"/>
                </a:solidFill>
                <a:latin typeface="Aptos"/>
              </a:rPr>
              <a:t>“</a:t>
            </a:r>
            <a:r>
              <a:rPr lang="en-US" sz="2000" i="1" dirty="0">
                <a:solidFill>
                  <a:srgbClr val="2B333D"/>
                </a:solidFill>
                <a:latin typeface="Aptos"/>
              </a:rPr>
              <a:t>Create a deterministic Python function that evaluates a ticket using documented severity and SLA rules, returns an explainable classification, identifies whether escalation is required, and handles invalid or missing inputs explicitly.</a:t>
            </a:r>
            <a:r>
              <a:rPr lang="en-US" sz="2000" dirty="0">
                <a:solidFill>
                  <a:srgbClr val="2B333D"/>
                </a:solidFill>
                <a:latin typeface="Aptos"/>
              </a:rPr>
              <a:t>”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04672" y="422093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If two developers could implement different </a:t>
            </a:r>
            <a:r>
              <a:rPr dirty="0" err="1"/>
              <a:t>behaviours</a:t>
            </a:r>
            <a:r>
              <a:rPr dirty="0"/>
              <a:t>, clarify the request.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A compact problem-definition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Problem and user: what task needs support, and who uses the result?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86584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Inputs and outputs: what information is supplied and what must be returned?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55848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Rules and assumptions: what is known and what needs confirmation?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25112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Exceptions and constraints: what can be invalid, unsafe or out of scope?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294376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Acceptance criteria: what observable tests prove the behaviour is correct?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Demo 1 | Clarify before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342093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Act as a senior business analyst and solution designer.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 err="1"/>
              <a:t>WinTrust</a:t>
            </a:r>
            <a:r>
              <a:rPr dirty="0"/>
              <a:t> wants a small Python prototype for deterministic operational ticket triage. It should evaluate ticket information and produce an explainable result.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Do not write code yet. </a:t>
            </a: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IN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Produce: business problem and users; inputs and outputs; rules to confirm; errors and exceptions; security constraints; acceptance criteria; decisions requiring human approval.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Separate established requirements, assumptions and unanswered questions. Do not invent </a:t>
            </a:r>
            <a:r>
              <a:rPr dirty="0" err="1"/>
              <a:t>WinTrust</a:t>
            </a:r>
            <a:r>
              <a:rPr dirty="0"/>
              <a:t> policies or SLA thresholds. Finish with the five most important questions before implementation.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Acceptance criteria make behaviour testable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Normal: valid ticket within SLA returns a clear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09651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Boundary: elapsed time exactly equals SLA is not a breach under the training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01982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Exception: unsupported severity or invalid time is rejected.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494314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Priority: a P1 ticket is escalated under the training rule.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186645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Explainability: result states which rule caused escalation.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878977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Safety: no ticket updates, external calls or notifications.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571308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These are training rules for this exercise, not confirmed production policy.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Turn requirements into solution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SOLUTION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Inputs: ticket ID, severity, elapsed minutes, SLA minutes and supplied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22504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Validation: reject missing identifiers, unsupported severity and invalid numeric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3276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Decision rules: implement only agreed rules, in a visible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Outputs: structured result with decision, SLA status and reasons.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48200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Failure behaviour: raise a clear validation error rather than silently guessing.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55919"/>
            <a:ext cx="6079615" cy="62786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Out of scope: production integration, ticket updates, notifications and autonomous actions.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BA67FFE-529B-3D34-6CE6-665B00F51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87" y="878411"/>
            <a:ext cx="4728593" cy="5442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2A: </a:t>
            </a:r>
            <a:r>
              <a:rPr dirty="0"/>
              <a:t>Starter file | ticket_triage_starter.py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GITHUB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470916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from dataclasses import dataclass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@dataclass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class Ticket: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ticket_id: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customer_criticality: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severity: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elapsed_minutes: int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sla_minutes: int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affected_transactions: int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symptom: str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def classify_ticket(ticket: Ticket) -&gt; dict: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"""Implement deterministic training rules using GitHub Copilot."""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raise NotImplementedError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2A: </a:t>
            </a:r>
            <a:r>
              <a:rPr dirty="0"/>
              <a:t>The agreed training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IMPLEMENTATION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Escalate a P1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02311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A breach occurs only when elapsed_minutes &gt; sla_minutes.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62890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A ticket that has breached its SLA must be escalated.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34689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Exactly at the SLA limit is not a breach.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4048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Reject unsupported severity; reject negative elapsed time and non-positive SLA.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44627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Reject negative affected_transactions and blank ticket_id.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052059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Return ticket_id, severity, sla_breached, escalate and reasons.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657850"/>
            <a:ext cx="10652760" cy="569214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No external services, side effects or additional invented rules.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2A: </a:t>
            </a:r>
            <a:r>
              <a:rPr dirty="0"/>
              <a:t>Copilot Chat | Review the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DEMO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211288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Review the proposed ticket-triage design before implementation.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Create a decision table covering P1, SLA breach, both conditions and neither; input validation and expected errors; SLA boundary cases; output schema with explainable reasons; at least eight tests; risks and unresolved policy questions.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Use only the training rules. Do not add customer criticality, affected transaction volume or symptom as escalation rules. Do not write implementation code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Demo 2B: </a:t>
            </a:r>
            <a:r>
              <a:rPr dirty="0"/>
              <a:t>GitHub Copilot | Implement the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DEMO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295927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Implement </a:t>
            </a:r>
            <a:r>
              <a:rPr dirty="0" err="1"/>
              <a:t>classify_ticket</a:t>
            </a:r>
            <a:r>
              <a:rPr dirty="0"/>
              <a:t> in Code/ticket_triage_starter.py.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Rules: P1 escalates; breach means </a:t>
            </a:r>
            <a:r>
              <a:rPr dirty="0" err="1"/>
              <a:t>elapsed_minutes</a:t>
            </a:r>
            <a:r>
              <a:rPr dirty="0"/>
              <a:t> &gt; </a:t>
            </a:r>
            <a:r>
              <a:rPr dirty="0" err="1"/>
              <a:t>sla_minutes</a:t>
            </a:r>
            <a:r>
              <a:rPr dirty="0"/>
              <a:t>; breached tickets escalate; exactly at limit is not a breach.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Reject unsupported severity, negative elapsed time, non-positive SLA, negative </a:t>
            </a:r>
            <a:r>
              <a:rPr dirty="0" err="1"/>
              <a:t>affected_transactions</a:t>
            </a:r>
            <a:r>
              <a:rPr dirty="0"/>
              <a:t> and blank </a:t>
            </a:r>
            <a:r>
              <a:rPr dirty="0" err="1"/>
              <a:t>ticket_id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Return </a:t>
            </a:r>
            <a:r>
              <a:rPr dirty="0" err="1"/>
              <a:t>ticket_id</a:t>
            </a:r>
            <a:r>
              <a:rPr dirty="0"/>
              <a:t>, severity, </a:t>
            </a:r>
            <a:r>
              <a:rPr dirty="0" err="1"/>
              <a:t>sla_breached</a:t>
            </a:r>
            <a:r>
              <a:rPr dirty="0"/>
              <a:t>, escalate and reasons. Use deterministic Python, type hints and </a:t>
            </a:r>
            <a:r>
              <a:rPr dirty="0" err="1"/>
              <a:t>ValueError</a:t>
            </a:r>
            <a:r>
              <a:rPr dirty="0"/>
              <a:t> for invalid input. Preserve the </a:t>
            </a:r>
            <a:r>
              <a:rPr dirty="0" err="1"/>
              <a:t>dataclass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No LLM or external service. No ticket changes or notifications. Do not invent rules. Explain the logic and list tests to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Starter test | readable and reviewable</a:t>
            </a:r>
            <a:r>
              <a:rPr lang="en-US" dirty="0"/>
              <a:t> | </a:t>
            </a:r>
            <a:r>
              <a:rPr lang="en-IN" dirty="0"/>
              <a:t>test_ticket_triage.py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GITHUB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470916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from ticket_triage_starter import Ticket, classify_ticket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def test_critical_customer_sla_breach():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t = Ticket("INC-TEST-1", "Critical", "P2", 300, 240, 12000, "elevated response time")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assert classify_ticket(t)["escalate"] is True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def test_low_impact_ticket():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t = Ticket("INC-TEST-2", "Medium", "P4", 30, 2880, 2, "documentation issue")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    assert classify_ticket(t)["escalate"] is False</a:t>
            </a:r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endParaRPr/>
          </a:p>
          <a:p>
            <a:pPr>
              <a:spcAft>
                <a:spcPts val="300"/>
              </a:spcAft>
              <a:defRPr sz="1300" b="0">
                <a:solidFill>
                  <a:srgbClr val="2B333D"/>
                </a:solidFill>
                <a:latin typeface="Consolas"/>
              </a:defRPr>
            </a:pPr>
            <a:r>
              <a:t>The first test passes because of the SLA breach, not because customer criticality is a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Start with tests, not trust</a:t>
            </a:r>
            <a:r>
              <a:rPr lang="en-US" dirty="0"/>
              <a:t> 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Generate meaningful tests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19282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Existing tests are a starting point, not proof of correctness.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Add P1 within SLA, P2 with breach, P4 within SLA, and P1 plus breach.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Test the exact boundary and one minute beyond it.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Test unsupported severity, negative elapsed time, zero SLA, negative impact count and blank ID.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Check both the decision and explanation returned.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Never weaken a valid test just to make generated code pass.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378915-1ACC-479C-A8C8-3D186BB8963D}"/>
              </a:ext>
            </a:extLst>
          </p:cNvPr>
          <p:cNvSpPr txBox="1"/>
          <p:nvPr/>
        </p:nvSpPr>
        <p:spPr>
          <a:xfrm>
            <a:off x="530352" y="3640476"/>
            <a:ext cx="11155680" cy="47397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IN" sz="2600" b="1" dirty="0">
                <a:solidFill>
                  <a:srgbClr val="162A4A"/>
                </a:solidFill>
                <a:latin typeface="Aptos"/>
              </a:rPr>
              <a:t>Demo 2C: Ask GitHub Copilot to expand the tests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A disciplined test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GITHUB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6848856" cy="99719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Generate implementation → Review against rules → Run tests → Investigate failures → Fix implementation → Run all tests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32760"/>
            <a:ext cx="6848856" cy="6894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A green test suite is evidence for the tested cases, not proof of universal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648200"/>
            <a:ext cx="6848856" cy="68942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If a test fails, understand the cause before changing code or tests.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66B98A-207C-C663-8E0E-FA0321709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237744"/>
            <a:ext cx="4035552" cy="60533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Demo 3 | Challenge the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CRITICAL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Ask Copilot to identify likely correctness defects.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22504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Check whether code implements exactly the documented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3276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Inspect validation order, boundary comparisons and error messages.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Look for hidden dependencies, side effects and unnecessary complexity.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482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Check whether tests could pass even if the logic were wrong.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55919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Ask for evidence in the code and a test that would expose each issue.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Copilot Chat | Code review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CRITICAL REVIEW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44752"/>
            <a:ext cx="10515600" cy="295927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lang="en-US" b="1" dirty="0"/>
              <a:t>Sample Prompt: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Review </a:t>
            </a:r>
            <a:r>
              <a:rPr dirty="0" err="1"/>
              <a:t>classify_ticket</a:t>
            </a:r>
            <a:r>
              <a:rPr dirty="0"/>
              <a:t> against the stated training rules.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For each finding provide severity, exact code evidence, why it matters, a minimal correction and a test that would detect it.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Check boundaries, invalid inputs, returned fields, explanation quality, unsupported rules, side effects, complexity and test coverage.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/>
              <a:t>Do not claim tests were executed unless you actually ran them. Do not add new business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Contradictory or incomplete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Severity says P1, but an operator note says “low priority.” Which field is authoritative?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289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SLA minutes is zero or missing. Reject, request clarification, or default?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A ticket mentions many affected transactions, but no impact-based rule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52059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Do not let generated code silently resolve policy conflicts. Surface ambiguity and route the decision to an accountable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Deterministic rules vs. AI 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DESIGN PRINCIPLE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Good fit for deterministic code: SLA comparison, required-field validation, allowed-value checks, reproducible reports and explicit decision reasons.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3276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Potential fit for AI assistance: summarize long incident descriptions, suggest likely categories for human review, draft explanations from approved facts, find themes across unstructured notes.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64820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Keep policy decisions deterministic where possible and human accountability visible.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Data </a:t>
            </a:r>
            <a:r>
              <a:rPr lang="en-US" dirty="0"/>
              <a:t>T</a:t>
            </a:r>
            <a:r>
              <a:rPr dirty="0"/>
              <a:t>rack 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SQL-based data-quality investigation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TRACK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E0CB83-466F-1001-B2D7-8B15C939DE97}"/>
              </a:ext>
            </a:extLst>
          </p:cNvPr>
          <p:cNvSpPr txBox="1"/>
          <p:nvPr/>
        </p:nvSpPr>
        <p:spPr>
          <a:xfrm>
            <a:off x="850392" y="1597152"/>
            <a:ext cx="10652760" cy="422885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r>
              <a:rPr lang="en-IN" b="1" dirty="0">
                <a:latin typeface="Aptos" panose="020B0004020202020204" pitchFamily="34" charset="0"/>
              </a:rPr>
              <a:t>Objective</a:t>
            </a:r>
            <a:r>
              <a:rPr lang="en-IN" dirty="0">
                <a:latin typeface="Aptos" panose="020B0004020202020204" pitchFamily="34" charset="0"/>
              </a:rPr>
              <a:t>: Use GitHub Copilot to translate data-quality requirements into SQL queries that identify invalid or suspicious records.</a:t>
            </a:r>
          </a:p>
          <a:p>
            <a:r>
              <a:rPr lang="en-IN" b="1" dirty="0">
                <a:latin typeface="Aptos" panose="020B0004020202020204" pitchFamily="34" charset="0"/>
              </a:rPr>
              <a:t>Scenario</a:t>
            </a:r>
            <a:r>
              <a:rPr lang="en-IN" dirty="0">
                <a:latin typeface="Aptos" panose="020B0004020202020204" pitchFamily="34" charset="0"/>
              </a:rPr>
              <a:t>: The </a:t>
            </a:r>
            <a:r>
              <a:rPr lang="en-IN" dirty="0" err="1">
                <a:latin typeface="Aptos" panose="020B0004020202020204" pitchFamily="34" charset="0"/>
              </a:rPr>
              <a:t>WinTrust</a:t>
            </a:r>
            <a:r>
              <a:rPr lang="en-IN" dirty="0">
                <a:latin typeface="Aptos" panose="020B0004020202020204" pitchFamily="34" charset="0"/>
              </a:rPr>
              <a:t> data team receives transaction data from upstream systems. Before using it for reporting, the team needs to identify records that violate agreed data-quality rules.</a:t>
            </a:r>
          </a:p>
          <a:p>
            <a:r>
              <a:rPr lang="en-IN" b="1" dirty="0">
                <a:latin typeface="Aptos" panose="020B0004020202020204" pitchFamily="34" charset="0"/>
              </a:rPr>
              <a:t>Input file</a:t>
            </a:r>
            <a:r>
              <a:rPr lang="en-IN" dirty="0">
                <a:latin typeface="Aptos" panose="020B0004020202020204" pitchFamily="34" charset="0"/>
              </a:rPr>
              <a:t>: transactions_500.csv from the existing demo pack.</a:t>
            </a:r>
          </a:p>
          <a:p>
            <a:endParaRPr lang="en-IN" i="1" dirty="0">
              <a:latin typeface="Aptos" panose="020B0004020202020204" pitchFamily="34" charset="0"/>
            </a:endParaRPr>
          </a:p>
          <a:p>
            <a:r>
              <a:rPr lang="en-IN" dirty="0">
                <a:latin typeface="Aptos" panose="020B0004020202020204" pitchFamily="34" charset="0"/>
              </a:rPr>
              <a:t>Proposed checks, subject to confirming the source schema: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Missing transaction or customer identifiers.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Invalid transaction dates.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Unsupported currency codes.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Unsupported product codes.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Negative transaction amounts.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Duplicate transaction identifiers.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Missing or unexpected status values, where an approved status vocabulary exists.</a:t>
            </a:r>
          </a:p>
          <a:p>
            <a:endParaRPr lang="en-IN" i="1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3976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IN" sz="2600" b="1" dirty="0">
                <a:solidFill>
                  <a:srgbClr val="162A4A"/>
                </a:solidFill>
                <a:latin typeface="Aptos"/>
              </a:rPr>
              <a:t>Define the rules before generating SQL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DATA TRACK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21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C4998F-4055-6F30-460D-449CEAB0B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315254"/>
              </p:ext>
            </p:extLst>
          </p:nvPr>
        </p:nvGraphicFramePr>
        <p:xfrm>
          <a:off x="1078992" y="1693227"/>
          <a:ext cx="9957816" cy="347883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37944">
                  <a:extLst>
                    <a:ext uri="{9D8B030D-6E8A-4147-A177-3AD203B41FA5}">
                      <a16:colId xmlns:a16="http://schemas.microsoft.com/office/drawing/2014/main" val="29643487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3187254595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3948298140"/>
                    </a:ext>
                  </a:extLst>
                </a:gridCol>
              </a:tblGrid>
              <a:tr h="46475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Check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Rule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Expected result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29306928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Transaction ID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not be null or blank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rows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725267600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Customer ID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not be null or blank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rows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75196681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Transaction date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be a valid date in YYYY-MM-DD format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rows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74660496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Currency code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belong to the approved set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unsupported values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6521430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Product code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Must belong to the approved set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unsupported values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13948753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Amount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Must be numeric and non-negative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Flag invalid amounts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9058417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Duplicate ID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Check repeated transaction IDs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Report duplicates for investigation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28188838"/>
                  </a:ext>
                </a:extLst>
              </a:tr>
              <a:tr h="376760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Status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Compare against an approved list, if available</a:t>
                      </a:r>
                      <a:endParaRPr lang="en-IN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Do not invent allowed values</a:t>
                      </a:r>
                      <a:endParaRPr lang="en-IN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825785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lang="en-US" dirty="0"/>
              <a:t>Data Track Demo: </a:t>
            </a:r>
            <a:r>
              <a:rPr dirty="0"/>
              <a:t>GitHub Copilot 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Generate SQL data-quality checks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DATA TRACK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1609344"/>
            <a:ext cx="10515600" cy="2012859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Copilot to inspect the schema or work from the confirmed column list.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its proposed rules before accepting the SQL.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Generate one query at a time, starting with missing identifiers.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Copilot to explain each query.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Run the SQL in the selected SQL environment.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Compare the results against a few manually checked records.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Ask Copilot to challenge its own query for missed cases.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Data </a:t>
            </a:r>
            <a:r>
              <a:rPr lang="en-US" dirty="0"/>
              <a:t>T</a:t>
            </a:r>
            <a:r>
              <a:rPr dirty="0"/>
              <a:t>rack </a:t>
            </a:r>
            <a:r>
              <a:rPr lang="en-US" dirty="0"/>
              <a:t>Demo </a:t>
            </a:r>
            <a:r>
              <a:rPr dirty="0"/>
              <a:t>| </a:t>
            </a:r>
            <a:r>
              <a:rPr lang="en-IN" sz="2600" b="1" dirty="0">
                <a:solidFill>
                  <a:srgbClr val="162A4A"/>
                </a:solidFill>
                <a:latin typeface="Aptos"/>
              </a:rPr>
              <a:t>Challenge the generated SQL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DATA TRACK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481362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r>
              <a:rPr lang="en-IN" sz="1400" dirty="0">
                <a:latin typeface="Aptos" panose="020B0004020202020204" pitchFamily="34" charset="0"/>
              </a:rPr>
              <a:t>Review the SQL data-quality checks you generated.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Check for: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Incorrect or invented column names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Incorrect handling of NULL and blank values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Invalid date handling, including impossible calendar dates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Duplicate detection that produces misleading counts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Incorrect treatment of negative, NULL or non-numeric amounts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Hard-coded allowed values that lack approval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Queries that flag records incorrectly or miss invalid records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SQL dialect incompatibilities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>
                <a:latin typeface="Aptos" panose="020B0004020202020204" pitchFamily="34" charset="0"/>
              </a:rPr>
              <a:t>Unnecessary modification of source data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For every issue: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Show the relevant SQL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Explain the problem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Provide a corrected query or expression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ptos" panose="020B0004020202020204" pitchFamily="34" charset="0"/>
              </a:rPr>
              <a:t>Give a test record that would expose the problem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Distinguish issues you can establish from the SQL itself from issues that require execution against the dataset.</a:t>
            </a:r>
          </a:p>
          <a:p>
            <a:r>
              <a:rPr lang="en-IN" sz="1400" dirty="0">
                <a:latin typeface="Aptos" panose="020B0004020202020204" pitchFamily="34" charset="0"/>
              </a:rPr>
              <a:t> </a:t>
            </a:r>
          </a:p>
          <a:p>
            <a:r>
              <a:rPr lang="en-IN" sz="1400" dirty="0">
                <a:latin typeface="Aptos" panose="020B0004020202020204" pitchFamily="34" charset="0"/>
              </a:rPr>
              <a:t>Do not claim that the queries passed tests unless they were run and their results were inspected.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Enterprise Ops | Keep the prototype safe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ENTERPRISE 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Suitable exercises: ticket classification, SLA checks, log summarization and report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86584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Use supplied sample data, local files and read-only checks.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55848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For operational automation, begin with dry-run output and explicit approval.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25112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 not execute destructive commands, change production settings or send notifications.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294376"/>
            <a:ext cx="10652760" cy="6583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 prototype is not production-ready until controls, ownership and rollback are addressed.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Prototype quality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REVIEW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Correctness: does the code implement the agreed rules?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09651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Validation: are missing, malformed and boundary inputs handled?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01982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Explainability: can a reviewer understand each result?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494314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Tests: are normal, edge and invalid cases covered?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186645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Safety: are side effects and privileged actions absent?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878977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Maintainability: is the code readable and reasonably simple?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571308"/>
            <a:ext cx="10652760" cy="655755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Human control: are unresolved decisions routed to an owner?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07470-D68D-ECBB-2C98-A1C07AE3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A8C4AE-7586-C9B5-EC23-6A9A55A914F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9FE4D-1A82-5C81-2CD7-F7A0174A40B9}"/>
              </a:ext>
            </a:extLst>
          </p:cNvPr>
          <p:cNvSpPr txBox="1"/>
          <p:nvPr/>
        </p:nvSpPr>
        <p:spPr>
          <a:xfrm>
            <a:off x="594360" y="658368"/>
            <a:ext cx="405732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Today’s Objectives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11B58F-D7BC-9FDB-99B5-5C2F00E1E853}"/>
              </a:ext>
            </a:extLst>
          </p:cNvPr>
          <p:cNvSpPr txBox="1"/>
          <p:nvPr/>
        </p:nvSpPr>
        <p:spPr>
          <a:xfrm>
            <a:off x="621792" y="1307592"/>
            <a:ext cx="10575459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Translate a loosely defined business problem into clear, testable requirements.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Copilot Chat to explore solution approaches and identify constraints.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Convert business rules into an explicit solution design.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GitHub Copilot to generate a small Python prototype.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Generate meaningful tests for normal cases, edge cases, and invalid inputs.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generated code for correctness, maintainability, and unsafe </a:t>
            </a:r>
            <a:r>
              <a:rPr lang="en-IN" dirty="0" err="1">
                <a:latin typeface="Aptos" panose="020B0004020202020204" pitchFamily="34" charset="0"/>
              </a:rPr>
              <a:t>behavior</a:t>
            </a:r>
            <a:r>
              <a:rPr lang="en-IN" dirty="0">
                <a:latin typeface="Aptos" panose="020B0004020202020204" pitchFamily="34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Separate deterministic business rules from AI-generated explanations.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Improve a prototype through an iterative Generate, Explain, Review, Test, Challenge, Approve workflow.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where human review and approval are required before a solution is used.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9B030-FE14-A018-732B-3806654D6D05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FFEFCC-27B6-C5EC-608E-4D59809586B7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E3F4B58-8FDB-B7B6-30E7-AD14EB6D2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9288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rPr dirty="0"/>
              <a:t>Hands-on lab | Build, test and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LAST 30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10652760" cy="727892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Enterprise Ops files: Code/ticket_triage_starter.py and Code/test_ticket_triage.py.</a:t>
            </a:r>
            <a:endParaRPr lang="en-US" dirty="0"/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rPr dirty="0"/>
              <a:t>Implement deterministic triage, run tests and challenge the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32760"/>
            <a:ext cx="10652760" cy="136652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lvl="0"/>
            <a:r>
              <a:rPr sz="2000" dirty="0"/>
              <a:t>•  Data files: </a:t>
            </a:r>
            <a:r>
              <a:rPr lang="en-IN" sz="2000" dirty="0"/>
              <a:t>transactions_500.csv</a:t>
            </a:r>
          </a:p>
          <a:p>
            <a:r>
              <a:rPr lang="en-IN" sz="2000" dirty="0"/>
              <a:t>The </a:t>
            </a:r>
            <a:r>
              <a:rPr lang="en-IN" sz="2000" dirty="0" err="1"/>
              <a:t>WinTrust</a:t>
            </a:r>
            <a:r>
              <a:rPr lang="en-IN" sz="2000" dirty="0"/>
              <a:t> data team must assess whether a transaction dataset is suitable for downstream reporting.</a:t>
            </a:r>
          </a:p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endParaRPr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5C4B07-33DF-A846-D30E-2B90EABF0407}"/>
              </a:ext>
            </a:extLst>
          </p:cNvPr>
          <p:cNvSpPr txBox="1"/>
          <p:nvPr/>
        </p:nvSpPr>
        <p:spPr>
          <a:xfrm>
            <a:off x="3166110" y="554633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800" b="1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File</a:t>
            </a:r>
            <a:r>
              <a:rPr lang="en-IN" sz="1800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: Participant_Handouts/</a:t>
            </a:r>
            <a:r>
              <a:rPr lang="en-IN" dirty="0">
                <a:ea typeface="Aptos" panose="020B0004020202020204" pitchFamily="34" charset="0"/>
                <a:cs typeface="Times New Roman" panose="02020603050405020304" pitchFamily="18" charset="0"/>
              </a:rPr>
              <a:t>Session_04_Problem_Solving.md</a:t>
            </a:r>
            <a:endParaRPr lang="en-IN" sz="1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2600" b="1">
                <a:solidFill>
                  <a:srgbClr val="162A4A"/>
                </a:solidFill>
                <a:latin typeface="Aptos"/>
              </a:defRPr>
            </a:pPr>
            <a:r>
              <a:t>Hands-on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425812"/>
            <a:ext cx="10515600" cy="4805931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lang="en-IN" b="1" dirty="0">
                <a:solidFill>
                  <a:srgbClr val="2B333D"/>
                </a:solidFill>
                <a:latin typeface="Aptos" panose="020B0004020202020204" pitchFamily="34" charset="0"/>
              </a:rPr>
              <a:t>Enterprise Operations participants</a:t>
            </a:r>
            <a:endParaRPr lang="en-IN" dirty="0">
              <a:solidFill>
                <a:srgbClr val="2B333D"/>
              </a:solidFill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1. Read the starter files and clarify rules.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2. Prompt Copilot and inspect the generated code.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3. Review the code against requirements before running tests.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4. Run tests and investigate failures before making changes.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5. Challenge the result and document one limitation.</a:t>
            </a: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Do not change requirements without recording the decision. Finish by naming one control required before production.</a:t>
            </a:r>
            <a:endParaRPr lang="en-US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endParaRPr lang="en-IN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500" b="0">
                <a:solidFill>
                  <a:srgbClr val="2B333D"/>
                </a:solidFill>
                <a:latin typeface="Aptos"/>
              </a:defRPr>
            </a:pPr>
            <a:r>
              <a:rPr lang="en-IN" sz="1500" b="1" dirty="0">
                <a:solidFill>
                  <a:srgbClr val="2B333D"/>
                </a:solidFill>
                <a:latin typeface="Aptos" panose="020B0004020202020204" pitchFamily="34" charset="0"/>
              </a:rPr>
              <a:t>Data participants</a:t>
            </a:r>
            <a:endParaRPr lang="en-IN" sz="1500" dirty="0">
              <a:solidFill>
                <a:srgbClr val="2B333D"/>
              </a:solidFill>
              <a:latin typeface="Aptos" panose="020B0004020202020204" pitchFamily="34" charset="0"/>
            </a:endParaRPr>
          </a:p>
          <a:p>
            <a:r>
              <a:rPr lang="en-IN" sz="1500" dirty="0">
                <a:latin typeface="Aptos" panose="020B0004020202020204" pitchFamily="34" charset="0"/>
              </a:rPr>
              <a:t>Use this sequence:</a:t>
            </a:r>
          </a:p>
          <a:p>
            <a:r>
              <a:rPr lang="en-IN" sz="1500" dirty="0">
                <a:latin typeface="Aptos" panose="020B0004020202020204" pitchFamily="34" charset="0"/>
              </a:rPr>
              <a:t>INSPECT SCHEMA → DEFINE RULES → GENERATE SQL → REVIEW → EXECUTE → VALIDATE RESULTS</a:t>
            </a:r>
          </a:p>
          <a:p>
            <a:pPr lvl="0"/>
            <a:endParaRPr lang="en-IN" sz="1500" dirty="0">
              <a:latin typeface="Aptos" panose="020B00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Inspect schema: confirm the actual columns and types.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Define rules: agree what constitutes a defect.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Generate SQL: use Copilot to produce individual checks.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Review: challenge the generated queries before execution.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Execute: run them against the dataset.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Aptos" panose="020B0004020202020204" pitchFamily="34" charset="0"/>
              </a:rPr>
              <a:t>Validate results: manually inspect sample records and reconcile counts.</a:t>
            </a:r>
          </a:p>
          <a:p>
            <a:r>
              <a:rPr lang="en-IN" sz="1500" dirty="0">
                <a:latin typeface="Aptos" panose="020B0004020202020204" pitchFamily="34" charset="0"/>
              </a:rPr>
              <a:t>Participants should not alter source data to make the checks pass. They should report the defects and their implications.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PROBLEM SOLVING &amp; PROTOTYPING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40080" cy="201168"/>
          </a:xfrm>
          <a:prstGeom prst="rect">
            <a:avLst/>
          </a:prstGeom>
          <a:noFill/>
        </p:spPr>
        <p:txBody>
          <a:bodyPr wrap="square" lIns="73152" rIns="73152" bIns="27432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646E78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0D7AE32-6300-DE2F-D902-36E55A31750D}"/>
              </a:ext>
            </a:extLst>
          </p:cNvPr>
          <p:cNvSpPr/>
          <p:nvPr/>
        </p:nvSpPr>
        <p:spPr>
          <a:xfrm>
            <a:off x="8663940" y="4617720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3022</Words>
  <Application>Microsoft Office PowerPoint</Application>
  <PresentationFormat>Widescreen</PresentationFormat>
  <Paragraphs>375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Singala</cp:lastModifiedBy>
  <cp:revision>49</cp:revision>
  <dcterms:created xsi:type="dcterms:W3CDTF">2013-01-27T09:14:16Z</dcterms:created>
  <dcterms:modified xsi:type="dcterms:W3CDTF">2026-10-18T06:35:45Z</dcterms:modified>
  <cp:category/>
</cp:coreProperties>
</file>